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439" r:id="rId2"/>
    <p:sldId id="495" r:id="rId3"/>
    <p:sldId id="496" r:id="rId4"/>
    <p:sldId id="497" r:id="rId5"/>
    <p:sldId id="492" r:id="rId6"/>
    <p:sldId id="433" r:id="rId7"/>
    <p:sldId id="436" r:id="rId8"/>
    <p:sldId id="437" r:id="rId9"/>
    <p:sldId id="434" r:id="rId10"/>
    <p:sldId id="491" r:id="rId11"/>
    <p:sldId id="498" r:id="rId12"/>
    <p:sldId id="430" r:id="rId13"/>
    <p:sldId id="443" r:id="rId14"/>
    <p:sldId id="444" r:id="rId15"/>
    <p:sldId id="490" r:id="rId16"/>
    <p:sldId id="445" r:id="rId17"/>
    <p:sldId id="258" r:id="rId18"/>
    <p:sldId id="259" r:id="rId19"/>
    <p:sldId id="260" r:id="rId20"/>
    <p:sldId id="261" r:id="rId21"/>
    <p:sldId id="365" r:id="rId22"/>
    <p:sldId id="264" r:id="rId23"/>
    <p:sldId id="262" r:id="rId24"/>
    <p:sldId id="265" r:id="rId25"/>
    <p:sldId id="421" r:id="rId26"/>
    <p:sldId id="357" r:id="rId27"/>
    <p:sldId id="360" r:id="rId28"/>
    <p:sldId id="446" r:id="rId29"/>
    <p:sldId id="361" r:id="rId30"/>
    <p:sldId id="362" r:id="rId31"/>
    <p:sldId id="358" r:id="rId32"/>
    <p:sldId id="356"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64" autoAdjust="0"/>
    <p:restoredTop sz="88127" autoAdjust="0"/>
  </p:normalViewPr>
  <p:slideViewPr>
    <p:cSldViewPr snapToGrid="0">
      <p:cViewPr varScale="1">
        <p:scale>
          <a:sx n="89" d="100"/>
          <a:sy n="89" d="100"/>
        </p:scale>
        <p:origin x="504" y="90"/>
      </p:cViewPr>
      <p:guideLst>
        <p:guide orient="horz" pos="2160"/>
        <p:guide pos="3840"/>
      </p:guideLst>
    </p:cSldViewPr>
  </p:slideViewPr>
  <p:outlineViewPr>
    <p:cViewPr>
      <p:scale>
        <a:sx n="33" d="100"/>
        <a:sy n="33" d="100"/>
      </p:scale>
      <p:origin x="27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3220D2-85FC-4AF9-BB4C-6A4224697224}" type="datetimeFigureOut">
              <a:rPr lang="en-US" smtClean="0"/>
              <a:t>8/7/2025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B2EC43-41FD-42D5-BF8E-9A2B457DDE3B}" type="slidenum">
              <a:rPr lang="en-US" smtClean="0"/>
              <a:t>‹#›</a:t>
            </a:fld>
            <a:endParaRPr lang="en-US"/>
          </a:p>
        </p:txBody>
      </p:sp>
    </p:spTree>
    <p:extLst>
      <p:ext uri="{BB962C8B-B14F-4D97-AF65-F5344CB8AC3E}">
        <p14:creationId xmlns:p14="http://schemas.microsoft.com/office/powerpoint/2010/main" val="23886676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G" dirty="0"/>
          </a:p>
        </p:txBody>
      </p:sp>
      <p:sp>
        <p:nvSpPr>
          <p:cNvPr id="4" name="Slide Number Placeholder 3"/>
          <p:cNvSpPr>
            <a:spLocks noGrp="1"/>
          </p:cNvSpPr>
          <p:nvPr>
            <p:ph type="sldNum" sz="quarter" idx="5"/>
          </p:nvPr>
        </p:nvSpPr>
        <p:spPr/>
        <p:txBody>
          <a:bodyPr/>
          <a:lstStyle/>
          <a:p>
            <a:fld id="{BEB2EC43-41FD-42D5-BF8E-9A2B457DDE3B}" type="slidenum">
              <a:rPr lang="en-US" smtClean="0"/>
              <a:t>1</a:t>
            </a:fld>
            <a:endParaRPr lang="en-US"/>
          </a:p>
        </p:txBody>
      </p:sp>
    </p:spTree>
    <p:extLst>
      <p:ext uri="{BB962C8B-B14F-4D97-AF65-F5344CB8AC3E}">
        <p14:creationId xmlns:p14="http://schemas.microsoft.com/office/powerpoint/2010/main" val="25411600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G" dirty="0"/>
          </a:p>
        </p:txBody>
      </p:sp>
      <p:sp>
        <p:nvSpPr>
          <p:cNvPr id="4" name="Slide Number Placeholder 3"/>
          <p:cNvSpPr>
            <a:spLocks noGrp="1"/>
          </p:cNvSpPr>
          <p:nvPr>
            <p:ph type="sldNum" sz="quarter" idx="5"/>
          </p:nvPr>
        </p:nvSpPr>
        <p:spPr/>
        <p:txBody>
          <a:bodyPr/>
          <a:lstStyle/>
          <a:p>
            <a:fld id="{BEB2EC43-41FD-42D5-BF8E-9A2B457DDE3B}" type="slidenum">
              <a:rPr lang="en-US" smtClean="0"/>
              <a:t>2</a:t>
            </a:fld>
            <a:endParaRPr lang="en-US"/>
          </a:p>
        </p:txBody>
      </p:sp>
    </p:spTree>
    <p:extLst>
      <p:ext uri="{BB962C8B-B14F-4D97-AF65-F5344CB8AC3E}">
        <p14:creationId xmlns:p14="http://schemas.microsoft.com/office/powerpoint/2010/main" val="217519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G" dirty="0"/>
          </a:p>
        </p:txBody>
      </p:sp>
      <p:sp>
        <p:nvSpPr>
          <p:cNvPr id="4" name="Slide Number Placeholder 3"/>
          <p:cNvSpPr>
            <a:spLocks noGrp="1"/>
          </p:cNvSpPr>
          <p:nvPr>
            <p:ph type="sldNum" sz="quarter" idx="5"/>
          </p:nvPr>
        </p:nvSpPr>
        <p:spPr/>
        <p:txBody>
          <a:bodyPr/>
          <a:lstStyle/>
          <a:p>
            <a:fld id="{BEB2EC43-41FD-42D5-BF8E-9A2B457DDE3B}" type="slidenum">
              <a:rPr lang="en-US" smtClean="0"/>
              <a:t>4</a:t>
            </a:fld>
            <a:endParaRPr lang="en-US"/>
          </a:p>
        </p:txBody>
      </p:sp>
    </p:spTree>
    <p:extLst>
      <p:ext uri="{BB962C8B-B14F-4D97-AF65-F5344CB8AC3E}">
        <p14:creationId xmlns:p14="http://schemas.microsoft.com/office/powerpoint/2010/main" val="16395357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G" dirty="0"/>
          </a:p>
        </p:txBody>
      </p:sp>
      <p:sp>
        <p:nvSpPr>
          <p:cNvPr id="4" name="Slide Number Placeholder 3"/>
          <p:cNvSpPr>
            <a:spLocks noGrp="1"/>
          </p:cNvSpPr>
          <p:nvPr>
            <p:ph type="sldNum" sz="quarter" idx="5"/>
          </p:nvPr>
        </p:nvSpPr>
        <p:spPr/>
        <p:txBody>
          <a:bodyPr/>
          <a:lstStyle/>
          <a:p>
            <a:fld id="{BEB2EC43-41FD-42D5-BF8E-9A2B457DDE3B}" type="slidenum">
              <a:rPr lang="en-US" smtClean="0"/>
              <a:t>5</a:t>
            </a:fld>
            <a:endParaRPr lang="en-US"/>
          </a:p>
        </p:txBody>
      </p:sp>
    </p:spTree>
    <p:extLst>
      <p:ext uri="{BB962C8B-B14F-4D97-AF65-F5344CB8AC3E}">
        <p14:creationId xmlns:p14="http://schemas.microsoft.com/office/powerpoint/2010/main" val="27778751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G" dirty="0"/>
          </a:p>
        </p:txBody>
      </p:sp>
      <p:sp>
        <p:nvSpPr>
          <p:cNvPr id="4" name="Slide Number Placeholder 3"/>
          <p:cNvSpPr>
            <a:spLocks noGrp="1"/>
          </p:cNvSpPr>
          <p:nvPr>
            <p:ph type="sldNum" sz="quarter" idx="5"/>
          </p:nvPr>
        </p:nvSpPr>
        <p:spPr/>
        <p:txBody>
          <a:bodyPr/>
          <a:lstStyle/>
          <a:p>
            <a:fld id="{BEB2EC43-41FD-42D5-BF8E-9A2B457DDE3B}" type="slidenum">
              <a:rPr lang="en-US" smtClean="0"/>
              <a:t>10</a:t>
            </a:fld>
            <a:endParaRPr lang="en-US"/>
          </a:p>
        </p:txBody>
      </p:sp>
    </p:spTree>
    <p:extLst>
      <p:ext uri="{BB962C8B-B14F-4D97-AF65-F5344CB8AC3E}">
        <p14:creationId xmlns:p14="http://schemas.microsoft.com/office/powerpoint/2010/main" val="38941073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G" dirty="0"/>
          </a:p>
        </p:txBody>
      </p:sp>
      <p:sp>
        <p:nvSpPr>
          <p:cNvPr id="4" name="Slide Number Placeholder 3"/>
          <p:cNvSpPr>
            <a:spLocks noGrp="1"/>
          </p:cNvSpPr>
          <p:nvPr>
            <p:ph type="sldNum" sz="quarter" idx="5"/>
          </p:nvPr>
        </p:nvSpPr>
        <p:spPr/>
        <p:txBody>
          <a:bodyPr/>
          <a:lstStyle/>
          <a:p>
            <a:fld id="{BEB2EC43-41FD-42D5-BF8E-9A2B457DDE3B}" type="slidenum">
              <a:rPr lang="en-US" smtClean="0"/>
              <a:t>12</a:t>
            </a:fld>
            <a:endParaRPr lang="en-US"/>
          </a:p>
        </p:txBody>
      </p:sp>
    </p:spTree>
    <p:extLst>
      <p:ext uri="{BB962C8B-B14F-4D97-AF65-F5344CB8AC3E}">
        <p14:creationId xmlns:p14="http://schemas.microsoft.com/office/powerpoint/2010/main" val="42308040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G" dirty="0"/>
          </a:p>
        </p:txBody>
      </p:sp>
      <p:sp>
        <p:nvSpPr>
          <p:cNvPr id="4" name="Slide Number Placeholder 3"/>
          <p:cNvSpPr>
            <a:spLocks noGrp="1"/>
          </p:cNvSpPr>
          <p:nvPr>
            <p:ph type="sldNum" sz="quarter" idx="5"/>
          </p:nvPr>
        </p:nvSpPr>
        <p:spPr/>
        <p:txBody>
          <a:bodyPr/>
          <a:lstStyle/>
          <a:p>
            <a:fld id="{BEB2EC43-41FD-42D5-BF8E-9A2B457DDE3B}" type="slidenum">
              <a:rPr lang="en-US" smtClean="0"/>
              <a:t>13</a:t>
            </a:fld>
            <a:endParaRPr lang="en-US"/>
          </a:p>
        </p:txBody>
      </p:sp>
    </p:spTree>
    <p:extLst>
      <p:ext uri="{BB962C8B-B14F-4D97-AF65-F5344CB8AC3E}">
        <p14:creationId xmlns:p14="http://schemas.microsoft.com/office/powerpoint/2010/main" val="17609597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G" dirty="0"/>
          </a:p>
        </p:txBody>
      </p:sp>
      <p:sp>
        <p:nvSpPr>
          <p:cNvPr id="4" name="Slide Number Placeholder 3"/>
          <p:cNvSpPr>
            <a:spLocks noGrp="1"/>
          </p:cNvSpPr>
          <p:nvPr>
            <p:ph type="sldNum" sz="quarter" idx="5"/>
          </p:nvPr>
        </p:nvSpPr>
        <p:spPr/>
        <p:txBody>
          <a:bodyPr/>
          <a:lstStyle/>
          <a:p>
            <a:fld id="{BEB2EC43-41FD-42D5-BF8E-9A2B457DDE3B}" type="slidenum">
              <a:rPr lang="en-US" smtClean="0"/>
              <a:t>19</a:t>
            </a:fld>
            <a:endParaRPr lang="en-US"/>
          </a:p>
        </p:txBody>
      </p:sp>
    </p:spTree>
    <p:extLst>
      <p:ext uri="{BB962C8B-B14F-4D97-AF65-F5344CB8AC3E}">
        <p14:creationId xmlns:p14="http://schemas.microsoft.com/office/powerpoint/2010/main" val="19722871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G" dirty="0"/>
          </a:p>
        </p:txBody>
      </p:sp>
      <p:sp>
        <p:nvSpPr>
          <p:cNvPr id="4" name="Slide Number Placeholder 3"/>
          <p:cNvSpPr>
            <a:spLocks noGrp="1"/>
          </p:cNvSpPr>
          <p:nvPr>
            <p:ph type="sldNum" sz="quarter" idx="5"/>
          </p:nvPr>
        </p:nvSpPr>
        <p:spPr/>
        <p:txBody>
          <a:bodyPr/>
          <a:lstStyle/>
          <a:p>
            <a:fld id="{BEB2EC43-41FD-42D5-BF8E-9A2B457DDE3B}" type="slidenum">
              <a:rPr lang="en-US" smtClean="0"/>
              <a:t>20</a:t>
            </a:fld>
            <a:endParaRPr lang="en-US"/>
          </a:p>
        </p:txBody>
      </p:sp>
    </p:spTree>
    <p:extLst>
      <p:ext uri="{BB962C8B-B14F-4D97-AF65-F5344CB8AC3E}">
        <p14:creationId xmlns:p14="http://schemas.microsoft.com/office/powerpoint/2010/main" val="13217721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G" dirty="0"/>
          </a:p>
        </p:txBody>
      </p:sp>
      <p:sp>
        <p:nvSpPr>
          <p:cNvPr id="4" name="Slide Number Placeholder 3"/>
          <p:cNvSpPr>
            <a:spLocks noGrp="1"/>
          </p:cNvSpPr>
          <p:nvPr>
            <p:ph type="sldNum" sz="quarter" idx="5"/>
          </p:nvPr>
        </p:nvSpPr>
        <p:spPr/>
        <p:txBody>
          <a:bodyPr/>
          <a:lstStyle/>
          <a:p>
            <a:fld id="{BEB2EC43-41FD-42D5-BF8E-9A2B457DDE3B}" type="slidenum">
              <a:rPr lang="en-US" smtClean="0"/>
              <a:t>21</a:t>
            </a:fld>
            <a:endParaRPr lang="en-US"/>
          </a:p>
        </p:txBody>
      </p:sp>
    </p:spTree>
    <p:extLst>
      <p:ext uri="{BB962C8B-B14F-4D97-AF65-F5344CB8AC3E}">
        <p14:creationId xmlns:p14="http://schemas.microsoft.com/office/powerpoint/2010/main" val="22620933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G" dirty="0"/>
          </a:p>
        </p:txBody>
      </p:sp>
      <p:sp>
        <p:nvSpPr>
          <p:cNvPr id="4" name="Slide Number Placeholder 3"/>
          <p:cNvSpPr>
            <a:spLocks noGrp="1"/>
          </p:cNvSpPr>
          <p:nvPr>
            <p:ph type="sldNum" sz="quarter" idx="5"/>
          </p:nvPr>
        </p:nvSpPr>
        <p:spPr/>
        <p:txBody>
          <a:bodyPr/>
          <a:lstStyle/>
          <a:p>
            <a:fld id="{BEB2EC43-41FD-42D5-BF8E-9A2B457DDE3B}" type="slidenum">
              <a:rPr lang="en-US" smtClean="0"/>
              <a:t>22</a:t>
            </a:fld>
            <a:endParaRPr lang="en-US"/>
          </a:p>
        </p:txBody>
      </p:sp>
    </p:spTree>
    <p:extLst>
      <p:ext uri="{BB962C8B-B14F-4D97-AF65-F5344CB8AC3E}">
        <p14:creationId xmlns:p14="http://schemas.microsoft.com/office/powerpoint/2010/main" val="32931353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G" dirty="0"/>
          </a:p>
        </p:txBody>
      </p:sp>
      <p:sp>
        <p:nvSpPr>
          <p:cNvPr id="4" name="Slide Number Placeholder 3"/>
          <p:cNvSpPr>
            <a:spLocks noGrp="1"/>
          </p:cNvSpPr>
          <p:nvPr>
            <p:ph type="sldNum" sz="quarter" idx="5"/>
          </p:nvPr>
        </p:nvSpPr>
        <p:spPr/>
        <p:txBody>
          <a:bodyPr/>
          <a:lstStyle/>
          <a:p>
            <a:fld id="{BEB2EC43-41FD-42D5-BF8E-9A2B457DDE3B}" type="slidenum">
              <a:rPr lang="en-US" smtClean="0"/>
              <a:t>23</a:t>
            </a:fld>
            <a:endParaRPr lang="en-US"/>
          </a:p>
        </p:txBody>
      </p:sp>
    </p:spTree>
    <p:extLst>
      <p:ext uri="{BB962C8B-B14F-4D97-AF65-F5344CB8AC3E}">
        <p14:creationId xmlns:p14="http://schemas.microsoft.com/office/powerpoint/2010/main" val="42154107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200" b="1" i="0" u="none" strike="noStrike" baseline="0" dirty="0">
                <a:solidFill>
                  <a:srgbClr val="292526"/>
                </a:solidFill>
                <a:latin typeface="Arial" panose="020B0604020202020204" pitchFamily="34" charset="0"/>
              </a:rPr>
              <a:t>Chylomicrons</a:t>
            </a:r>
          </a:p>
          <a:p>
            <a:pPr algn="l"/>
            <a:r>
              <a:rPr lang="en-US" sz="1200" b="0" i="0" u="none" strike="noStrike" baseline="0" dirty="0">
                <a:solidFill>
                  <a:srgbClr val="292526"/>
                </a:solidFill>
                <a:latin typeface="Arial" panose="020B0604020202020204" pitchFamily="34" charset="0"/>
              </a:rPr>
              <a:t>The surface is a layer of phospholipids, with head groups facing the aqueous phase.</a:t>
            </a:r>
          </a:p>
          <a:p>
            <a:pPr algn="l"/>
            <a:r>
              <a:rPr lang="en-US" sz="1200" b="0" i="0" u="none" strike="noStrike" baseline="0" dirty="0">
                <a:solidFill>
                  <a:srgbClr val="292526"/>
                </a:solidFill>
                <a:latin typeface="Arial" panose="020B0604020202020204" pitchFamily="34" charset="0"/>
              </a:rPr>
              <a:t>Triacylglycerols sequestered in the interior (yellow) make up more than 80% of the mass. </a:t>
            </a:r>
          </a:p>
          <a:p>
            <a:pPr algn="l"/>
            <a:r>
              <a:rPr lang="en-US" sz="1200" b="0" i="0" u="none" strike="noStrike" baseline="0" dirty="0">
                <a:solidFill>
                  <a:srgbClr val="292526"/>
                </a:solidFill>
                <a:latin typeface="Arial" panose="020B0604020202020204" pitchFamily="34" charset="0"/>
              </a:rPr>
              <a:t>Several apolipoproteins that protrude from the surface (B-48, C-III, C-II) act as signals in the uptake and metabolism of chylomicron contents. The diameter of chylomicrons ranges from about 100 to 500 nm.</a:t>
            </a:r>
          </a:p>
          <a:p>
            <a:endParaRPr lang="en-US" b="1" dirty="0"/>
          </a:p>
          <a:p>
            <a:endParaRPr lang="en-US" b="1" dirty="0"/>
          </a:p>
          <a:p>
            <a:endParaRPr lang="en-UG" dirty="0"/>
          </a:p>
        </p:txBody>
      </p:sp>
      <p:sp>
        <p:nvSpPr>
          <p:cNvPr id="4" name="Slide Number Placeholder 3"/>
          <p:cNvSpPr>
            <a:spLocks noGrp="1"/>
          </p:cNvSpPr>
          <p:nvPr>
            <p:ph type="sldNum" sz="quarter" idx="5"/>
          </p:nvPr>
        </p:nvSpPr>
        <p:spPr/>
        <p:txBody>
          <a:bodyPr/>
          <a:lstStyle/>
          <a:p>
            <a:fld id="{BEB2EC43-41FD-42D5-BF8E-9A2B457DDE3B}" type="slidenum">
              <a:rPr lang="en-US" smtClean="0"/>
              <a:t>28</a:t>
            </a:fld>
            <a:endParaRPr lang="en-US"/>
          </a:p>
        </p:txBody>
      </p:sp>
    </p:spTree>
    <p:extLst>
      <p:ext uri="{BB962C8B-B14F-4D97-AF65-F5344CB8AC3E}">
        <p14:creationId xmlns:p14="http://schemas.microsoft.com/office/powerpoint/2010/main" val="8677568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G" dirty="0"/>
          </a:p>
        </p:txBody>
      </p:sp>
      <p:sp>
        <p:nvSpPr>
          <p:cNvPr id="4" name="Slide Number Placeholder 3"/>
          <p:cNvSpPr>
            <a:spLocks noGrp="1"/>
          </p:cNvSpPr>
          <p:nvPr>
            <p:ph type="sldNum" sz="quarter" idx="5"/>
          </p:nvPr>
        </p:nvSpPr>
        <p:spPr/>
        <p:txBody>
          <a:bodyPr/>
          <a:lstStyle/>
          <a:p>
            <a:fld id="{BEB2EC43-41FD-42D5-BF8E-9A2B457DDE3B}" type="slidenum">
              <a:rPr lang="en-US" smtClean="0"/>
              <a:t>31</a:t>
            </a:fld>
            <a:endParaRPr lang="en-US"/>
          </a:p>
        </p:txBody>
      </p:sp>
    </p:spTree>
    <p:extLst>
      <p:ext uri="{BB962C8B-B14F-4D97-AF65-F5344CB8AC3E}">
        <p14:creationId xmlns:p14="http://schemas.microsoft.com/office/powerpoint/2010/main" val="27155705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G" dirty="0"/>
          </a:p>
        </p:txBody>
      </p:sp>
      <p:sp>
        <p:nvSpPr>
          <p:cNvPr id="4" name="Slide Number Placeholder 3"/>
          <p:cNvSpPr>
            <a:spLocks noGrp="1"/>
          </p:cNvSpPr>
          <p:nvPr>
            <p:ph type="sldNum" sz="quarter" idx="5"/>
          </p:nvPr>
        </p:nvSpPr>
        <p:spPr/>
        <p:txBody>
          <a:bodyPr/>
          <a:lstStyle/>
          <a:p>
            <a:fld id="{BEB2EC43-41FD-42D5-BF8E-9A2B457DDE3B}" type="slidenum">
              <a:rPr lang="en-US" smtClean="0"/>
              <a:t>32</a:t>
            </a:fld>
            <a:endParaRPr lang="en-US"/>
          </a:p>
        </p:txBody>
      </p:sp>
    </p:spTree>
    <p:extLst>
      <p:ext uri="{BB962C8B-B14F-4D97-AF65-F5344CB8AC3E}">
        <p14:creationId xmlns:p14="http://schemas.microsoft.com/office/powerpoint/2010/main" val="42387838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2C95C-79CE-415F-8C9D-C612A2C082E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72DEBE3-4CE0-4D62-B0B2-D11258FFF31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3B55ABB-0BC7-4F24-A844-A0BE613D82DE}"/>
              </a:ext>
            </a:extLst>
          </p:cNvPr>
          <p:cNvSpPr>
            <a:spLocks noGrp="1"/>
          </p:cNvSpPr>
          <p:nvPr>
            <p:ph type="dt" sz="half" idx="10"/>
          </p:nvPr>
        </p:nvSpPr>
        <p:spPr/>
        <p:txBody>
          <a:bodyPr/>
          <a:lstStyle/>
          <a:p>
            <a:fld id="{3D222637-0CAC-438F-85FE-ABF7042EFC91}" type="datetime1">
              <a:rPr lang="en-US" smtClean="0"/>
              <a:t>8/7/2025</a:t>
            </a:fld>
            <a:endParaRPr lang="en-US"/>
          </a:p>
        </p:txBody>
      </p:sp>
      <p:sp>
        <p:nvSpPr>
          <p:cNvPr id="5" name="Footer Placeholder 4">
            <a:extLst>
              <a:ext uri="{FF2B5EF4-FFF2-40B4-BE49-F238E27FC236}">
                <a16:creationId xmlns:a16="http://schemas.microsoft.com/office/drawing/2014/main" id="{57013D9F-7B47-4584-AC60-B08AC025F6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AA8DE8-1CB9-4ABC-9463-E9EB863FAD66}"/>
              </a:ext>
            </a:extLst>
          </p:cNvPr>
          <p:cNvSpPr>
            <a:spLocks noGrp="1"/>
          </p:cNvSpPr>
          <p:nvPr>
            <p:ph type="sldNum" sz="quarter" idx="12"/>
          </p:nvPr>
        </p:nvSpPr>
        <p:spPr/>
        <p:txBody>
          <a:bodyPr/>
          <a:lstStyle/>
          <a:p>
            <a:fld id="{E5AE5CE0-1CF5-4570-809D-2EE63D725C19}" type="slidenum">
              <a:rPr lang="en-US" smtClean="0"/>
              <a:t>‹#›</a:t>
            </a:fld>
            <a:endParaRPr lang="en-US"/>
          </a:p>
        </p:txBody>
      </p:sp>
    </p:spTree>
    <p:extLst>
      <p:ext uri="{BB962C8B-B14F-4D97-AF65-F5344CB8AC3E}">
        <p14:creationId xmlns:p14="http://schemas.microsoft.com/office/powerpoint/2010/main" val="37687162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E13E3-69CC-4F96-824A-D670B7A1E15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79164C8-66E0-48B6-BFB4-C446893B7FA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CE38DB-B5EC-4D55-8AB3-71B0F5B401B5}"/>
              </a:ext>
            </a:extLst>
          </p:cNvPr>
          <p:cNvSpPr>
            <a:spLocks noGrp="1"/>
          </p:cNvSpPr>
          <p:nvPr>
            <p:ph type="dt" sz="half" idx="10"/>
          </p:nvPr>
        </p:nvSpPr>
        <p:spPr/>
        <p:txBody>
          <a:bodyPr/>
          <a:lstStyle/>
          <a:p>
            <a:fld id="{B17C94ED-8C84-4ED9-93CA-20AD59C84AAE}" type="datetime1">
              <a:rPr lang="en-US" smtClean="0"/>
              <a:t>8/7/2025</a:t>
            </a:fld>
            <a:endParaRPr lang="en-US"/>
          </a:p>
        </p:txBody>
      </p:sp>
      <p:sp>
        <p:nvSpPr>
          <p:cNvPr id="5" name="Footer Placeholder 4">
            <a:extLst>
              <a:ext uri="{FF2B5EF4-FFF2-40B4-BE49-F238E27FC236}">
                <a16:creationId xmlns:a16="http://schemas.microsoft.com/office/drawing/2014/main" id="{BC2CFD46-944B-4F46-B53D-650A8B32CC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254A9E-8A7D-41C9-BD60-22ECD03CCF96}"/>
              </a:ext>
            </a:extLst>
          </p:cNvPr>
          <p:cNvSpPr>
            <a:spLocks noGrp="1"/>
          </p:cNvSpPr>
          <p:nvPr>
            <p:ph type="sldNum" sz="quarter" idx="12"/>
          </p:nvPr>
        </p:nvSpPr>
        <p:spPr/>
        <p:txBody>
          <a:bodyPr/>
          <a:lstStyle/>
          <a:p>
            <a:fld id="{E5AE5CE0-1CF5-4570-809D-2EE63D725C19}" type="slidenum">
              <a:rPr lang="en-US" smtClean="0"/>
              <a:t>‹#›</a:t>
            </a:fld>
            <a:endParaRPr lang="en-US"/>
          </a:p>
        </p:txBody>
      </p:sp>
    </p:spTree>
    <p:extLst>
      <p:ext uri="{BB962C8B-B14F-4D97-AF65-F5344CB8AC3E}">
        <p14:creationId xmlns:p14="http://schemas.microsoft.com/office/powerpoint/2010/main" val="35223068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6CAD3-1C51-4980-A436-68DBA29594B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804EDF9-344E-4ACB-85AC-65A1B76E335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8318B33-2EC2-487B-882C-2C7D583EA6A8}"/>
              </a:ext>
            </a:extLst>
          </p:cNvPr>
          <p:cNvSpPr>
            <a:spLocks noGrp="1"/>
          </p:cNvSpPr>
          <p:nvPr>
            <p:ph type="dt" sz="half" idx="10"/>
          </p:nvPr>
        </p:nvSpPr>
        <p:spPr/>
        <p:txBody>
          <a:bodyPr/>
          <a:lstStyle/>
          <a:p>
            <a:fld id="{75B046E2-690C-4A64-9C61-FA1EF9AFC855}" type="datetime1">
              <a:rPr lang="en-US" smtClean="0"/>
              <a:t>8/7/2025</a:t>
            </a:fld>
            <a:endParaRPr lang="en-US"/>
          </a:p>
        </p:txBody>
      </p:sp>
      <p:sp>
        <p:nvSpPr>
          <p:cNvPr id="5" name="Footer Placeholder 4">
            <a:extLst>
              <a:ext uri="{FF2B5EF4-FFF2-40B4-BE49-F238E27FC236}">
                <a16:creationId xmlns:a16="http://schemas.microsoft.com/office/drawing/2014/main" id="{E898A43B-DF23-48A9-994B-C09A7C9C1E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F48419-529F-418F-BF79-6B8BB4F4DDBC}"/>
              </a:ext>
            </a:extLst>
          </p:cNvPr>
          <p:cNvSpPr>
            <a:spLocks noGrp="1"/>
          </p:cNvSpPr>
          <p:nvPr>
            <p:ph type="sldNum" sz="quarter" idx="12"/>
          </p:nvPr>
        </p:nvSpPr>
        <p:spPr/>
        <p:txBody>
          <a:bodyPr/>
          <a:lstStyle/>
          <a:p>
            <a:fld id="{E5AE5CE0-1CF5-4570-809D-2EE63D725C19}" type="slidenum">
              <a:rPr lang="en-US" smtClean="0"/>
              <a:t>‹#›</a:t>
            </a:fld>
            <a:endParaRPr lang="en-US"/>
          </a:p>
        </p:txBody>
      </p:sp>
    </p:spTree>
    <p:extLst>
      <p:ext uri="{BB962C8B-B14F-4D97-AF65-F5344CB8AC3E}">
        <p14:creationId xmlns:p14="http://schemas.microsoft.com/office/powerpoint/2010/main" val="21069827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9EA4C-553C-401C-B624-0A4AA88ABD3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B486A3-F244-48F6-91DC-667A3E71CC4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1854446-0032-4FE4-81C0-0D92C64C5C6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27CCD4D-BF74-4081-AFE4-C241A110890D}"/>
              </a:ext>
            </a:extLst>
          </p:cNvPr>
          <p:cNvSpPr>
            <a:spLocks noGrp="1"/>
          </p:cNvSpPr>
          <p:nvPr>
            <p:ph type="dt" sz="half" idx="10"/>
          </p:nvPr>
        </p:nvSpPr>
        <p:spPr/>
        <p:txBody>
          <a:bodyPr/>
          <a:lstStyle/>
          <a:p>
            <a:fld id="{EA1EBFE1-5B03-4E0C-B6ED-07A0CBA99FC8}" type="datetime1">
              <a:rPr lang="en-US" smtClean="0"/>
              <a:t>8/7/2025</a:t>
            </a:fld>
            <a:endParaRPr lang="en-US"/>
          </a:p>
        </p:txBody>
      </p:sp>
      <p:sp>
        <p:nvSpPr>
          <p:cNvPr id="6" name="Footer Placeholder 5">
            <a:extLst>
              <a:ext uri="{FF2B5EF4-FFF2-40B4-BE49-F238E27FC236}">
                <a16:creationId xmlns:a16="http://schemas.microsoft.com/office/drawing/2014/main" id="{950D07E9-64DA-44C8-9D9A-C2AC5C4D584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75515B0-5B30-4124-AE4F-DE77FB8FC39D}"/>
              </a:ext>
            </a:extLst>
          </p:cNvPr>
          <p:cNvSpPr>
            <a:spLocks noGrp="1"/>
          </p:cNvSpPr>
          <p:nvPr>
            <p:ph type="sldNum" sz="quarter" idx="12"/>
          </p:nvPr>
        </p:nvSpPr>
        <p:spPr/>
        <p:txBody>
          <a:bodyPr/>
          <a:lstStyle/>
          <a:p>
            <a:fld id="{E5AE5CE0-1CF5-4570-809D-2EE63D725C19}" type="slidenum">
              <a:rPr lang="en-US" smtClean="0"/>
              <a:t>‹#›</a:t>
            </a:fld>
            <a:endParaRPr lang="en-US"/>
          </a:p>
        </p:txBody>
      </p:sp>
    </p:spTree>
    <p:extLst>
      <p:ext uri="{BB962C8B-B14F-4D97-AF65-F5344CB8AC3E}">
        <p14:creationId xmlns:p14="http://schemas.microsoft.com/office/powerpoint/2010/main" val="18555781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6F105-697F-4AE2-B5AD-5C4ED5D363C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99F0C60-45F8-41A5-957E-BCE10AC1190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F8B4ADC-7BD4-4AA2-8F84-9D8B98AC6A1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42C37D3-96AE-41AA-8DD2-062198F6247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09CA439-9E0E-4279-B3B7-C8D8DD6EC7A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797E2FB-013D-4691-934B-47B43E87C5D9}"/>
              </a:ext>
            </a:extLst>
          </p:cNvPr>
          <p:cNvSpPr>
            <a:spLocks noGrp="1"/>
          </p:cNvSpPr>
          <p:nvPr>
            <p:ph type="dt" sz="half" idx="10"/>
          </p:nvPr>
        </p:nvSpPr>
        <p:spPr/>
        <p:txBody>
          <a:bodyPr/>
          <a:lstStyle/>
          <a:p>
            <a:fld id="{D8299742-4EC1-40A2-A54E-0089DD432771}" type="datetime1">
              <a:rPr lang="en-US" smtClean="0"/>
              <a:t>8/7/2025</a:t>
            </a:fld>
            <a:endParaRPr lang="en-US"/>
          </a:p>
        </p:txBody>
      </p:sp>
      <p:sp>
        <p:nvSpPr>
          <p:cNvPr id="8" name="Footer Placeholder 7">
            <a:extLst>
              <a:ext uri="{FF2B5EF4-FFF2-40B4-BE49-F238E27FC236}">
                <a16:creationId xmlns:a16="http://schemas.microsoft.com/office/drawing/2014/main" id="{BBC44B07-1D4A-413A-B949-D686A6B8176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91762B8-B636-4C93-98C8-2698DD8172DA}"/>
              </a:ext>
            </a:extLst>
          </p:cNvPr>
          <p:cNvSpPr>
            <a:spLocks noGrp="1"/>
          </p:cNvSpPr>
          <p:nvPr>
            <p:ph type="sldNum" sz="quarter" idx="12"/>
          </p:nvPr>
        </p:nvSpPr>
        <p:spPr/>
        <p:txBody>
          <a:bodyPr/>
          <a:lstStyle/>
          <a:p>
            <a:fld id="{E5AE5CE0-1CF5-4570-809D-2EE63D725C19}" type="slidenum">
              <a:rPr lang="en-US" smtClean="0"/>
              <a:t>‹#›</a:t>
            </a:fld>
            <a:endParaRPr lang="en-US"/>
          </a:p>
        </p:txBody>
      </p:sp>
    </p:spTree>
    <p:extLst>
      <p:ext uri="{BB962C8B-B14F-4D97-AF65-F5344CB8AC3E}">
        <p14:creationId xmlns:p14="http://schemas.microsoft.com/office/powerpoint/2010/main" val="39883454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8102C-3566-4A49-9A47-9CEB5411650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85F689E-B6E3-4645-9C8C-AD3DBC07A3BA}"/>
              </a:ext>
            </a:extLst>
          </p:cNvPr>
          <p:cNvSpPr>
            <a:spLocks noGrp="1"/>
          </p:cNvSpPr>
          <p:nvPr>
            <p:ph type="dt" sz="half" idx="10"/>
          </p:nvPr>
        </p:nvSpPr>
        <p:spPr/>
        <p:txBody>
          <a:bodyPr/>
          <a:lstStyle/>
          <a:p>
            <a:fld id="{C49E6492-7905-4884-A19C-902D6C58F2DB}" type="datetime1">
              <a:rPr lang="en-US" smtClean="0"/>
              <a:t>8/7/2025</a:t>
            </a:fld>
            <a:endParaRPr lang="en-US"/>
          </a:p>
        </p:txBody>
      </p:sp>
      <p:sp>
        <p:nvSpPr>
          <p:cNvPr id="4" name="Footer Placeholder 3">
            <a:extLst>
              <a:ext uri="{FF2B5EF4-FFF2-40B4-BE49-F238E27FC236}">
                <a16:creationId xmlns:a16="http://schemas.microsoft.com/office/drawing/2014/main" id="{69A91D40-A61B-4A99-80FE-2F962C451D2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9E7ADEE-9098-44EC-BFBF-CF04F383FE5A}"/>
              </a:ext>
            </a:extLst>
          </p:cNvPr>
          <p:cNvSpPr>
            <a:spLocks noGrp="1"/>
          </p:cNvSpPr>
          <p:nvPr>
            <p:ph type="sldNum" sz="quarter" idx="12"/>
          </p:nvPr>
        </p:nvSpPr>
        <p:spPr/>
        <p:txBody>
          <a:bodyPr/>
          <a:lstStyle/>
          <a:p>
            <a:fld id="{E5AE5CE0-1CF5-4570-809D-2EE63D725C19}" type="slidenum">
              <a:rPr lang="en-US" smtClean="0"/>
              <a:t>‹#›</a:t>
            </a:fld>
            <a:endParaRPr lang="en-US"/>
          </a:p>
        </p:txBody>
      </p:sp>
    </p:spTree>
    <p:extLst>
      <p:ext uri="{BB962C8B-B14F-4D97-AF65-F5344CB8AC3E}">
        <p14:creationId xmlns:p14="http://schemas.microsoft.com/office/powerpoint/2010/main" val="36797125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B9A958C-57DD-4897-969D-43B5E75D3AB8}"/>
              </a:ext>
            </a:extLst>
          </p:cNvPr>
          <p:cNvSpPr>
            <a:spLocks noGrp="1"/>
          </p:cNvSpPr>
          <p:nvPr>
            <p:ph type="dt" sz="half" idx="10"/>
          </p:nvPr>
        </p:nvSpPr>
        <p:spPr/>
        <p:txBody>
          <a:bodyPr/>
          <a:lstStyle/>
          <a:p>
            <a:fld id="{A5AD191D-F9C0-4930-B11D-1C8F8F8B13DA}" type="datetime1">
              <a:rPr lang="en-US" smtClean="0"/>
              <a:t>8/7/2025</a:t>
            </a:fld>
            <a:endParaRPr lang="en-US"/>
          </a:p>
        </p:txBody>
      </p:sp>
      <p:sp>
        <p:nvSpPr>
          <p:cNvPr id="3" name="Footer Placeholder 2">
            <a:extLst>
              <a:ext uri="{FF2B5EF4-FFF2-40B4-BE49-F238E27FC236}">
                <a16:creationId xmlns:a16="http://schemas.microsoft.com/office/drawing/2014/main" id="{F2BBB5CA-D482-4C16-98CE-8169AECACCA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57108AC-370D-4517-8612-B89E99356FD8}"/>
              </a:ext>
            </a:extLst>
          </p:cNvPr>
          <p:cNvSpPr>
            <a:spLocks noGrp="1"/>
          </p:cNvSpPr>
          <p:nvPr>
            <p:ph type="sldNum" sz="quarter" idx="12"/>
          </p:nvPr>
        </p:nvSpPr>
        <p:spPr/>
        <p:txBody>
          <a:bodyPr/>
          <a:lstStyle/>
          <a:p>
            <a:fld id="{E5AE5CE0-1CF5-4570-809D-2EE63D725C19}" type="slidenum">
              <a:rPr lang="en-US" smtClean="0"/>
              <a:t>‹#›</a:t>
            </a:fld>
            <a:endParaRPr lang="en-US"/>
          </a:p>
        </p:txBody>
      </p:sp>
    </p:spTree>
    <p:extLst>
      <p:ext uri="{BB962C8B-B14F-4D97-AF65-F5344CB8AC3E}">
        <p14:creationId xmlns:p14="http://schemas.microsoft.com/office/powerpoint/2010/main" val="2586795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53EBF-DD33-44BD-A726-55BA3A749A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E4195B9-B1DC-4B54-B3B2-C14F66FA4CC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895419C-1AD0-4098-AF59-FCD8CFB487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B2D0A6-511B-4D67-A98D-A4D74A111B3E}"/>
              </a:ext>
            </a:extLst>
          </p:cNvPr>
          <p:cNvSpPr>
            <a:spLocks noGrp="1"/>
          </p:cNvSpPr>
          <p:nvPr>
            <p:ph type="dt" sz="half" idx="10"/>
          </p:nvPr>
        </p:nvSpPr>
        <p:spPr/>
        <p:txBody>
          <a:bodyPr/>
          <a:lstStyle/>
          <a:p>
            <a:fld id="{43700A47-48DD-4AFE-AF24-8B4E94CF1D06}" type="datetime1">
              <a:rPr lang="en-US" smtClean="0"/>
              <a:t>8/7/2025</a:t>
            </a:fld>
            <a:endParaRPr lang="en-US"/>
          </a:p>
        </p:txBody>
      </p:sp>
      <p:sp>
        <p:nvSpPr>
          <p:cNvPr id="6" name="Footer Placeholder 5">
            <a:extLst>
              <a:ext uri="{FF2B5EF4-FFF2-40B4-BE49-F238E27FC236}">
                <a16:creationId xmlns:a16="http://schemas.microsoft.com/office/drawing/2014/main" id="{56280484-F78A-467A-A11C-3C6A198EA7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15F617-3C12-4865-BDDE-725F62321075}"/>
              </a:ext>
            </a:extLst>
          </p:cNvPr>
          <p:cNvSpPr>
            <a:spLocks noGrp="1"/>
          </p:cNvSpPr>
          <p:nvPr>
            <p:ph type="sldNum" sz="quarter" idx="12"/>
          </p:nvPr>
        </p:nvSpPr>
        <p:spPr/>
        <p:txBody>
          <a:bodyPr/>
          <a:lstStyle/>
          <a:p>
            <a:fld id="{E5AE5CE0-1CF5-4570-809D-2EE63D725C19}" type="slidenum">
              <a:rPr lang="en-US" smtClean="0"/>
              <a:t>‹#›</a:t>
            </a:fld>
            <a:endParaRPr lang="en-US"/>
          </a:p>
        </p:txBody>
      </p:sp>
    </p:spTree>
    <p:extLst>
      <p:ext uri="{BB962C8B-B14F-4D97-AF65-F5344CB8AC3E}">
        <p14:creationId xmlns:p14="http://schemas.microsoft.com/office/powerpoint/2010/main" val="34214653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A9B63-0ACE-4B77-9746-64359FE3036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8EE2815-88F2-4C9E-B3B3-DC75FD36E2B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A28D659-3E8D-41CD-85C1-EA7522FC22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5AFD55-95D4-4A14-98B4-C7BE49819A8D}"/>
              </a:ext>
            </a:extLst>
          </p:cNvPr>
          <p:cNvSpPr>
            <a:spLocks noGrp="1"/>
          </p:cNvSpPr>
          <p:nvPr>
            <p:ph type="dt" sz="half" idx="10"/>
          </p:nvPr>
        </p:nvSpPr>
        <p:spPr/>
        <p:txBody>
          <a:bodyPr/>
          <a:lstStyle/>
          <a:p>
            <a:fld id="{254CF33F-D656-4B6D-87EB-02067312DE51}" type="datetime1">
              <a:rPr lang="en-US" smtClean="0"/>
              <a:t>8/7/2025</a:t>
            </a:fld>
            <a:endParaRPr lang="en-US"/>
          </a:p>
        </p:txBody>
      </p:sp>
      <p:sp>
        <p:nvSpPr>
          <p:cNvPr id="6" name="Footer Placeholder 5">
            <a:extLst>
              <a:ext uri="{FF2B5EF4-FFF2-40B4-BE49-F238E27FC236}">
                <a16:creationId xmlns:a16="http://schemas.microsoft.com/office/drawing/2014/main" id="{985E76DE-E39D-44A7-9694-7BB0E89CA64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012DD4F-4D88-4867-ACEE-B92E4D2111A2}"/>
              </a:ext>
            </a:extLst>
          </p:cNvPr>
          <p:cNvSpPr>
            <a:spLocks noGrp="1"/>
          </p:cNvSpPr>
          <p:nvPr>
            <p:ph type="sldNum" sz="quarter" idx="12"/>
          </p:nvPr>
        </p:nvSpPr>
        <p:spPr/>
        <p:txBody>
          <a:bodyPr/>
          <a:lstStyle/>
          <a:p>
            <a:fld id="{E5AE5CE0-1CF5-4570-809D-2EE63D725C19}" type="slidenum">
              <a:rPr lang="en-US" smtClean="0"/>
              <a:t>‹#›</a:t>
            </a:fld>
            <a:endParaRPr lang="en-US"/>
          </a:p>
        </p:txBody>
      </p:sp>
    </p:spTree>
    <p:extLst>
      <p:ext uri="{BB962C8B-B14F-4D97-AF65-F5344CB8AC3E}">
        <p14:creationId xmlns:p14="http://schemas.microsoft.com/office/powerpoint/2010/main" val="3979706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62E87C-FFB9-4185-90BA-8FD293286CF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34DA6B9-86A8-44B4-817B-6A48F105B7D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B0F281-17E7-49E0-A9B5-A72093575BB7}"/>
              </a:ext>
            </a:extLst>
          </p:cNvPr>
          <p:cNvSpPr>
            <a:spLocks noGrp="1"/>
          </p:cNvSpPr>
          <p:nvPr>
            <p:ph type="dt" sz="half" idx="10"/>
          </p:nvPr>
        </p:nvSpPr>
        <p:spPr/>
        <p:txBody>
          <a:bodyPr/>
          <a:lstStyle/>
          <a:p>
            <a:fld id="{89623AD2-627C-4134-A277-DD85D8AC02FA}" type="datetime1">
              <a:rPr lang="en-US" smtClean="0"/>
              <a:t>8/7/2025</a:t>
            </a:fld>
            <a:endParaRPr lang="en-US"/>
          </a:p>
        </p:txBody>
      </p:sp>
      <p:sp>
        <p:nvSpPr>
          <p:cNvPr id="5" name="Footer Placeholder 4">
            <a:extLst>
              <a:ext uri="{FF2B5EF4-FFF2-40B4-BE49-F238E27FC236}">
                <a16:creationId xmlns:a16="http://schemas.microsoft.com/office/drawing/2014/main" id="{E3F65292-A769-40F8-BE64-6EA6201FD8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B41728-79BC-4927-A979-F9C776F7C8DE}"/>
              </a:ext>
            </a:extLst>
          </p:cNvPr>
          <p:cNvSpPr>
            <a:spLocks noGrp="1"/>
          </p:cNvSpPr>
          <p:nvPr>
            <p:ph type="sldNum" sz="quarter" idx="12"/>
          </p:nvPr>
        </p:nvSpPr>
        <p:spPr/>
        <p:txBody>
          <a:bodyPr/>
          <a:lstStyle/>
          <a:p>
            <a:fld id="{E5AE5CE0-1CF5-4570-809D-2EE63D725C19}" type="slidenum">
              <a:rPr lang="en-US" smtClean="0"/>
              <a:t>‹#›</a:t>
            </a:fld>
            <a:endParaRPr lang="en-US"/>
          </a:p>
        </p:txBody>
      </p:sp>
    </p:spTree>
    <p:extLst>
      <p:ext uri="{BB962C8B-B14F-4D97-AF65-F5344CB8AC3E}">
        <p14:creationId xmlns:p14="http://schemas.microsoft.com/office/powerpoint/2010/main" val="42033658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B9DA523-810C-4EB9-83CF-EADBC57E1A6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EA1E082-3BF9-4A93-A4E9-420ABF0DC00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3729FE-112B-4D73-B486-B8E05710EA8F}"/>
              </a:ext>
            </a:extLst>
          </p:cNvPr>
          <p:cNvSpPr>
            <a:spLocks noGrp="1"/>
          </p:cNvSpPr>
          <p:nvPr>
            <p:ph type="dt" sz="half" idx="10"/>
          </p:nvPr>
        </p:nvSpPr>
        <p:spPr/>
        <p:txBody>
          <a:bodyPr/>
          <a:lstStyle/>
          <a:p>
            <a:fld id="{59CCCDE8-AFDD-4344-B986-DAFE88B7134E}" type="datetime1">
              <a:rPr lang="en-US" smtClean="0"/>
              <a:t>8/7/2025</a:t>
            </a:fld>
            <a:endParaRPr lang="en-US"/>
          </a:p>
        </p:txBody>
      </p:sp>
      <p:sp>
        <p:nvSpPr>
          <p:cNvPr id="5" name="Footer Placeholder 4">
            <a:extLst>
              <a:ext uri="{FF2B5EF4-FFF2-40B4-BE49-F238E27FC236}">
                <a16:creationId xmlns:a16="http://schemas.microsoft.com/office/drawing/2014/main" id="{046AFD11-A324-47CF-950E-322CEF6E73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997F17-D9CE-4246-8E5A-00A1200EBDED}"/>
              </a:ext>
            </a:extLst>
          </p:cNvPr>
          <p:cNvSpPr>
            <a:spLocks noGrp="1"/>
          </p:cNvSpPr>
          <p:nvPr>
            <p:ph type="sldNum" sz="quarter" idx="12"/>
          </p:nvPr>
        </p:nvSpPr>
        <p:spPr/>
        <p:txBody>
          <a:bodyPr/>
          <a:lstStyle/>
          <a:p>
            <a:fld id="{E5AE5CE0-1CF5-4570-809D-2EE63D725C19}" type="slidenum">
              <a:rPr lang="en-US" smtClean="0"/>
              <a:t>‹#›</a:t>
            </a:fld>
            <a:endParaRPr lang="en-US"/>
          </a:p>
        </p:txBody>
      </p:sp>
    </p:spTree>
    <p:extLst>
      <p:ext uri="{BB962C8B-B14F-4D97-AF65-F5344CB8AC3E}">
        <p14:creationId xmlns:p14="http://schemas.microsoft.com/office/powerpoint/2010/main" val="28543494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DE539F7-ED5D-4D3F-925C-CFB69086A97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D3DAA5E-8B54-48CD-9FA9-99EF08CB3F7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D636CA-01EC-42FC-A4D5-C3EB4286C50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06F57E6-63DA-4055-A017-CA5AE7468D22}" type="datetime1">
              <a:rPr lang="en-US" smtClean="0"/>
              <a:t>8/7/2025</a:t>
            </a:fld>
            <a:endParaRPr lang="en-US"/>
          </a:p>
        </p:txBody>
      </p:sp>
      <p:sp>
        <p:nvSpPr>
          <p:cNvPr id="5" name="Footer Placeholder 4">
            <a:extLst>
              <a:ext uri="{FF2B5EF4-FFF2-40B4-BE49-F238E27FC236}">
                <a16:creationId xmlns:a16="http://schemas.microsoft.com/office/drawing/2014/main" id="{9684D4E0-2AE1-4D90-9FCE-9095FF3D4C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C83F89C-E859-4CE3-928F-A6791A6EB36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AE5CE0-1CF5-4570-809D-2EE63D725C19}" type="slidenum">
              <a:rPr lang="en-US" smtClean="0"/>
              <a:t>‹#›</a:t>
            </a:fld>
            <a:endParaRPr lang="en-US"/>
          </a:p>
        </p:txBody>
      </p:sp>
    </p:spTree>
    <p:extLst>
      <p:ext uri="{BB962C8B-B14F-4D97-AF65-F5344CB8AC3E}">
        <p14:creationId xmlns:p14="http://schemas.microsoft.com/office/powerpoint/2010/main" val="5673507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sciencedirect.com/topics/biochemistry-genetics-and-molecular-biology/proteus-anguinus" TargetMode="Externa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sciencedirect.com/topics/agricultural-and-biological-sciences/thermoregulation" TargetMode="External"/><Relationship Id="rId2" Type="http://schemas.openxmlformats.org/officeDocument/2006/relationships/hyperlink" Target="https://www.sciencedirect.com/topics/agricultural-and-biological-sciences/homeostasis" TargetMode="External"/><Relationship Id="rId1" Type="http://schemas.openxmlformats.org/officeDocument/2006/relationships/slideLayout" Target="../slideLayouts/slideLayout2.xml"/><Relationship Id="rId4" Type="http://schemas.openxmlformats.org/officeDocument/2006/relationships/hyperlink" Target="https://www.sciencedirect.com/topics/biochemistry-genetics-and-molecular-biology/membrane-fluidity"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www.sciencedirect.com/topics/biochemistry-genetics-and-molecular-biology/lipid-storage" TargetMode="External"/><Relationship Id="rId7" Type="http://schemas.openxmlformats.org/officeDocument/2006/relationships/hyperlink" Target="https://www.sciencedirect.com/topics/agricultural-and-biological-sciences/skeletal-muscle" TargetMode="External"/><Relationship Id="rId2" Type="http://schemas.openxmlformats.org/officeDocument/2006/relationships/hyperlink" Target="https://www.sciencedirect.com/topics/agricultural-and-biological-sciences/adipose-tissue" TargetMode="External"/><Relationship Id="rId1" Type="http://schemas.openxmlformats.org/officeDocument/2006/relationships/slideLayout" Target="../slideLayouts/slideLayout2.xml"/><Relationship Id="rId6" Type="http://schemas.openxmlformats.org/officeDocument/2006/relationships/hyperlink" Target="https://www.sciencedirect.com/topics/biochemistry-genetics-and-molecular-biology/lipid" TargetMode="External"/><Relationship Id="rId5" Type="http://schemas.openxmlformats.org/officeDocument/2006/relationships/hyperlink" Target="https://www.sciencedirect.com/topics/agricultural-and-biological-sciences/tail" TargetMode="External"/><Relationship Id="rId4" Type="http://schemas.openxmlformats.org/officeDocument/2006/relationships/hyperlink" Target="https://www.sciencedirect.com/topics/agricultural-and-biological-sciences/foot"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A1CE85-1742-DFCB-70E5-58CE27D56ACA}"/>
              </a:ext>
            </a:extLst>
          </p:cNvPr>
          <p:cNvSpPr>
            <a:spLocks noGrp="1"/>
          </p:cNvSpPr>
          <p:nvPr>
            <p:ph idx="1"/>
          </p:nvPr>
        </p:nvSpPr>
        <p:spPr>
          <a:xfrm>
            <a:off x="196645" y="662781"/>
            <a:ext cx="5899355" cy="5856006"/>
          </a:xfrm>
        </p:spPr>
        <p:txBody>
          <a:bodyPr>
            <a:normAutofit/>
          </a:bodyPr>
          <a:lstStyle/>
          <a:p>
            <a:r>
              <a:rPr lang="en-US" sz="2400" dirty="0"/>
              <a:t>Lipids are a heterogeneous group of compounds, including fats, oils, steroids, waxes, and </a:t>
            </a:r>
          </a:p>
          <a:p>
            <a:r>
              <a:rPr lang="en-US" sz="2400" dirty="0"/>
              <a:t>related compounds, which are related more by their physical than by their chemical properties </a:t>
            </a:r>
          </a:p>
          <a:p>
            <a:r>
              <a:rPr lang="en-US" sz="2400" dirty="0"/>
              <a:t>They have the common property of being</a:t>
            </a:r>
          </a:p>
          <a:p>
            <a:pPr marL="0" indent="0">
              <a:buNone/>
            </a:pPr>
            <a:r>
              <a:rPr lang="en-US" sz="2400" dirty="0"/>
              <a:t> relatively insoluble in water and soluble in nonpolar solvents such as ether and chloroform</a:t>
            </a:r>
          </a:p>
          <a:p>
            <a:pPr marL="0" indent="0">
              <a:buNone/>
            </a:pPr>
            <a:endParaRPr lang="en-US" sz="2400" dirty="0"/>
          </a:p>
        </p:txBody>
      </p:sp>
      <p:sp>
        <p:nvSpPr>
          <p:cNvPr id="4" name="Slide Number Placeholder 3">
            <a:extLst>
              <a:ext uri="{FF2B5EF4-FFF2-40B4-BE49-F238E27FC236}">
                <a16:creationId xmlns:a16="http://schemas.microsoft.com/office/drawing/2014/main" id="{3D1035FD-D6A5-4BC7-4A15-9AB2712F40C6}"/>
              </a:ext>
            </a:extLst>
          </p:cNvPr>
          <p:cNvSpPr>
            <a:spLocks noGrp="1"/>
          </p:cNvSpPr>
          <p:nvPr>
            <p:ph type="sldNum" sz="quarter" idx="12"/>
          </p:nvPr>
        </p:nvSpPr>
        <p:spPr>
          <a:xfrm>
            <a:off x="8010832" y="5834336"/>
            <a:ext cx="2743200" cy="365125"/>
          </a:xfrm>
        </p:spPr>
        <p:txBody>
          <a:bodyPr/>
          <a:lstStyle/>
          <a:p>
            <a:fld id="{E5AE5CE0-1CF5-4570-809D-2EE63D725C19}" type="slidenum">
              <a:rPr lang="en-US" smtClean="0"/>
              <a:t>1</a:t>
            </a:fld>
            <a:endParaRPr lang="en-US"/>
          </a:p>
        </p:txBody>
      </p:sp>
      <p:sp>
        <p:nvSpPr>
          <p:cNvPr id="5" name="Title 1">
            <a:extLst>
              <a:ext uri="{FF2B5EF4-FFF2-40B4-BE49-F238E27FC236}">
                <a16:creationId xmlns:a16="http://schemas.microsoft.com/office/drawing/2014/main" id="{8989208F-47B7-E486-23E2-3D32510003B3}"/>
              </a:ext>
            </a:extLst>
          </p:cNvPr>
          <p:cNvSpPr>
            <a:spLocks noGrp="1"/>
          </p:cNvSpPr>
          <p:nvPr>
            <p:ph type="title"/>
          </p:nvPr>
        </p:nvSpPr>
        <p:spPr>
          <a:xfrm>
            <a:off x="196645" y="74310"/>
            <a:ext cx="6182031" cy="715247"/>
          </a:xfrm>
        </p:spPr>
        <p:txBody>
          <a:bodyPr>
            <a:normAutofit/>
          </a:bodyPr>
          <a:lstStyle/>
          <a:p>
            <a:r>
              <a:rPr lang="en-US" b="1" dirty="0"/>
              <a:t>Introduction</a:t>
            </a:r>
          </a:p>
        </p:txBody>
      </p:sp>
      <p:sp>
        <p:nvSpPr>
          <p:cNvPr id="2" name="Content Placeholder 2">
            <a:extLst>
              <a:ext uri="{FF2B5EF4-FFF2-40B4-BE49-F238E27FC236}">
                <a16:creationId xmlns:a16="http://schemas.microsoft.com/office/drawing/2014/main" id="{B08CEAA3-1ED4-3594-9353-44F40DC38372}"/>
              </a:ext>
            </a:extLst>
          </p:cNvPr>
          <p:cNvSpPr txBox="1">
            <a:spLocks/>
          </p:cNvSpPr>
          <p:nvPr/>
        </p:nvSpPr>
        <p:spPr>
          <a:xfrm>
            <a:off x="6096000" y="3149425"/>
            <a:ext cx="5899355" cy="374721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 </a:t>
            </a:r>
            <a:endParaRPr lang="en-UG" dirty="0"/>
          </a:p>
        </p:txBody>
      </p:sp>
      <p:pic>
        <p:nvPicPr>
          <p:cNvPr id="7" name="Picture 6">
            <a:extLst>
              <a:ext uri="{FF2B5EF4-FFF2-40B4-BE49-F238E27FC236}">
                <a16:creationId xmlns:a16="http://schemas.microsoft.com/office/drawing/2014/main" id="{8450F630-BE65-D6A8-9FDA-51A26C7CA298}"/>
              </a:ext>
            </a:extLst>
          </p:cNvPr>
          <p:cNvPicPr>
            <a:picLocks noChangeAspect="1"/>
          </p:cNvPicPr>
          <p:nvPr/>
        </p:nvPicPr>
        <p:blipFill>
          <a:blip r:embed="rId3"/>
          <a:stretch>
            <a:fillRect/>
          </a:stretch>
        </p:blipFill>
        <p:spPr>
          <a:xfrm>
            <a:off x="6378677" y="285135"/>
            <a:ext cx="5513440" cy="2782530"/>
          </a:xfrm>
          <a:prstGeom prst="rect">
            <a:avLst/>
          </a:prstGeom>
        </p:spPr>
      </p:pic>
      <p:sp>
        <p:nvSpPr>
          <p:cNvPr id="8" name="TextBox 7">
            <a:extLst>
              <a:ext uri="{FF2B5EF4-FFF2-40B4-BE49-F238E27FC236}">
                <a16:creationId xmlns:a16="http://schemas.microsoft.com/office/drawing/2014/main" id="{0275D813-D888-35F4-CACB-BC6B28054DEB}"/>
              </a:ext>
            </a:extLst>
          </p:cNvPr>
          <p:cNvSpPr txBox="1"/>
          <p:nvPr/>
        </p:nvSpPr>
        <p:spPr>
          <a:xfrm>
            <a:off x="6096000" y="3429000"/>
            <a:ext cx="5968181" cy="3046988"/>
          </a:xfrm>
          <a:prstGeom prst="rect">
            <a:avLst/>
          </a:prstGeom>
          <a:noFill/>
        </p:spPr>
        <p:txBody>
          <a:bodyPr wrap="square">
            <a:spAutoFit/>
          </a:bodyPr>
          <a:lstStyle/>
          <a:p>
            <a:pPr marL="0" indent="0">
              <a:buNone/>
            </a:pPr>
            <a:r>
              <a:rPr lang="en-US" sz="2400" dirty="0"/>
              <a:t>Biological functions include;</a:t>
            </a:r>
          </a:p>
          <a:p>
            <a:pPr marL="342900" indent="-342900">
              <a:buFont typeface="Arial" panose="020B0604020202020204" pitchFamily="34" charset="0"/>
              <a:buChar char="•"/>
            </a:pPr>
            <a:r>
              <a:rPr lang="en-US" sz="2400" dirty="0"/>
              <a:t>Excellent energy reserves</a:t>
            </a:r>
          </a:p>
          <a:p>
            <a:pPr marL="342900" indent="-342900">
              <a:buFont typeface="Arial" panose="020B0604020202020204" pitchFamily="34" charset="0"/>
              <a:buChar char="•"/>
            </a:pPr>
            <a:r>
              <a:rPr lang="en-US" sz="2400" dirty="0"/>
              <a:t>Structure of cell membranes </a:t>
            </a:r>
          </a:p>
          <a:p>
            <a:pPr marL="342900" indent="-342900">
              <a:buFont typeface="Arial" panose="020B0604020202020204" pitchFamily="34" charset="0"/>
              <a:buChar char="•"/>
            </a:pPr>
            <a:r>
              <a:rPr lang="en-US" sz="2400" dirty="0"/>
              <a:t>Organ padding/Protection</a:t>
            </a:r>
          </a:p>
          <a:p>
            <a:pPr marL="342900" indent="-342900">
              <a:buFont typeface="Arial" panose="020B0604020202020204" pitchFamily="34" charset="0"/>
              <a:buChar char="•"/>
            </a:pPr>
            <a:r>
              <a:rPr lang="en-US" sz="2400" dirty="0"/>
              <a:t>Body thermal insulation</a:t>
            </a:r>
          </a:p>
          <a:p>
            <a:pPr marL="342900" indent="-342900">
              <a:buFont typeface="Arial" panose="020B0604020202020204" pitchFamily="34" charset="0"/>
              <a:buChar char="•"/>
            </a:pPr>
            <a:r>
              <a:rPr lang="en-US" sz="2400" dirty="0"/>
              <a:t>Essential fatty acids (EFA)</a:t>
            </a:r>
          </a:p>
          <a:p>
            <a:pPr marL="342900" indent="-342900">
              <a:buFont typeface="Arial" panose="020B0604020202020204" pitchFamily="34" charset="0"/>
              <a:buChar char="•"/>
            </a:pPr>
            <a:r>
              <a:rPr lang="en-US" sz="2400" dirty="0"/>
              <a:t>Hormone synthesis</a:t>
            </a:r>
          </a:p>
          <a:p>
            <a:pPr marL="342900" indent="-342900">
              <a:buFont typeface="Arial" panose="020B0604020202020204" pitchFamily="34" charset="0"/>
              <a:buChar char="•"/>
            </a:pPr>
            <a:r>
              <a:rPr lang="en-US" sz="2400" dirty="0"/>
              <a:t>Fat soluble vitamin absorption</a:t>
            </a:r>
            <a:endParaRPr lang="en-UG" sz="2400" dirty="0"/>
          </a:p>
        </p:txBody>
      </p:sp>
    </p:spTree>
    <p:extLst>
      <p:ext uri="{BB962C8B-B14F-4D97-AF65-F5344CB8AC3E}">
        <p14:creationId xmlns:p14="http://schemas.microsoft.com/office/powerpoint/2010/main" val="5482070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ADD67B-9744-8B63-5F2A-ECC6F8E21AE1}"/>
              </a:ext>
            </a:extLst>
          </p:cNvPr>
          <p:cNvSpPr>
            <a:spLocks noGrp="1"/>
          </p:cNvSpPr>
          <p:nvPr>
            <p:ph idx="1"/>
          </p:nvPr>
        </p:nvSpPr>
        <p:spPr>
          <a:xfrm>
            <a:off x="274320" y="1825625"/>
            <a:ext cx="11624310" cy="4351338"/>
          </a:xfrm>
        </p:spPr>
        <p:txBody>
          <a:bodyPr>
            <a:normAutofit/>
          </a:bodyPr>
          <a:lstStyle/>
          <a:p>
            <a:pPr algn="l"/>
            <a:r>
              <a:rPr lang="en-US" sz="2800" b="0" i="0" u="none" strike="noStrike" baseline="0" dirty="0">
                <a:solidFill>
                  <a:srgbClr val="292526"/>
                </a:solidFill>
                <a:latin typeface="Times New Roman" panose="02020603050405020304" pitchFamily="18" charset="0"/>
              </a:rPr>
              <a:t>Although metabolism embraces hundreds of different enzyme-catalyzed reactions, our major concern </a:t>
            </a:r>
            <a:r>
              <a:rPr lang="en-US" dirty="0">
                <a:solidFill>
                  <a:srgbClr val="292526"/>
                </a:solidFill>
                <a:latin typeface="Times New Roman" panose="02020603050405020304" pitchFamily="18" charset="0"/>
              </a:rPr>
              <a:t>here is the</a:t>
            </a:r>
            <a:r>
              <a:rPr lang="en-US" sz="2800" b="0" i="0" u="none" strike="noStrike" baseline="0" dirty="0">
                <a:solidFill>
                  <a:srgbClr val="292526"/>
                </a:solidFill>
                <a:latin typeface="Times New Roman" panose="02020603050405020304" pitchFamily="18" charset="0"/>
              </a:rPr>
              <a:t> central metabolic pathways, </a:t>
            </a:r>
          </a:p>
          <a:p>
            <a:pPr algn="l"/>
            <a:r>
              <a:rPr lang="en-US" sz="2800" b="0" i="0" u="none" strike="noStrike" baseline="0" dirty="0">
                <a:solidFill>
                  <a:srgbClr val="292526"/>
                </a:solidFill>
                <a:latin typeface="Times New Roman" panose="02020603050405020304" pitchFamily="18" charset="0"/>
              </a:rPr>
              <a:t>which are few in number and remarkably similar in all forms of life.</a:t>
            </a:r>
          </a:p>
          <a:p>
            <a:pPr algn="l"/>
            <a:r>
              <a:rPr lang="en-US" sz="2800" b="0" i="0" u="none" strike="noStrike" baseline="0" dirty="0">
                <a:solidFill>
                  <a:srgbClr val="292526"/>
                </a:solidFill>
                <a:latin typeface="Times New Roman" panose="02020603050405020304" pitchFamily="18" charset="0"/>
              </a:rPr>
              <a:t>Living organisms can be divided into two large groups according to the chemical form in which they obtain carbon from the environment.</a:t>
            </a:r>
          </a:p>
          <a:p>
            <a:pPr algn="l"/>
            <a:r>
              <a:rPr lang="en-US" sz="2800" b="1" i="0" u="none" strike="noStrike" baseline="0" dirty="0">
                <a:solidFill>
                  <a:srgbClr val="292526"/>
                </a:solidFill>
                <a:latin typeface="Times New Roman" panose="02020603050405020304" pitchFamily="18" charset="0"/>
              </a:rPr>
              <a:t>Autotrophs </a:t>
            </a:r>
            <a:r>
              <a:rPr lang="en-US" sz="2800" b="0" i="0" u="none" strike="noStrike" baseline="0" dirty="0">
                <a:solidFill>
                  <a:srgbClr val="292526"/>
                </a:solidFill>
                <a:latin typeface="Times New Roman" panose="02020603050405020304" pitchFamily="18" charset="0"/>
              </a:rPr>
              <a:t>(such as photosynthetic bacteria and vascular plants) can use carbon dioxide from the atmosphere as their sole source of carbon, from which they construct all their carbon-</a:t>
            </a:r>
            <a:r>
              <a:rPr lang="en-US" sz="2800" b="0" i="0" u="none" strike="noStrike" baseline="0" dirty="0" err="1">
                <a:solidFill>
                  <a:srgbClr val="292526"/>
                </a:solidFill>
                <a:latin typeface="Times New Roman" panose="02020603050405020304" pitchFamily="18" charset="0"/>
              </a:rPr>
              <a:t>containingbiomolecules</a:t>
            </a:r>
            <a:r>
              <a:rPr lang="en-US" sz="2800" b="0" i="0" u="none" strike="noStrike" baseline="0" dirty="0">
                <a:solidFill>
                  <a:srgbClr val="292526"/>
                </a:solidFill>
                <a:latin typeface="Times New Roman" panose="02020603050405020304" pitchFamily="18" charset="0"/>
              </a:rPr>
              <a:t> </a:t>
            </a:r>
            <a:endParaRPr lang="en-UG" dirty="0"/>
          </a:p>
        </p:txBody>
      </p:sp>
      <p:sp>
        <p:nvSpPr>
          <p:cNvPr id="4" name="Slide Number Placeholder 3">
            <a:extLst>
              <a:ext uri="{FF2B5EF4-FFF2-40B4-BE49-F238E27FC236}">
                <a16:creationId xmlns:a16="http://schemas.microsoft.com/office/drawing/2014/main" id="{39F6C047-547C-B8CA-C727-9E2E2126E12E}"/>
              </a:ext>
            </a:extLst>
          </p:cNvPr>
          <p:cNvSpPr>
            <a:spLocks noGrp="1"/>
          </p:cNvSpPr>
          <p:nvPr>
            <p:ph type="sldNum" sz="quarter" idx="12"/>
          </p:nvPr>
        </p:nvSpPr>
        <p:spPr/>
        <p:txBody>
          <a:bodyPr/>
          <a:lstStyle/>
          <a:p>
            <a:fld id="{E5AE5CE0-1CF5-4570-809D-2EE63D725C19}" type="slidenum">
              <a:rPr lang="en-US" smtClean="0"/>
              <a:t>2</a:t>
            </a:fld>
            <a:endParaRPr lang="en-US"/>
          </a:p>
        </p:txBody>
      </p:sp>
      <p:sp>
        <p:nvSpPr>
          <p:cNvPr id="6" name="Title 5">
            <a:extLst>
              <a:ext uri="{FF2B5EF4-FFF2-40B4-BE49-F238E27FC236}">
                <a16:creationId xmlns:a16="http://schemas.microsoft.com/office/drawing/2014/main" id="{8C21205E-421E-DCE7-1646-72643DCC0928}"/>
              </a:ext>
            </a:extLst>
          </p:cNvPr>
          <p:cNvSpPr>
            <a:spLocks noGrp="1"/>
          </p:cNvSpPr>
          <p:nvPr>
            <p:ph type="title"/>
          </p:nvPr>
        </p:nvSpPr>
        <p:spPr/>
        <p:txBody>
          <a:bodyPr/>
          <a:lstStyle/>
          <a:p>
            <a:endParaRPr lang="en-UG"/>
          </a:p>
        </p:txBody>
      </p:sp>
    </p:spTree>
    <p:extLst>
      <p:ext uri="{BB962C8B-B14F-4D97-AF65-F5344CB8AC3E}">
        <p14:creationId xmlns:p14="http://schemas.microsoft.com/office/powerpoint/2010/main" val="7228215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BC450A-6694-1EB1-7A88-BA905EDF2969}"/>
              </a:ext>
            </a:extLst>
          </p:cNvPr>
          <p:cNvSpPr>
            <a:spLocks noGrp="1"/>
          </p:cNvSpPr>
          <p:nvPr>
            <p:ph idx="1"/>
          </p:nvPr>
        </p:nvSpPr>
        <p:spPr>
          <a:xfrm>
            <a:off x="217170" y="457200"/>
            <a:ext cx="11136630" cy="5719763"/>
          </a:xfrm>
        </p:spPr>
        <p:txBody>
          <a:bodyPr>
            <a:normAutofit/>
          </a:bodyPr>
          <a:lstStyle/>
          <a:p>
            <a:r>
              <a:rPr lang="en-US" dirty="0">
                <a:solidFill>
                  <a:srgbClr val="292526"/>
                </a:solidFill>
                <a:latin typeface="Times New Roman" panose="02020603050405020304" pitchFamily="18" charset="0"/>
              </a:rPr>
              <a:t>Some autotrophic organisms, such as cyanobacteria, can also use atmospheric nitrogen to generate all their nitrogenous components.</a:t>
            </a:r>
          </a:p>
          <a:p>
            <a:r>
              <a:rPr lang="en-US" b="1" dirty="0">
                <a:solidFill>
                  <a:srgbClr val="292526"/>
                </a:solidFill>
                <a:latin typeface="Times New Roman" panose="02020603050405020304" pitchFamily="18" charset="0"/>
              </a:rPr>
              <a:t>Heterotrophs </a:t>
            </a:r>
            <a:r>
              <a:rPr lang="en-US" dirty="0">
                <a:solidFill>
                  <a:srgbClr val="292526"/>
                </a:solidFill>
                <a:latin typeface="Times New Roman" panose="02020603050405020304" pitchFamily="18" charset="0"/>
              </a:rPr>
              <a:t>cannot use atmospheric carbon dioxide and must obtain carbon from their environment in the form of relatively complex organic molecules such as glucose. </a:t>
            </a:r>
          </a:p>
          <a:p>
            <a:r>
              <a:rPr lang="en-US" dirty="0">
                <a:solidFill>
                  <a:srgbClr val="292526"/>
                </a:solidFill>
                <a:latin typeface="Times New Roman" panose="02020603050405020304" pitchFamily="18" charset="0"/>
              </a:rPr>
              <a:t>Multicellular animals and most microorganisms are heterotrophic.</a:t>
            </a:r>
          </a:p>
          <a:p>
            <a:r>
              <a:rPr lang="en-US" dirty="0">
                <a:solidFill>
                  <a:srgbClr val="292526"/>
                </a:solidFill>
                <a:latin typeface="Times New Roman" panose="02020603050405020304" pitchFamily="18" charset="0"/>
              </a:rPr>
              <a:t>Autotrophic cells and organisms are relatively self-sufficient,</a:t>
            </a:r>
          </a:p>
          <a:p>
            <a:r>
              <a:rPr lang="en-US" dirty="0">
                <a:solidFill>
                  <a:srgbClr val="292526"/>
                </a:solidFill>
                <a:latin typeface="Times New Roman" panose="02020603050405020304" pitchFamily="18" charset="0"/>
              </a:rPr>
              <a:t> whereas heterotrophic cells and organisms, with their requirements</a:t>
            </a:r>
          </a:p>
          <a:p>
            <a:pPr marL="0" indent="0">
              <a:buNone/>
            </a:pPr>
            <a:r>
              <a:rPr lang="en-US" dirty="0">
                <a:solidFill>
                  <a:srgbClr val="292526"/>
                </a:solidFill>
                <a:latin typeface="Times New Roman" panose="02020603050405020304" pitchFamily="18" charset="0"/>
              </a:rPr>
              <a:t>for carbon in more complex forms, must subsist on the products of other organisms</a:t>
            </a:r>
            <a:endParaRPr lang="en-UG" dirty="0"/>
          </a:p>
        </p:txBody>
      </p:sp>
      <p:sp>
        <p:nvSpPr>
          <p:cNvPr id="4" name="Slide Number Placeholder 3">
            <a:extLst>
              <a:ext uri="{FF2B5EF4-FFF2-40B4-BE49-F238E27FC236}">
                <a16:creationId xmlns:a16="http://schemas.microsoft.com/office/drawing/2014/main" id="{F0685949-D6C4-43D0-50A8-F0C278C8F485}"/>
              </a:ext>
            </a:extLst>
          </p:cNvPr>
          <p:cNvSpPr>
            <a:spLocks noGrp="1"/>
          </p:cNvSpPr>
          <p:nvPr>
            <p:ph type="sldNum" sz="quarter" idx="12"/>
          </p:nvPr>
        </p:nvSpPr>
        <p:spPr/>
        <p:txBody>
          <a:bodyPr/>
          <a:lstStyle/>
          <a:p>
            <a:fld id="{E5AE5CE0-1CF5-4570-809D-2EE63D725C19}" type="slidenum">
              <a:rPr lang="en-US" smtClean="0"/>
              <a:t>3</a:t>
            </a:fld>
            <a:endParaRPr lang="en-US"/>
          </a:p>
        </p:txBody>
      </p:sp>
    </p:spTree>
    <p:extLst>
      <p:ext uri="{BB962C8B-B14F-4D97-AF65-F5344CB8AC3E}">
        <p14:creationId xmlns:p14="http://schemas.microsoft.com/office/powerpoint/2010/main" val="4652951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3F45E02-610C-9C4E-565F-AA87A182CDE0}"/>
              </a:ext>
            </a:extLst>
          </p:cNvPr>
          <p:cNvSpPr>
            <a:spLocks noGrp="1"/>
          </p:cNvSpPr>
          <p:nvPr>
            <p:ph idx="1"/>
          </p:nvPr>
        </p:nvSpPr>
        <p:spPr>
          <a:xfrm>
            <a:off x="157316" y="136525"/>
            <a:ext cx="11196484" cy="6040438"/>
          </a:xfrm>
        </p:spPr>
        <p:txBody>
          <a:bodyPr>
            <a:normAutofit/>
          </a:bodyPr>
          <a:lstStyle/>
          <a:p>
            <a:endParaRPr lang="en-US" b="1" dirty="0"/>
          </a:p>
          <a:p>
            <a:endParaRPr lang="en-US" b="1" dirty="0"/>
          </a:p>
          <a:p>
            <a:endParaRPr lang="en-US" b="1" dirty="0"/>
          </a:p>
          <a:p>
            <a:endParaRPr lang="en-US" b="1" dirty="0"/>
          </a:p>
          <a:p>
            <a:endParaRPr lang="en-US" b="1" dirty="0"/>
          </a:p>
          <a:p>
            <a:r>
              <a:rPr lang="en-US" b="1" dirty="0"/>
              <a:t>Metabolism, </a:t>
            </a:r>
            <a:r>
              <a:rPr lang="en-US" dirty="0"/>
              <a:t>the sum of all the chemical transformations taking place in a cell or organism, occurs through a series of enzyme-catalyzed reactions that constitute </a:t>
            </a:r>
            <a:r>
              <a:rPr lang="en-US" b="1" dirty="0"/>
              <a:t>metabolic pathways. </a:t>
            </a:r>
          </a:p>
          <a:p>
            <a:r>
              <a:rPr lang="en-US" dirty="0"/>
              <a:t>Each of the consecutive steps in a metabolic pathway brings about a specific, small chemical change, usually the removal, transfer, or addition of a particular atom or functional group. </a:t>
            </a:r>
          </a:p>
          <a:p>
            <a:r>
              <a:rPr lang="en-US" dirty="0"/>
              <a:t>The precursor is converted into a product through a series of metabolic intermediates called </a:t>
            </a:r>
            <a:r>
              <a:rPr lang="en-US" b="1" dirty="0"/>
              <a:t>metabolites. </a:t>
            </a:r>
          </a:p>
          <a:p>
            <a:pPr marL="0" indent="0">
              <a:buNone/>
            </a:pPr>
            <a:endParaRPr lang="en-US" dirty="0"/>
          </a:p>
        </p:txBody>
      </p:sp>
      <p:sp>
        <p:nvSpPr>
          <p:cNvPr id="4" name="Slide Number Placeholder 3">
            <a:extLst>
              <a:ext uri="{FF2B5EF4-FFF2-40B4-BE49-F238E27FC236}">
                <a16:creationId xmlns:a16="http://schemas.microsoft.com/office/drawing/2014/main" id="{0D9CA66D-BA74-25EA-3A97-0BB0E9F35DF9}"/>
              </a:ext>
            </a:extLst>
          </p:cNvPr>
          <p:cNvSpPr>
            <a:spLocks noGrp="1"/>
          </p:cNvSpPr>
          <p:nvPr>
            <p:ph type="sldNum" sz="quarter" idx="12"/>
          </p:nvPr>
        </p:nvSpPr>
        <p:spPr/>
        <p:txBody>
          <a:bodyPr/>
          <a:lstStyle/>
          <a:p>
            <a:fld id="{E5AE5CE0-1CF5-4570-809D-2EE63D725C19}" type="slidenum">
              <a:rPr lang="en-US" smtClean="0"/>
              <a:t>4</a:t>
            </a:fld>
            <a:endParaRPr lang="en-US"/>
          </a:p>
        </p:txBody>
      </p:sp>
      <p:pic>
        <p:nvPicPr>
          <p:cNvPr id="2" name="Picture 1">
            <a:extLst>
              <a:ext uri="{FF2B5EF4-FFF2-40B4-BE49-F238E27FC236}">
                <a16:creationId xmlns:a16="http://schemas.microsoft.com/office/drawing/2014/main" id="{66E483A8-2A4E-A5D7-77D8-79514FEC3BBA}"/>
              </a:ext>
            </a:extLst>
          </p:cNvPr>
          <p:cNvPicPr>
            <a:picLocks noChangeAspect="1"/>
          </p:cNvPicPr>
          <p:nvPr/>
        </p:nvPicPr>
        <p:blipFill>
          <a:blip r:embed="rId3"/>
          <a:stretch>
            <a:fillRect/>
          </a:stretch>
        </p:blipFill>
        <p:spPr>
          <a:xfrm>
            <a:off x="157315" y="344246"/>
            <a:ext cx="6630759" cy="2345168"/>
          </a:xfrm>
          <a:prstGeom prst="rect">
            <a:avLst/>
          </a:prstGeom>
        </p:spPr>
      </p:pic>
      <p:sp>
        <p:nvSpPr>
          <p:cNvPr id="6" name="TextBox 5">
            <a:extLst>
              <a:ext uri="{FF2B5EF4-FFF2-40B4-BE49-F238E27FC236}">
                <a16:creationId xmlns:a16="http://schemas.microsoft.com/office/drawing/2014/main" id="{847492DC-78AC-8DEE-C6A9-8C96839C0047}"/>
              </a:ext>
            </a:extLst>
          </p:cNvPr>
          <p:cNvSpPr txBox="1"/>
          <p:nvPr/>
        </p:nvSpPr>
        <p:spPr>
          <a:xfrm>
            <a:off x="1297306" y="543631"/>
            <a:ext cx="4554854" cy="590931"/>
          </a:xfrm>
          <a:prstGeom prst="rect">
            <a:avLst/>
          </a:prstGeom>
          <a:noFill/>
        </p:spPr>
        <p:txBody>
          <a:bodyPr wrap="square">
            <a:spAutoFit/>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600" b="1" i="0" u="none" strike="noStrike" kern="1200" cap="none" spc="0" normalizeH="0" baseline="0" noProof="0" dirty="0">
                <a:ln>
                  <a:noFill/>
                </a:ln>
                <a:solidFill>
                  <a:prstClr val="black"/>
                </a:solidFill>
                <a:effectLst/>
                <a:uLnTx/>
                <a:uFillTx/>
                <a:latin typeface="Calibri"/>
                <a:ea typeface="+mn-ea"/>
                <a:cs typeface="+mn-cs"/>
              </a:rPr>
              <a:t>What is metabolism?</a:t>
            </a:r>
          </a:p>
        </p:txBody>
      </p:sp>
    </p:spTree>
    <p:extLst>
      <p:ext uri="{BB962C8B-B14F-4D97-AF65-F5344CB8AC3E}">
        <p14:creationId xmlns:p14="http://schemas.microsoft.com/office/powerpoint/2010/main" val="12775888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93B73-313A-FC92-D338-09288F5F980C}"/>
              </a:ext>
            </a:extLst>
          </p:cNvPr>
          <p:cNvSpPr>
            <a:spLocks noGrp="1"/>
          </p:cNvSpPr>
          <p:nvPr>
            <p:ph type="title"/>
          </p:nvPr>
        </p:nvSpPr>
        <p:spPr>
          <a:xfrm>
            <a:off x="127820" y="18256"/>
            <a:ext cx="11936362" cy="896144"/>
          </a:xfrm>
        </p:spPr>
        <p:txBody>
          <a:bodyPr/>
          <a:lstStyle/>
          <a:p>
            <a:r>
              <a:rPr lang="en-US" b="1" dirty="0"/>
              <a:t>Introduction </a:t>
            </a:r>
            <a:r>
              <a:rPr lang="en-US" b="1" dirty="0" err="1"/>
              <a:t>Con’t</a:t>
            </a:r>
            <a:endParaRPr lang="en-UG" dirty="0"/>
          </a:p>
        </p:txBody>
      </p:sp>
      <p:sp>
        <p:nvSpPr>
          <p:cNvPr id="3" name="Content Placeholder 2">
            <a:extLst>
              <a:ext uri="{FF2B5EF4-FFF2-40B4-BE49-F238E27FC236}">
                <a16:creationId xmlns:a16="http://schemas.microsoft.com/office/drawing/2014/main" id="{7F170EAF-2A71-91D8-BE7E-9B59CA30D6B8}"/>
              </a:ext>
            </a:extLst>
          </p:cNvPr>
          <p:cNvSpPr>
            <a:spLocks noGrp="1"/>
          </p:cNvSpPr>
          <p:nvPr>
            <p:ph idx="1"/>
          </p:nvPr>
        </p:nvSpPr>
        <p:spPr>
          <a:xfrm>
            <a:off x="127819" y="1199535"/>
            <a:ext cx="11225981" cy="5521940"/>
          </a:xfrm>
        </p:spPr>
        <p:txBody>
          <a:bodyPr>
            <a:normAutofit fontScale="92500" lnSpcReduction="20000"/>
          </a:bodyPr>
          <a:lstStyle/>
          <a:p>
            <a:pPr marL="0" indent="0">
              <a:buNone/>
            </a:pPr>
            <a:r>
              <a:rPr lang="en-US" sz="3600" b="1" dirty="0"/>
              <a:t>Sources of Fatty Acids for Cellular Fuel</a:t>
            </a:r>
          </a:p>
          <a:p>
            <a:r>
              <a:rPr lang="en-US" sz="3600" dirty="0"/>
              <a:t>Cells can obtain fatty acids from </a:t>
            </a:r>
            <a:r>
              <a:rPr lang="en-US" sz="3600" b="1" dirty="0"/>
              <a:t>three main sources</a:t>
            </a:r>
            <a:r>
              <a:rPr lang="en-US" sz="3600" dirty="0"/>
              <a:t>:</a:t>
            </a:r>
          </a:p>
          <a:p>
            <a:r>
              <a:rPr lang="en-US" sz="3600" dirty="0"/>
              <a:t>Dietary Fats</a:t>
            </a:r>
          </a:p>
          <a:p>
            <a:r>
              <a:rPr lang="en-US" sz="3600" dirty="0"/>
              <a:t>Stored Fats</a:t>
            </a:r>
          </a:p>
          <a:p>
            <a:r>
              <a:rPr lang="en-US" sz="3600" dirty="0"/>
              <a:t>Synthesized Fats</a:t>
            </a:r>
          </a:p>
          <a:p>
            <a:endParaRPr lang="en-US" sz="3600" b="1" dirty="0"/>
          </a:p>
          <a:p>
            <a:pPr marL="0" indent="0">
              <a:buNone/>
            </a:pPr>
            <a:r>
              <a:rPr lang="en-US" sz="3600" b="1" dirty="0"/>
              <a:t>Species Variation</a:t>
            </a:r>
          </a:p>
          <a:p>
            <a:r>
              <a:rPr lang="en-US" sz="3600" dirty="0"/>
              <a:t>Some species utilize </a:t>
            </a:r>
            <a:r>
              <a:rPr lang="en-US" sz="3600" b="1" dirty="0"/>
              <a:t>all three sources</a:t>
            </a:r>
            <a:r>
              <a:rPr lang="en-US" sz="3600" dirty="0"/>
              <a:t> depending on their metabolic needs</a:t>
            </a:r>
          </a:p>
          <a:p>
            <a:r>
              <a:rPr lang="en-US" sz="3600" dirty="0"/>
              <a:t>Others may rely on </a:t>
            </a:r>
            <a:r>
              <a:rPr lang="en-US" sz="3600" b="1" dirty="0"/>
              <a:t>one or two sources</a:t>
            </a:r>
            <a:r>
              <a:rPr lang="en-US" sz="3600" dirty="0"/>
              <a:t> based on diet, physiology, or environment</a:t>
            </a:r>
          </a:p>
          <a:p>
            <a:endParaRPr lang="en-UG" dirty="0"/>
          </a:p>
        </p:txBody>
      </p:sp>
      <p:sp>
        <p:nvSpPr>
          <p:cNvPr id="4" name="Slide Number Placeholder 3">
            <a:extLst>
              <a:ext uri="{FF2B5EF4-FFF2-40B4-BE49-F238E27FC236}">
                <a16:creationId xmlns:a16="http://schemas.microsoft.com/office/drawing/2014/main" id="{7C040331-FB23-F4E8-A870-B4664CB2D928}"/>
              </a:ext>
            </a:extLst>
          </p:cNvPr>
          <p:cNvSpPr>
            <a:spLocks noGrp="1"/>
          </p:cNvSpPr>
          <p:nvPr>
            <p:ph type="sldNum" sz="quarter" idx="12"/>
          </p:nvPr>
        </p:nvSpPr>
        <p:spPr/>
        <p:txBody>
          <a:bodyPr/>
          <a:lstStyle/>
          <a:p>
            <a:fld id="{E5AE5CE0-1CF5-4570-809D-2EE63D725C19}" type="slidenum">
              <a:rPr lang="en-US" smtClean="0"/>
              <a:t>5</a:t>
            </a:fld>
            <a:endParaRPr lang="en-US"/>
          </a:p>
        </p:txBody>
      </p:sp>
    </p:spTree>
    <p:extLst>
      <p:ext uri="{BB962C8B-B14F-4D97-AF65-F5344CB8AC3E}">
        <p14:creationId xmlns:p14="http://schemas.microsoft.com/office/powerpoint/2010/main" val="27570482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222BA167-2A66-F2BE-4A48-CA6EE25D9B05}"/>
              </a:ext>
            </a:extLst>
          </p:cNvPr>
          <p:cNvPicPr>
            <a:picLocks noGrp="1" noChangeAspect="1"/>
          </p:cNvPicPr>
          <p:nvPr>
            <p:ph idx="1"/>
          </p:nvPr>
        </p:nvPicPr>
        <p:blipFill>
          <a:blip r:embed="rId2"/>
          <a:stretch>
            <a:fillRect/>
          </a:stretch>
        </p:blipFill>
        <p:spPr>
          <a:xfrm>
            <a:off x="245806" y="1"/>
            <a:ext cx="11700388" cy="4581832"/>
          </a:xfrm>
        </p:spPr>
      </p:pic>
      <p:sp>
        <p:nvSpPr>
          <p:cNvPr id="4" name="Slide Number Placeholder 3">
            <a:extLst>
              <a:ext uri="{FF2B5EF4-FFF2-40B4-BE49-F238E27FC236}">
                <a16:creationId xmlns:a16="http://schemas.microsoft.com/office/drawing/2014/main" id="{5ECE4E88-7D0D-1884-7A1A-C0E8553AB9E8}"/>
              </a:ext>
            </a:extLst>
          </p:cNvPr>
          <p:cNvSpPr>
            <a:spLocks noGrp="1"/>
          </p:cNvSpPr>
          <p:nvPr>
            <p:ph type="sldNum" sz="quarter" idx="12"/>
          </p:nvPr>
        </p:nvSpPr>
        <p:spPr/>
        <p:txBody>
          <a:bodyPr/>
          <a:lstStyle/>
          <a:p>
            <a:fld id="{E5AE5CE0-1CF5-4570-809D-2EE63D725C19}" type="slidenum">
              <a:rPr lang="en-US" smtClean="0"/>
              <a:t>6</a:t>
            </a:fld>
            <a:endParaRPr lang="en-US"/>
          </a:p>
        </p:txBody>
      </p:sp>
      <p:sp>
        <p:nvSpPr>
          <p:cNvPr id="8" name="TextBox 7">
            <a:extLst>
              <a:ext uri="{FF2B5EF4-FFF2-40B4-BE49-F238E27FC236}">
                <a16:creationId xmlns:a16="http://schemas.microsoft.com/office/drawing/2014/main" id="{D7482111-C0E6-AFBE-3CCD-413AFCB9959A}"/>
              </a:ext>
            </a:extLst>
          </p:cNvPr>
          <p:cNvSpPr txBox="1"/>
          <p:nvPr/>
        </p:nvSpPr>
        <p:spPr>
          <a:xfrm>
            <a:off x="245806" y="4642008"/>
            <a:ext cx="11700388" cy="2215991"/>
          </a:xfrm>
          <a:prstGeom prst="rect">
            <a:avLst/>
          </a:prstGeom>
          <a:noFill/>
        </p:spPr>
        <p:txBody>
          <a:bodyPr wrap="square">
            <a:spAutoFit/>
          </a:bodyPr>
          <a:lstStyle/>
          <a:p>
            <a:pPr algn="l"/>
            <a:r>
              <a:rPr lang="en-US" b="0" i="0" dirty="0">
                <a:solidFill>
                  <a:srgbClr val="1F1F1F"/>
                </a:solidFill>
                <a:effectLst/>
                <a:latin typeface="ElsevierGulliver"/>
              </a:rPr>
              <a:t>Examples of animals who regularly undergo periods of substantial fat accumulation in preparation for food-scarce conditions</a:t>
            </a:r>
          </a:p>
          <a:p>
            <a:pPr algn="l">
              <a:spcAft>
                <a:spcPts val="1200"/>
              </a:spcAft>
            </a:pPr>
            <a:r>
              <a:rPr lang="en-US" b="0" i="0" dirty="0">
                <a:solidFill>
                  <a:srgbClr val="1F1F1F"/>
                </a:solidFill>
                <a:effectLst/>
                <a:latin typeface="ElsevierGulliver"/>
              </a:rPr>
              <a:t>Top left to right: Hibernators: grizzly bear, bats, fat-tailed dwarf lemur, arctic ground squirrel.</a:t>
            </a:r>
          </a:p>
          <a:p>
            <a:pPr algn="l">
              <a:spcAft>
                <a:spcPts val="1200"/>
              </a:spcAft>
            </a:pPr>
            <a:r>
              <a:rPr lang="en-US" b="0" i="0" dirty="0">
                <a:solidFill>
                  <a:srgbClr val="1F1F1F"/>
                </a:solidFill>
                <a:effectLst/>
                <a:latin typeface="ElsevierGulliver"/>
              </a:rPr>
              <a:t> Middle left to right: Diapause :mosquito. Migrators: salmon, bar-tailed godwit, monarch butterfly. </a:t>
            </a:r>
          </a:p>
          <a:p>
            <a:pPr algn="l">
              <a:spcAft>
                <a:spcPts val="1200"/>
              </a:spcAft>
            </a:pPr>
            <a:r>
              <a:rPr lang="en-US" b="0" i="0" dirty="0">
                <a:solidFill>
                  <a:srgbClr val="1F1F1F"/>
                </a:solidFill>
                <a:effectLst/>
                <a:latin typeface="ElsevierGulliver"/>
              </a:rPr>
              <a:t>Bottom left to right: Cave dwellers: cavefish and the </a:t>
            </a:r>
            <a:r>
              <a:rPr lang="en-US" b="0" i="0" dirty="0">
                <a:solidFill>
                  <a:srgbClr val="1F1F1F"/>
                </a:solidFill>
                <a:effectLst/>
                <a:latin typeface="ElsevierGulliver"/>
                <a:hlinkClick r:id="rId3" tooltip="Learn more about olm from ScienceDirect's AI-generated Topic Pages"/>
              </a:rPr>
              <a:t>olm</a:t>
            </a:r>
            <a:r>
              <a:rPr lang="en-US" b="0" i="0" dirty="0">
                <a:solidFill>
                  <a:srgbClr val="1F1F1F"/>
                </a:solidFill>
                <a:effectLst/>
                <a:latin typeface="ElsevierGulliver"/>
              </a:rPr>
              <a:t>. </a:t>
            </a:r>
            <a:r>
              <a:rPr lang="en-US" b="0" i="0" dirty="0" err="1">
                <a:solidFill>
                  <a:srgbClr val="1F1F1F"/>
                </a:solidFill>
                <a:effectLst/>
                <a:latin typeface="ElsevierGulliver"/>
              </a:rPr>
              <a:t>Estivators</a:t>
            </a:r>
            <a:r>
              <a:rPr lang="en-US" b="0" i="0" dirty="0">
                <a:solidFill>
                  <a:srgbClr val="1F1F1F"/>
                </a:solidFill>
                <a:effectLst/>
                <a:latin typeface="ElsevierGulliver"/>
              </a:rPr>
              <a:t>: lungfish and snails. </a:t>
            </a:r>
          </a:p>
          <a:p>
            <a:pPr algn="l">
              <a:spcAft>
                <a:spcPts val="1200"/>
              </a:spcAft>
            </a:pPr>
            <a:r>
              <a:rPr lang="en-US" b="0" i="0" dirty="0">
                <a:solidFill>
                  <a:srgbClr val="1F1F1F"/>
                </a:solidFill>
                <a:effectLst/>
                <a:latin typeface="ElsevierGulliver"/>
              </a:rPr>
              <a:t>The Fat-tailed Dwarf Lemur was photographed by Frank </a:t>
            </a:r>
            <a:r>
              <a:rPr lang="en-US" b="0" i="0" dirty="0" err="1">
                <a:solidFill>
                  <a:srgbClr val="1F1F1F"/>
                </a:solidFill>
                <a:effectLst/>
                <a:latin typeface="ElsevierGulliver"/>
              </a:rPr>
              <a:t>Vassen</a:t>
            </a:r>
            <a:r>
              <a:rPr lang="en-US" b="0" i="0" dirty="0">
                <a:solidFill>
                  <a:srgbClr val="1F1F1F"/>
                </a:solidFill>
                <a:effectLst/>
                <a:latin typeface="ElsevierGulliver"/>
              </a:rPr>
              <a:t>, distributed under a CC-BY 2.0 license.</a:t>
            </a:r>
          </a:p>
        </p:txBody>
      </p:sp>
    </p:spTree>
    <p:extLst>
      <p:ext uri="{BB962C8B-B14F-4D97-AF65-F5344CB8AC3E}">
        <p14:creationId xmlns:p14="http://schemas.microsoft.com/office/powerpoint/2010/main" val="8597877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8CB8AC-AE64-28B9-6D93-2088FBD2184F}"/>
              </a:ext>
            </a:extLst>
          </p:cNvPr>
          <p:cNvSpPr>
            <a:spLocks noGrp="1"/>
          </p:cNvSpPr>
          <p:nvPr>
            <p:ph type="title"/>
          </p:nvPr>
        </p:nvSpPr>
        <p:spPr/>
        <p:txBody>
          <a:bodyPr/>
          <a:lstStyle/>
          <a:p>
            <a:br>
              <a:rPr lang="en-US" b="1" i="0" dirty="0">
                <a:solidFill>
                  <a:srgbClr val="1F1F1F"/>
                </a:solidFill>
                <a:effectLst/>
                <a:latin typeface="ElsevierGulliver"/>
              </a:rPr>
            </a:br>
            <a:endParaRPr lang="en-UG" dirty="0"/>
          </a:p>
        </p:txBody>
      </p:sp>
      <p:sp>
        <p:nvSpPr>
          <p:cNvPr id="3" name="Content Placeholder 2">
            <a:extLst>
              <a:ext uri="{FF2B5EF4-FFF2-40B4-BE49-F238E27FC236}">
                <a16:creationId xmlns:a16="http://schemas.microsoft.com/office/drawing/2014/main" id="{378E23B1-554A-C672-F496-BCD20676B24E}"/>
              </a:ext>
            </a:extLst>
          </p:cNvPr>
          <p:cNvSpPr>
            <a:spLocks noGrp="1"/>
          </p:cNvSpPr>
          <p:nvPr>
            <p:ph idx="1"/>
          </p:nvPr>
        </p:nvSpPr>
        <p:spPr>
          <a:xfrm>
            <a:off x="245806" y="623944"/>
            <a:ext cx="11107994" cy="4335331"/>
          </a:xfrm>
        </p:spPr>
        <p:txBody>
          <a:bodyPr/>
          <a:lstStyle/>
          <a:p>
            <a:pPr algn="l">
              <a:spcAft>
                <a:spcPts val="1200"/>
              </a:spcAft>
            </a:pPr>
            <a:r>
              <a:rPr lang="en-US" b="0" i="0" dirty="0">
                <a:solidFill>
                  <a:srgbClr val="1F1F1F"/>
                </a:solidFill>
                <a:effectLst/>
                <a:latin typeface="ElsevierGulliver"/>
              </a:rPr>
              <a:t>Eukaryotic organisms </a:t>
            </a:r>
            <a:r>
              <a:rPr lang="en-US" b="1" i="0" dirty="0">
                <a:solidFill>
                  <a:srgbClr val="1F1F1F"/>
                </a:solidFill>
                <a:effectLst/>
                <a:latin typeface="ElsevierGulliver"/>
              </a:rPr>
              <a:t>store</a:t>
            </a:r>
            <a:r>
              <a:rPr lang="en-US" b="0" i="0" dirty="0">
                <a:solidFill>
                  <a:srgbClr val="1F1F1F"/>
                </a:solidFill>
                <a:effectLst/>
                <a:latin typeface="ElsevierGulliver"/>
              </a:rPr>
              <a:t> most metabolic energy in the form of lipids—a long-term energy reserve, with carbohydrates and proteins considered to be short-term energy reserves. </a:t>
            </a:r>
          </a:p>
          <a:p>
            <a:pPr algn="l">
              <a:spcAft>
                <a:spcPts val="1200"/>
              </a:spcAft>
            </a:pPr>
            <a:r>
              <a:rPr lang="en-US" b="0" i="0" dirty="0">
                <a:solidFill>
                  <a:srgbClr val="1F1F1F"/>
                </a:solidFill>
                <a:effectLst/>
                <a:latin typeface="ElsevierGulliver"/>
              </a:rPr>
              <a:t>Lipids are energy-dense molecules, with the greatest energy yield per unit of weight, contributing considerably to energy </a:t>
            </a:r>
            <a:r>
              <a:rPr lang="en-US" b="0" i="0" dirty="0">
                <a:solidFill>
                  <a:srgbClr val="1F1F1F"/>
                </a:solidFill>
                <a:effectLst/>
                <a:latin typeface="ElsevierGulliver"/>
                <a:hlinkClick r:id="rId2" tooltip="Learn more about homeostasis from ScienceDirect's AI-generated Topic Pages"/>
              </a:rPr>
              <a:t>homeostasis</a:t>
            </a:r>
            <a:r>
              <a:rPr lang="en-US" b="0" i="0" dirty="0">
                <a:solidFill>
                  <a:srgbClr val="1F1F1F"/>
                </a:solidFill>
                <a:effectLst/>
                <a:latin typeface="ElsevierGulliver"/>
              </a:rPr>
              <a:t>, </a:t>
            </a:r>
            <a:r>
              <a:rPr lang="en-US" b="0" i="0" dirty="0">
                <a:solidFill>
                  <a:srgbClr val="1F1F1F"/>
                </a:solidFill>
                <a:effectLst/>
                <a:latin typeface="ElsevierGulliver"/>
                <a:hlinkClick r:id="rId3" tooltip="Learn more about thermoregulation from ScienceDirect's AI-generated Topic Pages"/>
              </a:rPr>
              <a:t>thermoregulation</a:t>
            </a:r>
            <a:r>
              <a:rPr lang="en-US" b="0" i="0" dirty="0">
                <a:solidFill>
                  <a:srgbClr val="1F1F1F"/>
                </a:solidFill>
                <a:effectLst/>
                <a:latin typeface="ElsevierGulliver"/>
              </a:rPr>
              <a:t>, and </a:t>
            </a:r>
            <a:r>
              <a:rPr lang="en-US" b="0" i="0" dirty="0">
                <a:solidFill>
                  <a:srgbClr val="1F1F1F"/>
                </a:solidFill>
                <a:effectLst/>
                <a:latin typeface="ElsevierGulliver"/>
                <a:hlinkClick r:id="rId4" tooltip="Learn more about membrane fluidity from ScienceDirect's AI-generated Topic Pages"/>
              </a:rPr>
              <a:t>membrane fluidity</a:t>
            </a:r>
            <a:r>
              <a:rPr lang="en-US" b="0" i="0" dirty="0">
                <a:solidFill>
                  <a:srgbClr val="1F1F1F"/>
                </a:solidFill>
                <a:effectLst/>
                <a:latin typeface="ElsevierGulliver"/>
              </a:rPr>
              <a:t>.</a:t>
            </a:r>
          </a:p>
          <a:p>
            <a:endParaRPr lang="en-UG" dirty="0"/>
          </a:p>
        </p:txBody>
      </p:sp>
      <p:sp>
        <p:nvSpPr>
          <p:cNvPr id="4" name="Slide Number Placeholder 3">
            <a:extLst>
              <a:ext uri="{FF2B5EF4-FFF2-40B4-BE49-F238E27FC236}">
                <a16:creationId xmlns:a16="http://schemas.microsoft.com/office/drawing/2014/main" id="{EE811A83-FA66-EC1D-255A-CE99856BCB8E}"/>
              </a:ext>
            </a:extLst>
          </p:cNvPr>
          <p:cNvSpPr>
            <a:spLocks noGrp="1"/>
          </p:cNvSpPr>
          <p:nvPr>
            <p:ph type="sldNum" sz="quarter" idx="12"/>
          </p:nvPr>
        </p:nvSpPr>
        <p:spPr/>
        <p:txBody>
          <a:bodyPr/>
          <a:lstStyle/>
          <a:p>
            <a:fld id="{E5AE5CE0-1CF5-4570-809D-2EE63D725C19}" type="slidenum">
              <a:rPr lang="en-US" smtClean="0"/>
              <a:t>7</a:t>
            </a:fld>
            <a:endParaRPr lang="en-US"/>
          </a:p>
        </p:txBody>
      </p:sp>
    </p:spTree>
    <p:extLst>
      <p:ext uri="{BB962C8B-B14F-4D97-AF65-F5344CB8AC3E}">
        <p14:creationId xmlns:p14="http://schemas.microsoft.com/office/powerpoint/2010/main" val="14145515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6072E0-7DDD-96FA-75E0-3A420ACAFC0B}"/>
              </a:ext>
            </a:extLst>
          </p:cNvPr>
          <p:cNvSpPr>
            <a:spLocks noGrp="1"/>
          </p:cNvSpPr>
          <p:nvPr>
            <p:ph idx="1"/>
          </p:nvPr>
        </p:nvSpPr>
        <p:spPr>
          <a:xfrm>
            <a:off x="157316" y="304800"/>
            <a:ext cx="11196484" cy="5872163"/>
          </a:xfrm>
        </p:spPr>
        <p:txBody>
          <a:bodyPr/>
          <a:lstStyle/>
          <a:p>
            <a:r>
              <a:rPr lang="en-US" b="0" i="0" dirty="0">
                <a:solidFill>
                  <a:srgbClr val="1F1F1F"/>
                </a:solidFill>
                <a:effectLst/>
                <a:latin typeface="ElsevierGulliver"/>
              </a:rPr>
              <a:t>Fat-storage locations vary both within and between species, </a:t>
            </a:r>
          </a:p>
          <a:p>
            <a:r>
              <a:rPr lang="en-US" b="0" i="0" dirty="0">
                <a:solidFill>
                  <a:srgbClr val="1F1F1F"/>
                </a:solidFill>
                <a:effectLst/>
                <a:latin typeface="ElsevierGulliver"/>
              </a:rPr>
              <a:t>with most mammals storing fat intra-abdominally (visceral fat) or in the </a:t>
            </a:r>
            <a:r>
              <a:rPr lang="en-US" b="0" i="0" dirty="0">
                <a:solidFill>
                  <a:srgbClr val="1F1F1F"/>
                </a:solidFill>
                <a:effectLst/>
                <a:latin typeface="ElsevierGulliver"/>
                <a:hlinkClick r:id="rId2" tooltip="Learn more about adipose tissue from ScienceDirect's AI-generated Topic Pages"/>
              </a:rPr>
              <a:t>adipose tissue</a:t>
            </a:r>
            <a:r>
              <a:rPr lang="en-US" b="0" i="0" dirty="0">
                <a:solidFill>
                  <a:srgbClr val="1F1F1F"/>
                </a:solidFill>
                <a:effectLst/>
                <a:latin typeface="ElsevierGulliver"/>
              </a:rPr>
              <a:t> on the periphery (subcutaneous fat). </a:t>
            </a:r>
          </a:p>
          <a:p>
            <a:r>
              <a:rPr lang="en-US" b="0" i="0" dirty="0">
                <a:solidFill>
                  <a:srgbClr val="1F1F1F"/>
                </a:solidFill>
                <a:effectLst/>
                <a:latin typeface="ElsevierGulliver"/>
              </a:rPr>
              <a:t>However, many other species use different locations for </a:t>
            </a:r>
            <a:r>
              <a:rPr lang="en-US" b="0" i="0" dirty="0">
                <a:solidFill>
                  <a:srgbClr val="1F1F1F"/>
                </a:solidFill>
                <a:effectLst/>
                <a:latin typeface="ElsevierGulliver"/>
                <a:hlinkClick r:id="rId3" tooltip="Learn more about lipid storage from ScienceDirect's AI-generated Topic Pages"/>
              </a:rPr>
              <a:t>lipid storage</a:t>
            </a:r>
            <a:r>
              <a:rPr lang="en-US" b="0" i="0" dirty="0">
                <a:solidFill>
                  <a:srgbClr val="1F1F1F"/>
                </a:solidFill>
                <a:effectLst/>
                <a:latin typeface="ElsevierGulliver"/>
              </a:rPr>
              <a:t>, such as within </a:t>
            </a:r>
            <a:r>
              <a:rPr lang="en-US" b="0" i="0" dirty="0">
                <a:solidFill>
                  <a:srgbClr val="1F1F1F"/>
                </a:solidFill>
                <a:effectLst/>
                <a:latin typeface="ElsevierGulliver"/>
                <a:hlinkClick r:id="rId4" tooltip="Learn more about feet from ScienceDirect's AI-generated Topic Pages"/>
              </a:rPr>
              <a:t>feet</a:t>
            </a:r>
            <a:r>
              <a:rPr lang="en-US" b="0" i="0" dirty="0">
                <a:solidFill>
                  <a:srgbClr val="1F1F1F"/>
                </a:solidFill>
                <a:effectLst/>
                <a:latin typeface="ElsevierGulliver"/>
              </a:rPr>
              <a:t> (amphibians), </a:t>
            </a:r>
            <a:r>
              <a:rPr lang="en-US" b="0" i="0" dirty="0">
                <a:solidFill>
                  <a:srgbClr val="1F1F1F"/>
                </a:solidFill>
                <a:effectLst/>
                <a:latin typeface="ElsevierGulliver"/>
                <a:hlinkClick r:id="rId5" tooltip="Learn more about tails from ScienceDirect's AI-generated Topic Pages"/>
              </a:rPr>
              <a:t>tails</a:t>
            </a:r>
            <a:r>
              <a:rPr lang="en-US" b="0" i="0" dirty="0">
                <a:solidFill>
                  <a:srgbClr val="1F1F1F"/>
                </a:solidFill>
                <a:effectLst/>
                <a:latin typeface="ElsevierGulliver"/>
              </a:rPr>
              <a:t> (reptiles), head (whales), and fat body (insects) </a:t>
            </a:r>
          </a:p>
          <a:p>
            <a:r>
              <a:rPr lang="en-US" b="0" i="0" dirty="0">
                <a:solidFill>
                  <a:srgbClr val="1F1F1F"/>
                </a:solidFill>
                <a:effectLst/>
                <a:latin typeface="ElsevierGulliver"/>
              </a:rPr>
              <a:t>While adipose tissue comprises the majority of stored </a:t>
            </a:r>
            <a:r>
              <a:rPr lang="en-US" b="0" i="0" dirty="0">
                <a:solidFill>
                  <a:srgbClr val="1F1F1F"/>
                </a:solidFill>
                <a:effectLst/>
                <a:latin typeface="ElsevierGulliver"/>
                <a:hlinkClick r:id="rId6" tooltip="Learn more about lipids from ScienceDirect's AI-generated Topic Pages"/>
              </a:rPr>
              <a:t>lipids</a:t>
            </a:r>
            <a:r>
              <a:rPr lang="en-US" b="0" i="0" dirty="0">
                <a:solidFill>
                  <a:srgbClr val="1F1F1F"/>
                </a:solidFill>
                <a:effectLst/>
                <a:latin typeface="ElsevierGulliver"/>
              </a:rPr>
              <a:t>, other organs throughout the body, such as the liver, </a:t>
            </a:r>
            <a:r>
              <a:rPr lang="en-US" b="0" i="0" dirty="0">
                <a:solidFill>
                  <a:srgbClr val="1F1F1F"/>
                </a:solidFill>
                <a:effectLst/>
                <a:latin typeface="ElsevierGulliver"/>
                <a:hlinkClick r:id="rId7" tooltip="Learn more about skeletal muscle from ScienceDirect's AI-generated Topic Pages"/>
              </a:rPr>
              <a:t>skeletal muscle</a:t>
            </a:r>
            <a:r>
              <a:rPr lang="en-US" b="0" i="0" dirty="0">
                <a:solidFill>
                  <a:srgbClr val="1F1F1F"/>
                </a:solidFill>
                <a:effectLst/>
                <a:latin typeface="ElsevierGulliver"/>
              </a:rPr>
              <a:t>, and pancreas, can sequester and store lipids at a more reduced capacity, providing immediate use in times of need</a:t>
            </a:r>
            <a:endParaRPr lang="en-UG" dirty="0"/>
          </a:p>
        </p:txBody>
      </p:sp>
      <p:sp>
        <p:nvSpPr>
          <p:cNvPr id="4" name="Slide Number Placeholder 3">
            <a:extLst>
              <a:ext uri="{FF2B5EF4-FFF2-40B4-BE49-F238E27FC236}">
                <a16:creationId xmlns:a16="http://schemas.microsoft.com/office/drawing/2014/main" id="{A3C71081-9F8E-89F1-5E5C-4BF2A8536F05}"/>
              </a:ext>
            </a:extLst>
          </p:cNvPr>
          <p:cNvSpPr>
            <a:spLocks noGrp="1"/>
          </p:cNvSpPr>
          <p:nvPr>
            <p:ph type="sldNum" sz="quarter" idx="12"/>
          </p:nvPr>
        </p:nvSpPr>
        <p:spPr/>
        <p:txBody>
          <a:bodyPr/>
          <a:lstStyle/>
          <a:p>
            <a:fld id="{E5AE5CE0-1CF5-4570-809D-2EE63D725C19}" type="slidenum">
              <a:rPr lang="en-US" smtClean="0"/>
              <a:t>8</a:t>
            </a:fld>
            <a:endParaRPr lang="en-US"/>
          </a:p>
        </p:txBody>
      </p:sp>
    </p:spTree>
    <p:extLst>
      <p:ext uri="{BB962C8B-B14F-4D97-AF65-F5344CB8AC3E}">
        <p14:creationId xmlns:p14="http://schemas.microsoft.com/office/powerpoint/2010/main" val="10994728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3BF8A-72C3-B264-4764-C804388FF414}"/>
              </a:ext>
            </a:extLst>
          </p:cNvPr>
          <p:cNvSpPr>
            <a:spLocks noGrp="1"/>
          </p:cNvSpPr>
          <p:nvPr>
            <p:ph type="title"/>
          </p:nvPr>
        </p:nvSpPr>
        <p:spPr/>
        <p:txBody>
          <a:bodyPr/>
          <a:lstStyle/>
          <a:p>
            <a:r>
              <a:rPr kumimoji="0" lang="en-US" sz="4000" b="1" i="0" u="none" strike="noStrike" kern="1200" cap="none" spc="0" normalizeH="0" baseline="0" noProof="0" dirty="0">
                <a:ln>
                  <a:noFill/>
                </a:ln>
                <a:solidFill>
                  <a:prstClr val="black"/>
                </a:solidFill>
                <a:effectLst/>
                <a:uLnTx/>
                <a:uFillTx/>
                <a:latin typeface="Calibri Light"/>
                <a:ea typeface="+mj-ea"/>
                <a:cs typeface="+mj-cs"/>
              </a:rPr>
              <a:t>Lipid Digestion</a:t>
            </a:r>
            <a:endParaRPr lang="en-UG" dirty="0"/>
          </a:p>
        </p:txBody>
      </p:sp>
      <p:sp>
        <p:nvSpPr>
          <p:cNvPr id="3" name="Content Placeholder 2">
            <a:extLst>
              <a:ext uri="{FF2B5EF4-FFF2-40B4-BE49-F238E27FC236}">
                <a16:creationId xmlns:a16="http://schemas.microsoft.com/office/drawing/2014/main" id="{795D2D86-A034-CB99-FECB-CA917B2A16CF}"/>
              </a:ext>
            </a:extLst>
          </p:cNvPr>
          <p:cNvSpPr>
            <a:spLocks noGrp="1"/>
          </p:cNvSpPr>
          <p:nvPr>
            <p:ph idx="1"/>
          </p:nvPr>
        </p:nvSpPr>
        <p:spPr>
          <a:xfrm>
            <a:off x="838200" y="1825625"/>
            <a:ext cx="10515600" cy="4895850"/>
          </a:xfrm>
        </p:spPr>
        <p:txBody>
          <a:bodyPr>
            <a:normAutofit/>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Lipid digestion and absorption pose some special challenges. </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Triglycerides are large molecules, and unlike carbohydrates and proteins, they’re not water-soluble. </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Hence, they like to cluster together in large droplets when they’re in a watery environment like the digestive tract.</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The digestive process has to break those large droplets of fat into smaller droplets and then enzymatically digest lipid molecules using enzymes called </a:t>
            </a:r>
            <a:r>
              <a:rPr kumimoji="0" lang="en-US" sz="2800" b="1" i="1" u="none" strike="noStrike" kern="1200" cap="none" spc="0" normalizeH="0" baseline="0" noProof="0" dirty="0">
                <a:ln>
                  <a:noFill/>
                </a:ln>
                <a:solidFill>
                  <a:prstClr val="black"/>
                </a:solidFill>
                <a:effectLst/>
                <a:uLnTx/>
                <a:uFillTx/>
                <a:latin typeface="Calibri"/>
                <a:ea typeface="+mn-ea"/>
                <a:cs typeface="+mn-cs"/>
              </a:rPr>
              <a:t>lipases</a:t>
            </a:r>
            <a:r>
              <a:rPr kumimoji="0" lang="en-US" sz="2800" b="0" i="0" u="none" strike="noStrike" kern="1200" cap="none" spc="0" normalizeH="0" baseline="0" noProof="0" dirty="0">
                <a:ln>
                  <a:noFill/>
                </a:ln>
                <a:solidFill>
                  <a:prstClr val="black"/>
                </a:solidFill>
                <a:effectLst/>
                <a:uLnTx/>
                <a:uFillTx/>
                <a:latin typeface="Calibri"/>
                <a:ea typeface="+mn-ea"/>
                <a:cs typeface="+mn-cs"/>
              </a:rPr>
              <a:t>.</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The mouth and stomach play a small role in this process, but most enzymatic digestion of lipids happens in the </a:t>
            </a:r>
            <a:r>
              <a:rPr kumimoji="0" lang="en-US" sz="2800" b="1" i="0" u="none" strike="noStrike" kern="1200" cap="none" spc="0" normalizeH="0" baseline="0" noProof="0" dirty="0">
                <a:ln>
                  <a:noFill/>
                </a:ln>
                <a:solidFill>
                  <a:prstClr val="black"/>
                </a:solidFill>
                <a:effectLst/>
                <a:uLnTx/>
                <a:uFillTx/>
                <a:latin typeface="Calibri"/>
                <a:ea typeface="+mn-ea"/>
                <a:cs typeface="+mn-cs"/>
              </a:rPr>
              <a:t>small intestine</a:t>
            </a:r>
            <a:r>
              <a:rPr kumimoji="0" lang="en-US" sz="2800" b="0" i="0" u="none" strike="noStrike" kern="1200" cap="none" spc="0" normalizeH="0" baseline="0" noProof="0" dirty="0">
                <a:ln>
                  <a:noFill/>
                </a:ln>
                <a:solidFill>
                  <a:prstClr val="black"/>
                </a:solidFill>
                <a:effectLst/>
                <a:uLnTx/>
                <a:uFillTx/>
                <a:latin typeface="Calibri"/>
                <a:ea typeface="+mn-ea"/>
                <a:cs typeface="+mn-cs"/>
              </a:rPr>
              <a:t>.</a:t>
            </a:r>
          </a:p>
          <a:p>
            <a:endParaRPr lang="en-UG" dirty="0"/>
          </a:p>
        </p:txBody>
      </p:sp>
      <p:sp>
        <p:nvSpPr>
          <p:cNvPr id="4" name="Slide Number Placeholder 3">
            <a:extLst>
              <a:ext uri="{FF2B5EF4-FFF2-40B4-BE49-F238E27FC236}">
                <a16:creationId xmlns:a16="http://schemas.microsoft.com/office/drawing/2014/main" id="{474385D8-1F92-DA8F-6BF8-C07A16ECC4B2}"/>
              </a:ext>
            </a:extLst>
          </p:cNvPr>
          <p:cNvSpPr>
            <a:spLocks noGrp="1"/>
          </p:cNvSpPr>
          <p:nvPr>
            <p:ph type="sldNum" sz="quarter" idx="12"/>
          </p:nvPr>
        </p:nvSpPr>
        <p:spPr/>
        <p:txBody>
          <a:bodyPr/>
          <a:lstStyle/>
          <a:p>
            <a:fld id="{E5AE5CE0-1CF5-4570-809D-2EE63D725C19}" type="slidenum">
              <a:rPr lang="en-US" smtClean="0"/>
              <a:t>9</a:t>
            </a:fld>
            <a:endParaRPr lang="en-US"/>
          </a:p>
        </p:txBody>
      </p:sp>
    </p:spTree>
    <p:extLst>
      <p:ext uri="{BB962C8B-B14F-4D97-AF65-F5344CB8AC3E}">
        <p14:creationId xmlns:p14="http://schemas.microsoft.com/office/powerpoint/2010/main" val="14687051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CF9D3E6-CC79-C8C4-D3E0-1390E0C835D1}"/>
              </a:ext>
            </a:extLst>
          </p:cNvPr>
          <p:cNvSpPr>
            <a:spLocks noGrp="1"/>
          </p:cNvSpPr>
          <p:nvPr>
            <p:ph type="sldNum" sz="quarter" idx="12"/>
          </p:nvPr>
        </p:nvSpPr>
        <p:spPr/>
        <p:txBody>
          <a:bodyPr/>
          <a:lstStyle/>
          <a:p>
            <a:fld id="{E5AE5CE0-1CF5-4570-809D-2EE63D725C19}" type="slidenum">
              <a:rPr lang="en-US" smtClean="0"/>
              <a:t>10</a:t>
            </a:fld>
            <a:endParaRPr lang="en-US"/>
          </a:p>
        </p:txBody>
      </p:sp>
      <p:pic>
        <p:nvPicPr>
          <p:cNvPr id="1026" name="Picture 2" descr="Digestion and Absorption of Lipids – Nutrition: Science and Everyday  Application, v. 1.0">
            <a:extLst>
              <a:ext uri="{FF2B5EF4-FFF2-40B4-BE49-F238E27FC236}">
                <a16:creationId xmlns:a16="http://schemas.microsoft.com/office/drawing/2014/main" id="{B343D6C6-6D44-B67D-8B53-B4F76AC32F2C}"/>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065468" y="451821"/>
            <a:ext cx="7713232" cy="51206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65235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42090-7346-D3BA-0876-8E7B34E8EA6B}"/>
              </a:ext>
            </a:extLst>
          </p:cNvPr>
          <p:cNvSpPr>
            <a:spLocks noGrp="1"/>
          </p:cNvSpPr>
          <p:nvPr>
            <p:ph type="title"/>
          </p:nvPr>
        </p:nvSpPr>
        <p:spPr/>
        <p:txBody>
          <a:bodyPr/>
          <a:lstStyle/>
          <a:p>
            <a:endParaRPr lang="en-UG"/>
          </a:p>
        </p:txBody>
      </p:sp>
      <p:sp>
        <p:nvSpPr>
          <p:cNvPr id="4" name="Slide Number Placeholder 3">
            <a:extLst>
              <a:ext uri="{FF2B5EF4-FFF2-40B4-BE49-F238E27FC236}">
                <a16:creationId xmlns:a16="http://schemas.microsoft.com/office/drawing/2014/main" id="{5307EF0B-FC32-4555-6638-DE7A22FFEF55}"/>
              </a:ext>
            </a:extLst>
          </p:cNvPr>
          <p:cNvSpPr>
            <a:spLocks noGrp="1"/>
          </p:cNvSpPr>
          <p:nvPr>
            <p:ph type="sldNum" sz="quarter" idx="12"/>
          </p:nvPr>
        </p:nvSpPr>
        <p:spPr/>
        <p:txBody>
          <a:bodyPr/>
          <a:lstStyle/>
          <a:p>
            <a:fld id="{E5AE5CE0-1CF5-4570-809D-2EE63D725C19}" type="slidenum">
              <a:rPr lang="en-US" smtClean="0"/>
              <a:t>11</a:t>
            </a:fld>
            <a:endParaRPr lang="en-US"/>
          </a:p>
        </p:txBody>
      </p:sp>
      <p:pic>
        <p:nvPicPr>
          <p:cNvPr id="5" name="Content Placeholder 4" descr="Digestion and Absorption of Lipids – Nutrition: Science and Everyday  Application, v. 1.0">
            <a:extLst>
              <a:ext uri="{FF2B5EF4-FFF2-40B4-BE49-F238E27FC236}">
                <a16:creationId xmlns:a16="http://schemas.microsoft.com/office/drawing/2014/main" id="{D29C20CC-55D6-A48C-0952-AA55D2DC6B2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66975" y="1825625"/>
            <a:ext cx="9972338"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02309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5AE5CE0-1CF5-4570-809D-2EE63D725C19}" type="slidenum">
              <a:rPr lang="en-US" smtClean="0"/>
              <a:t>12</a:t>
            </a:fld>
            <a:endParaRPr lang="en-US"/>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6538" y="0"/>
            <a:ext cx="11098924" cy="63797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a:extLst>
              <a:ext uri="{FF2B5EF4-FFF2-40B4-BE49-F238E27FC236}">
                <a16:creationId xmlns:a16="http://schemas.microsoft.com/office/drawing/2014/main" id="{3D7128A6-B313-D341-A4B5-6F4928EBE354}"/>
              </a:ext>
            </a:extLst>
          </p:cNvPr>
          <p:cNvSpPr txBox="1"/>
          <p:nvPr/>
        </p:nvSpPr>
        <p:spPr>
          <a:xfrm>
            <a:off x="2890684" y="6379779"/>
            <a:ext cx="6096000" cy="369332"/>
          </a:xfrm>
          <a:prstGeom prst="rect">
            <a:avLst/>
          </a:prstGeom>
          <a:noFill/>
        </p:spPr>
        <p:txBody>
          <a:bodyPr wrap="square">
            <a:spAutoFit/>
          </a:bodyPr>
          <a:lstStyle/>
          <a:p>
            <a:r>
              <a:rPr lang="en-US" sz="1800" b="1" i="0" u="none" strike="noStrike" baseline="0" dirty="0">
                <a:solidFill>
                  <a:srgbClr val="292526"/>
                </a:solidFill>
                <a:latin typeface="Arial" panose="020B0604020202020204" pitchFamily="34" charset="0"/>
              </a:rPr>
              <a:t>Processing of dietary lipids in vertebrates.</a:t>
            </a:r>
            <a:endParaRPr lang="en-UG" dirty="0"/>
          </a:p>
        </p:txBody>
      </p:sp>
    </p:spTree>
    <p:extLst>
      <p:ext uri="{BB962C8B-B14F-4D97-AF65-F5344CB8AC3E}">
        <p14:creationId xmlns:p14="http://schemas.microsoft.com/office/powerpoint/2010/main" val="36135236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62427-A5CE-BB49-8AEF-250EE545E36C}"/>
              </a:ext>
            </a:extLst>
          </p:cNvPr>
          <p:cNvSpPr>
            <a:spLocks noGrp="1"/>
          </p:cNvSpPr>
          <p:nvPr>
            <p:ph type="title"/>
          </p:nvPr>
        </p:nvSpPr>
        <p:spPr>
          <a:xfrm>
            <a:off x="186813" y="365125"/>
            <a:ext cx="12005187" cy="1325563"/>
          </a:xfrm>
        </p:spPr>
        <p:txBody>
          <a:bodyPr/>
          <a:lstStyle/>
          <a:p>
            <a:r>
              <a:rPr lang="en-US" sz="4400" b="1" i="0" u="none" strike="noStrike" baseline="0" dirty="0">
                <a:solidFill>
                  <a:srgbClr val="292526"/>
                </a:solidFill>
                <a:latin typeface="Arial" panose="020B0604020202020204" pitchFamily="34" charset="0"/>
              </a:rPr>
              <a:t>Processing of dietary lipids in vertebrates</a:t>
            </a:r>
            <a:endParaRPr lang="en-UG" dirty="0"/>
          </a:p>
        </p:txBody>
      </p:sp>
      <p:sp>
        <p:nvSpPr>
          <p:cNvPr id="3" name="Content Placeholder 2">
            <a:extLst>
              <a:ext uri="{FF2B5EF4-FFF2-40B4-BE49-F238E27FC236}">
                <a16:creationId xmlns:a16="http://schemas.microsoft.com/office/drawing/2014/main" id="{16596359-4D87-3773-2DD8-B4548BB006BD}"/>
              </a:ext>
            </a:extLst>
          </p:cNvPr>
          <p:cNvSpPr>
            <a:spLocks noGrp="1"/>
          </p:cNvSpPr>
          <p:nvPr>
            <p:ph idx="1"/>
          </p:nvPr>
        </p:nvSpPr>
        <p:spPr/>
        <p:txBody>
          <a:bodyPr>
            <a:normAutofit lnSpcReduction="10000"/>
          </a:bodyPr>
          <a:lstStyle/>
          <a:p>
            <a:r>
              <a:rPr lang="en-US" dirty="0"/>
              <a:t>In vertebrates, before ingested triacylglycerols can be absorbed through the intestinal wall </a:t>
            </a:r>
          </a:p>
          <a:p>
            <a:r>
              <a:rPr lang="en-US" dirty="0"/>
              <a:t>they must be converted from insoluble macroscopic fat particles to finely dispersed microscopic micelles.</a:t>
            </a:r>
          </a:p>
          <a:p>
            <a:r>
              <a:rPr lang="en-US" dirty="0"/>
              <a:t>This solubilization is carried out by bile salts, such as taurocholic acid</a:t>
            </a:r>
          </a:p>
          <a:p>
            <a:r>
              <a:rPr lang="en-US" dirty="0"/>
              <a:t>synthesized from cholesterol in the </a:t>
            </a:r>
            <a:r>
              <a:rPr lang="en-US" dirty="0" err="1"/>
              <a:t>liver,stored</a:t>
            </a:r>
            <a:r>
              <a:rPr lang="en-US" dirty="0"/>
              <a:t> in the gallbladder, and released into the small intestine after ingestion of a fatty meal. </a:t>
            </a:r>
          </a:p>
          <a:p>
            <a:r>
              <a:rPr lang="en-US" dirty="0"/>
              <a:t>Bile salts are amphipathic compounds that act as biological </a:t>
            </a:r>
            <a:r>
              <a:rPr lang="en-US" dirty="0" err="1"/>
              <a:t>detergents,converting</a:t>
            </a:r>
            <a:r>
              <a:rPr lang="en-US" dirty="0"/>
              <a:t> dietary fats into mixed micelles of bile salts and triacylglycerols </a:t>
            </a:r>
            <a:endParaRPr lang="en-UG" dirty="0"/>
          </a:p>
        </p:txBody>
      </p:sp>
      <p:sp>
        <p:nvSpPr>
          <p:cNvPr id="4" name="Slide Number Placeholder 3">
            <a:extLst>
              <a:ext uri="{FF2B5EF4-FFF2-40B4-BE49-F238E27FC236}">
                <a16:creationId xmlns:a16="http://schemas.microsoft.com/office/drawing/2014/main" id="{FF17358A-E654-8CDA-FDDD-1F680FDACBDE}"/>
              </a:ext>
            </a:extLst>
          </p:cNvPr>
          <p:cNvSpPr>
            <a:spLocks noGrp="1"/>
          </p:cNvSpPr>
          <p:nvPr>
            <p:ph type="sldNum" sz="quarter" idx="12"/>
          </p:nvPr>
        </p:nvSpPr>
        <p:spPr/>
        <p:txBody>
          <a:bodyPr/>
          <a:lstStyle/>
          <a:p>
            <a:fld id="{E5AE5CE0-1CF5-4570-809D-2EE63D725C19}" type="slidenum">
              <a:rPr lang="en-US" smtClean="0"/>
              <a:t>13</a:t>
            </a:fld>
            <a:endParaRPr lang="en-US"/>
          </a:p>
        </p:txBody>
      </p:sp>
    </p:spTree>
    <p:extLst>
      <p:ext uri="{BB962C8B-B14F-4D97-AF65-F5344CB8AC3E}">
        <p14:creationId xmlns:p14="http://schemas.microsoft.com/office/powerpoint/2010/main" val="11813831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3037F41-D2A3-FCA0-2CB9-E6330C6196A8}"/>
              </a:ext>
            </a:extLst>
          </p:cNvPr>
          <p:cNvSpPr>
            <a:spLocks noGrp="1"/>
          </p:cNvSpPr>
          <p:nvPr>
            <p:ph idx="1"/>
          </p:nvPr>
        </p:nvSpPr>
        <p:spPr>
          <a:xfrm>
            <a:off x="117987" y="242631"/>
            <a:ext cx="11788878" cy="6364645"/>
          </a:xfrm>
        </p:spPr>
        <p:txBody>
          <a:bodyPr>
            <a:normAutofit/>
          </a:bodyPr>
          <a:lstStyle/>
          <a:p>
            <a:pPr marL="0" indent="0" algn="l">
              <a:buNone/>
            </a:pPr>
            <a:r>
              <a:rPr lang="en-US" sz="2400" b="0" i="0" u="none" strike="noStrike" baseline="0" dirty="0">
                <a:solidFill>
                  <a:srgbClr val="292526"/>
                </a:solidFill>
                <a:latin typeface="Times New Roman" panose="02020603050405020304" pitchFamily="18" charset="0"/>
              </a:rPr>
              <a:t>Nb </a:t>
            </a:r>
            <a:r>
              <a:rPr lang="en-US" sz="2400" dirty="0">
                <a:solidFill>
                  <a:srgbClr val="292526"/>
                </a:solidFill>
                <a:latin typeface="Times New Roman" panose="02020603050405020304" pitchFamily="18" charset="0"/>
              </a:rPr>
              <a:t>Steps</a:t>
            </a:r>
            <a:endParaRPr lang="en-US" sz="2400" b="0" i="0" u="none" strike="noStrike" baseline="0" dirty="0">
              <a:solidFill>
                <a:srgbClr val="292526"/>
              </a:solidFill>
              <a:latin typeface="Times New Roman" panose="02020603050405020304" pitchFamily="18" charset="0"/>
            </a:endParaRPr>
          </a:p>
          <a:p>
            <a:pPr marL="0" indent="0" algn="l">
              <a:buNone/>
            </a:pPr>
            <a:r>
              <a:rPr lang="en-US" sz="2400" dirty="0">
                <a:solidFill>
                  <a:srgbClr val="292526"/>
                </a:solidFill>
                <a:latin typeface="Times New Roman" panose="02020603050405020304" pitchFamily="18" charset="0"/>
              </a:rPr>
              <a:t>1.</a:t>
            </a:r>
            <a:r>
              <a:rPr lang="en-US" sz="2400" b="0" i="0" u="none" strike="noStrike" baseline="0" dirty="0">
                <a:solidFill>
                  <a:srgbClr val="292526"/>
                </a:solidFill>
                <a:latin typeface="Times New Roman" panose="02020603050405020304" pitchFamily="18" charset="0"/>
              </a:rPr>
              <a:t>Bile salts are amphipathic compounds that act as biological </a:t>
            </a:r>
            <a:r>
              <a:rPr lang="en-US" sz="2400" b="0" i="0" u="none" strike="noStrike" baseline="0" dirty="0" err="1">
                <a:solidFill>
                  <a:srgbClr val="292526"/>
                </a:solidFill>
                <a:latin typeface="Times New Roman" panose="02020603050405020304" pitchFamily="18" charset="0"/>
              </a:rPr>
              <a:t>detergents,converting</a:t>
            </a:r>
            <a:r>
              <a:rPr lang="en-US" sz="2400" b="0" i="0" u="none" strike="noStrike" baseline="0" dirty="0">
                <a:solidFill>
                  <a:srgbClr val="292526"/>
                </a:solidFill>
                <a:latin typeface="Times New Roman" panose="02020603050405020304" pitchFamily="18" charset="0"/>
              </a:rPr>
              <a:t> dietary fats into mixed micelles of bile salts and triacylglycerols</a:t>
            </a:r>
          </a:p>
          <a:p>
            <a:pPr marL="0" indent="0" algn="l">
              <a:buNone/>
            </a:pPr>
            <a:r>
              <a:rPr lang="en-US" sz="2400" dirty="0">
                <a:solidFill>
                  <a:srgbClr val="292526"/>
                </a:solidFill>
                <a:latin typeface="Times New Roman" panose="02020603050405020304" pitchFamily="18" charset="0"/>
              </a:rPr>
              <a:t>2. Micelle formation enormously increases the fraction of lipid molecules accessible to the action of water-soluble lipases in the intestine, and lipase action converts triacylglycerols to monoacylglycerols (monoglycerides) and diacylglycerols (diglycerides), free fatty acids, and glycerol</a:t>
            </a:r>
          </a:p>
          <a:p>
            <a:pPr marL="0" indent="0" algn="l">
              <a:buNone/>
            </a:pPr>
            <a:r>
              <a:rPr lang="en-US" sz="2400" dirty="0">
                <a:solidFill>
                  <a:srgbClr val="292526"/>
                </a:solidFill>
                <a:latin typeface="Times New Roman" panose="02020603050405020304" pitchFamily="18" charset="0"/>
              </a:rPr>
              <a:t>3. These products of lipase action diffuse into the epithelial cells lining the intestinal surface (the intestinal mucosa)</a:t>
            </a:r>
          </a:p>
          <a:p>
            <a:pPr marL="0" indent="0" algn="l">
              <a:buNone/>
            </a:pPr>
            <a:r>
              <a:rPr lang="en-US" sz="2400" dirty="0">
                <a:solidFill>
                  <a:srgbClr val="292526"/>
                </a:solidFill>
                <a:latin typeface="Times New Roman" panose="02020603050405020304" pitchFamily="18" charset="0"/>
              </a:rPr>
              <a:t>4.</a:t>
            </a:r>
            <a:r>
              <a:rPr lang="en-US" sz="2400" b="0" i="0" u="none" strike="noStrike" baseline="0" dirty="0">
                <a:solidFill>
                  <a:srgbClr val="292526"/>
                </a:solidFill>
                <a:latin typeface="Times New Roman" panose="02020603050405020304" pitchFamily="18" charset="0"/>
              </a:rPr>
              <a:t> where they are reconverted to triacylglycerols and packaged with dietary cholesterol and specific proteins into lipoprotein aggregates called </a:t>
            </a:r>
            <a:r>
              <a:rPr lang="en-US" sz="2400" b="1" i="0" u="none" strike="noStrike" baseline="0" dirty="0">
                <a:solidFill>
                  <a:srgbClr val="292526"/>
                </a:solidFill>
                <a:latin typeface="Times New Roman" panose="02020603050405020304" pitchFamily="18" charset="0"/>
              </a:rPr>
              <a:t>chylomicrons</a:t>
            </a:r>
          </a:p>
          <a:p>
            <a:pPr marL="0" indent="0" algn="l">
              <a:buNone/>
            </a:pPr>
            <a:endParaRPr lang="en-UG" dirty="0"/>
          </a:p>
        </p:txBody>
      </p:sp>
      <p:sp>
        <p:nvSpPr>
          <p:cNvPr id="4" name="Slide Number Placeholder 3">
            <a:extLst>
              <a:ext uri="{FF2B5EF4-FFF2-40B4-BE49-F238E27FC236}">
                <a16:creationId xmlns:a16="http://schemas.microsoft.com/office/drawing/2014/main" id="{F99A3D11-1C4B-9A38-767C-11B76AE4BB23}"/>
              </a:ext>
            </a:extLst>
          </p:cNvPr>
          <p:cNvSpPr>
            <a:spLocks noGrp="1"/>
          </p:cNvSpPr>
          <p:nvPr>
            <p:ph type="sldNum" sz="quarter" idx="12"/>
          </p:nvPr>
        </p:nvSpPr>
        <p:spPr/>
        <p:txBody>
          <a:bodyPr/>
          <a:lstStyle/>
          <a:p>
            <a:fld id="{E5AE5CE0-1CF5-4570-809D-2EE63D725C19}" type="slidenum">
              <a:rPr lang="en-US" smtClean="0"/>
              <a:t>14</a:t>
            </a:fld>
            <a:endParaRPr lang="en-US"/>
          </a:p>
        </p:txBody>
      </p:sp>
    </p:spTree>
    <p:extLst>
      <p:ext uri="{BB962C8B-B14F-4D97-AF65-F5344CB8AC3E}">
        <p14:creationId xmlns:p14="http://schemas.microsoft.com/office/powerpoint/2010/main" val="14154251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238A1B7-CE5D-1EC7-37D2-28BDD911D2A8}"/>
              </a:ext>
            </a:extLst>
          </p:cNvPr>
          <p:cNvSpPr>
            <a:spLocks noGrp="1"/>
          </p:cNvSpPr>
          <p:nvPr>
            <p:ph idx="1"/>
          </p:nvPr>
        </p:nvSpPr>
        <p:spPr>
          <a:xfrm>
            <a:off x="255639" y="255639"/>
            <a:ext cx="11098161" cy="5921324"/>
          </a:xfrm>
        </p:spPr>
        <p:txBody>
          <a:bodyPr>
            <a:normAutofit/>
          </a:bodyPr>
          <a:lstStyle/>
          <a:p>
            <a:pPr marL="0" indent="0" algn="l">
              <a:buNone/>
            </a:pPr>
            <a:r>
              <a:rPr lang="en-US" sz="2400" dirty="0">
                <a:solidFill>
                  <a:srgbClr val="292526"/>
                </a:solidFill>
                <a:latin typeface="Times New Roman" panose="02020603050405020304" pitchFamily="18" charset="0"/>
              </a:rPr>
              <a:t>5. </a:t>
            </a:r>
            <a:r>
              <a:rPr lang="en-US" sz="2400" b="0" i="0" u="none" strike="noStrike" baseline="0" dirty="0">
                <a:solidFill>
                  <a:srgbClr val="292526"/>
                </a:solidFill>
                <a:latin typeface="Times New Roman" panose="02020603050405020304" pitchFamily="18" charset="0"/>
              </a:rPr>
              <a:t>The protein moieties of lipoproteins are recognized by receptors on cell surfaces. In lipid uptake from the</a:t>
            </a:r>
          </a:p>
          <a:p>
            <a:pPr marL="0" indent="0" algn="l">
              <a:buNone/>
            </a:pPr>
            <a:r>
              <a:rPr lang="en-US" sz="2400" b="0" i="0" u="none" strike="noStrike" baseline="0" dirty="0">
                <a:solidFill>
                  <a:srgbClr val="292526"/>
                </a:solidFill>
                <a:latin typeface="Times New Roman" panose="02020603050405020304" pitchFamily="18" charset="0"/>
              </a:rPr>
              <a:t> intestine, chylomicrons, which contain apolipoprotein C-II (</a:t>
            </a:r>
            <a:r>
              <a:rPr lang="en-US" sz="2400" b="0" i="0" u="none" strike="noStrike" baseline="0" dirty="0" err="1">
                <a:solidFill>
                  <a:srgbClr val="292526"/>
                </a:solidFill>
                <a:latin typeface="Times New Roman" panose="02020603050405020304" pitchFamily="18" charset="0"/>
              </a:rPr>
              <a:t>apoC</a:t>
            </a:r>
            <a:r>
              <a:rPr lang="en-US" sz="2400" b="0" i="0" u="none" strike="noStrike" baseline="0" dirty="0">
                <a:solidFill>
                  <a:srgbClr val="292526"/>
                </a:solidFill>
                <a:latin typeface="Times New Roman" panose="02020603050405020304" pitchFamily="18" charset="0"/>
              </a:rPr>
              <a:t>-II), move from the intestinal mucosa into the lymphatic system, and then enter the blood, which carries them to muscle and adipose tissue</a:t>
            </a:r>
          </a:p>
          <a:p>
            <a:pPr marL="0" indent="0" algn="l">
              <a:buNone/>
            </a:pPr>
            <a:r>
              <a:rPr lang="en-US" sz="2400" dirty="0">
                <a:solidFill>
                  <a:srgbClr val="292526"/>
                </a:solidFill>
                <a:latin typeface="Times New Roman" panose="02020603050405020304" pitchFamily="18" charset="0"/>
              </a:rPr>
              <a:t>6.</a:t>
            </a:r>
            <a:r>
              <a:rPr lang="en-US" sz="2400" b="0" i="0" u="none" strike="noStrike" baseline="0" dirty="0">
                <a:solidFill>
                  <a:srgbClr val="292526"/>
                </a:solidFill>
                <a:latin typeface="Times New Roman" panose="02020603050405020304" pitchFamily="18" charset="0"/>
              </a:rPr>
              <a:t> In the capillaries of these tissues, the extracellular enzyme </a:t>
            </a:r>
            <a:r>
              <a:rPr lang="en-US" sz="2400" b="1" i="0" u="none" strike="noStrike" baseline="0" dirty="0">
                <a:solidFill>
                  <a:srgbClr val="292526"/>
                </a:solidFill>
                <a:latin typeface="Times New Roman" panose="02020603050405020304" pitchFamily="18" charset="0"/>
              </a:rPr>
              <a:t>lipoprotein lipase, </a:t>
            </a:r>
            <a:r>
              <a:rPr lang="en-US" sz="2400" b="0" i="0" u="none" strike="noStrike" baseline="0" dirty="0">
                <a:solidFill>
                  <a:srgbClr val="292526"/>
                </a:solidFill>
                <a:latin typeface="Times New Roman" panose="02020603050405020304" pitchFamily="18" charset="0"/>
              </a:rPr>
              <a:t>activated by </a:t>
            </a:r>
            <a:r>
              <a:rPr lang="en-US" sz="2400" b="0" i="0" u="none" strike="noStrike" baseline="0" dirty="0" err="1">
                <a:solidFill>
                  <a:srgbClr val="292526"/>
                </a:solidFill>
                <a:latin typeface="Times New Roman" panose="02020603050405020304" pitchFamily="18" charset="0"/>
              </a:rPr>
              <a:t>apoC</a:t>
            </a:r>
            <a:r>
              <a:rPr lang="en-US" sz="2400" b="0" i="0" u="none" strike="noStrike" baseline="0" dirty="0">
                <a:solidFill>
                  <a:srgbClr val="292526"/>
                </a:solidFill>
                <a:latin typeface="Times New Roman" panose="02020603050405020304" pitchFamily="18" charset="0"/>
              </a:rPr>
              <a:t>-II, hydrolyzes triacylglycerols to fatty acids and glycerol</a:t>
            </a:r>
          </a:p>
          <a:p>
            <a:pPr marL="0" indent="0" algn="l">
              <a:buNone/>
            </a:pPr>
            <a:r>
              <a:rPr lang="en-US" sz="2400" dirty="0">
                <a:solidFill>
                  <a:srgbClr val="292526"/>
                </a:solidFill>
                <a:latin typeface="Times New Roman" panose="02020603050405020304" pitchFamily="18" charset="0"/>
              </a:rPr>
              <a:t>7.</a:t>
            </a:r>
            <a:r>
              <a:rPr lang="en-US" sz="2400" b="0" i="0" u="none" strike="noStrike" baseline="0" dirty="0">
                <a:solidFill>
                  <a:srgbClr val="292526"/>
                </a:solidFill>
                <a:latin typeface="Times New Roman" panose="02020603050405020304" pitchFamily="18" charset="0"/>
              </a:rPr>
              <a:t> which are taken up by cells in the target tissues</a:t>
            </a:r>
          </a:p>
          <a:p>
            <a:pPr marL="0" indent="0" algn="l">
              <a:buNone/>
            </a:pPr>
            <a:r>
              <a:rPr lang="en-US" sz="2400" dirty="0">
                <a:solidFill>
                  <a:srgbClr val="292526"/>
                </a:solidFill>
                <a:latin typeface="Times New Roman" panose="02020603050405020304" pitchFamily="18" charset="0"/>
              </a:rPr>
              <a:t>8.</a:t>
            </a:r>
            <a:r>
              <a:rPr lang="en-US" sz="2400" b="0" i="0" u="none" strike="noStrike" baseline="0" dirty="0">
                <a:solidFill>
                  <a:srgbClr val="292526"/>
                </a:solidFill>
                <a:latin typeface="Times New Roman" panose="02020603050405020304" pitchFamily="18" charset="0"/>
              </a:rPr>
              <a:t> In muscle, the fatty acids are oxidized for energy in adipose tissue, they are </a:t>
            </a:r>
            <a:r>
              <a:rPr lang="en-US" sz="2400" b="0" i="0" u="none" strike="noStrike" baseline="0" dirty="0" err="1">
                <a:solidFill>
                  <a:srgbClr val="292526"/>
                </a:solidFill>
                <a:latin typeface="Times New Roman" panose="02020603050405020304" pitchFamily="18" charset="0"/>
              </a:rPr>
              <a:t>reesterified</a:t>
            </a:r>
            <a:r>
              <a:rPr lang="en-US" sz="2400" b="0" i="0" u="none" strike="noStrike" baseline="0" dirty="0">
                <a:solidFill>
                  <a:srgbClr val="292526"/>
                </a:solidFill>
                <a:latin typeface="Times New Roman" panose="02020603050405020304" pitchFamily="18" charset="0"/>
              </a:rPr>
              <a:t> for storage as triacylglycerols</a:t>
            </a:r>
          </a:p>
          <a:p>
            <a:endParaRPr lang="en-UG" dirty="0"/>
          </a:p>
        </p:txBody>
      </p:sp>
      <p:sp>
        <p:nvSpPr>
          <p:cNvPr id="4" name="Slide Number Placeholder 3">
            <a:extLst>
              <a:ext uri="{FF2B5EF4-FFF2-40B4-BE49-F238E27FC236}">
                <a16:creationId xmlns:a16="http://schemas.microsoft.com/office/drawing/2014/main" id="{438C2041-2D34-56AA-FA61-5866F261FAF1}"/>
              </a:ext>
            </a:extLst>
          </p:cNvPr>
          <p:cNvSpPr>
            <a:spLocks noGrp="1"/>
          </p:cNvSpPr>
          <p:nvPr>
            <p:ph type="sldNum" sz="quarter" idx="12"/>
          </p:nvPr>
        </p:nvSpPr>
        <p:spPr/>
        <p:txBody>
          <a:bodyPr/>
          <a:lstStyle/>
          <a:p>
            <a:fld id="{E5AE5CE0-1CF5-4570-809D-2EE63D725C19}" type="slidenum">
              <a:rPr lang="en-US" smtClean="0"/>
              <a:t>15</a:t>
            </a:fld>
            <a:endParaRPr lang="en-US"/>
          </a:p>
        </p:txBody>
      </p:sp>
    </p:spTree>
    <p:extLst>
      <p:ext uri="{BB962C8B-B14F-4D97-AF65-F5344CB8AC3E}">
        <p14:creationId xmlns:p14="http://schemas.microsoft.com/office/powerpoint/2010/main" val="2144033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4BD9A06-9CD9-1AFA-ABBE-2E035F2AF482}"/>
              </a:ext>
            </a:extLst>
          </p:cNvPr>
          <p:cNvSpPr>
            <a:spLocks noGrp="1"/>
          </p:cNvSpPr>
          <p:nvPr>
            <p:ph idx="1"/>
          </p:nvPr>
        </p:nvSpPr>
        <p:spPr>
          <a:xfrm>
            <a:off x="235974" y="825910"/>
            <a:ext cx="11117826" cy="5351053"/>
          </a:xfrm>
        </p:spPr>
        <p:txBody>
          <a:bodyPr>
            <a:normAutofit/>
          </a:bodyPr>
          <a:lstStyle/>
          <a:p>
            <a:pPr algn="l"/>
            <a:r>
              <a:rPr lang="en-US" sz="2400" b="0" i="0" u="none" strike="noStrike" baseline="0" dirty="0">
                <a:solidFill>
                  <a:srgbClr val="292526"/>
                </a:solidFill>
                <a:latin typeface="Times New Roman" panose="02020603050405020304" pitchFamily="18" charset="0"/>
              </a:rPr>
              <a:t>The remnants of chylomicrons, depleted of most of their triacylglycerols but still containing cholesterol and apolipoproteins, travel in the blood to the liver, where</a:t>
            </a:r>
            <a:r>
              <a:rPr lang="en-US" sz="2400" dirty="0">
                <a:solidFill>
                  <a:srgbClr val="292526"/>
                </a:solidFill>
                <a:latin typeface="Times New Roman" panose="02020603050405020304" pitchFamily="18" charset="0"/>
              </a:rPr>
              <a:t> </a:t>
            </a:r>
            <a:r>
              <a:rPr lang="en-US" sz="2400" b="0" i="0" u="none" strike="noStrike" baseline="0" dirty="0">
                <a:solidFill>
                  <a:srgbClr val="292526"/>
                </a:solidFill>
                <a:latin typeface="Times New Roman" panose="02020603050405020304" pitchFamily="18" charset="0"/>
              </a:rPr>
              <a:t>they are taken up by endocytosis, mediated by receptors for their apolipoproteins. </a:t>
            </a:r>
          </a:p>
          <a:p>
            <a:pPr algn="l"/>
            <a:r>
              <a:rPr lang="en-US" sz="2400" b="0" i="0" u="none" strike="noStrike" baseline="0" dirty="0">
                <a:solidFill>
                  <a:srgbClr val="292526"/>
                </a:solidFill>
                <a:latin typeface="Times New Roman" panose="02020603050405020304" pitchFamily="18" charset="0"/>
              </a:rPr>
              <a:t>Triacylglycerols that enter the liver by this route may be oxidized to provide energy or to provide precursors for the synthesis of ketone bodies</a:t>
            </a:r>
            <a:endParaRPr lang="en-US" sz="2400" dirty="0">
              <a:solidFill>
                <a:srgbClr val="292526"/>
              </a:solidFill>
              <a:latin typeface="Times New Roman" panose="02020603050405020304" pitchFamily="18" charset="0"/>
            </a:endParaRPr>
          </a:p>
          <a:p>
            <a:pPr algn="l"/>
            <a:r>
              <a:rPr lang="en-US" sz="2400" b="0" i="0" u="none" strike="noStrike" baseline="0" dirty="0">
                <a:solidFill>
                  <a:srgbClr val="292526"/>
                </a:solidFill>
                <a:latin typeface="Times New Roman" panose="02020603050405020304" pitchFamily="18" charset="0"/>
              </a:rPr>
              <a:t>When the diet contains more fatty acids than are needed immediately for fuel or as precursors, the liver converts them to triacylglycerols, which are packaged with specific apolipoproteins into VLDLs. </a:t>
            </a:r>
          </a:p>
          <a:p>
            <a:pPr algn="l"/>
            <a:r>
              <a:rPr lang="en-US" sz="2400" b="0" i="0" u="none" strike="noStrike" baseline="0" dirty="0">
                <a:solidFill>
                  <a:srgbClr val="292526"/>
                </a:solidFill>
                <a:latin typeface="Times New Roman" panose="02020603050405020304" pitchFamily="18" charset="0"/>
              </a:rPr>
              <a:t>The VLDLs are transported in the blood to adipose tissues, where the triacylglycerols are removed and stored in lipid droplets within adipocytes.</a:t>
            </a:r>
            <a:endParaRPr lang="en-UG" sz="2400" dirty="0"/>
          </a:p>
        </p:txBody>
      </p:sp>
      <p:sp>
        <p:nvSpPr>
          <p:cNvPr id="4" name="Slide Number Placeholder 3">
            <a:extLst>
              <a:ext uri="{FF2B5EF4-FFF2-40B4-BE49-F238E27FC236}">
                <a16:creationId xmlns:a16="http://schemas.microsoft.com/office/drawing/2014/main" id="{A38107C5-2B40-5207-3DAC-F390D5E29D1A}"/>
              </a:ext>
            </a:extLst>
          </p:cNvPr>
          <p:cNvSpPr>
            <a:spLocks noGrp="1"/>
          </p:cNvSpPr>
          <p:nvPr>
            <p:ph type="sldNum" sz="quarter" idx="12"/>
          </p:nvPr>
        </p:nvSpPr>
        <p:spPr/>
        <p:txBody>
          <a:bodyPr/>
          <a:lstStyle/>
          <a:p>
            <a:fld id="{E5AE5CE0-1CF5-4570-809D-2EE63D725C19}" type="slidenum">
              <a:rPr lang="en-US" smtClean="0"/>
              <a:t>16</a:t>
            </a:fld>
            <a:endParaRPr lang="en-US"/>
          </a:p>
        </p:txBody>
      </p:sp>
    </p:spTree>
    <p:extLst>
      <p:ext uri="{BB962C8B-B14F-4D97-AF65-F5344CB8AC3E}">
        <p14:creationId xmlns:p14="http://schemas.microsoft.com/office/powerpoint/2010/main" val="15138665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BD4D5-5057-4484-B23D-BEC069DC1F7E}"/>
              </a:ext>
            </a:extLst>
          </p:cNvPr>
          <p:cNvSpPr>
            <a:spLocks noGrp="1"/>
          </p:cNvSpPr>
          <p:nvPr>
            <p:ph type="title"/>
          </p:nvPr>
        </p:nvSpPr>
        <p:spPr>
          <a:xfrm>
            <a:off x="838200" y="471142"/>
            <a:ext cx="10515600" cy="315912"/>
          </a:xfrm>
        </p:spPr>
        <p:txBody>
          <a:bodyPr>
            <a:normAutofit fontScale="90000"/>
          </a:bodyPr>
          <a:lstStyle/>
          <a:p>
            <a:r>
              <a:rPr lang="en-US" b="1" dirty="0"/>
              <a:t>Digestion in the Mouth</a:t>
            </a:r>
            <a:br>
              <a:rPr lang="en-US" b="1" dirty="0"/>
            </a:br>
            <a:endParaRPr lang="en-US" dirty="0"/>
          </a:p>
        </p:txBody>
      </p:sp>
      <p:sp>
        <p:nvSpPr>
          <p:cNvPr id="3" name="Content Placeholder 2">
            <a:extLst>
              <a:ext uri="{FF2B5EF4-FFF2-40B4-BE49-F238E27FC236}">
                <a16:creationId xmlns:a16="http://schemas.microsoft.com/office/drawing/2014/main" id="{6C529916-EEFE-4AC1-BA40-CC8491029100}"/>
              </a:ext>
            </a:extLst>
          </p:cNvPr>
          <p:cNvSpPr>
            <a:spLocks noGrp="1"/>
          </p:cNvSpPr>
          <p:nvPr>
            <p:ph idx="1"/>
          </p:nvPr>
        </p:nvSpPr>
        <p:spPr>
          <a:xfrm>
            <a:off x="399393" y="755370"/>
            <a:ext cx="10899228" cy="5751444"/>
          </a:xfrm>
        </p:spPr>
        <p:txBody>
          <a:bodyPr>
            <a:normAutofit/>
          </a:bodyPr>
          <a:lstStyle/>
          <a:p>
            <a:r>
              <a:rPr lang="en-US" dirty="0"/>
              <a:t>Chewing mechanically breaks food into smaller particles and mixes them with saliva.</a:t>
            </a:r>
          </a:p>
          <a:p>
            <a:r>
              <a:rPr lang="en-US" dirty="0"/>
              <a:t>An enzyme called </a:t>
            </a:r>
            <a:r>
              <a:rPr lang="en-US" b="1" i="1" dirty="0"/>
              <a:t>lingual lipase </a:t>
            </a:r>
            <a:r>
              <a:rPr lang="en-US" dirty="0"/>
              <a:t>is produced by cells on the tongue </a:t>
            </a:r>
            <a:r>
              <a:rPr lang="en-US" b="0" i="0" u="none" strike="noStrike" baseline="0" dirty="0">
                <a:solidFill>
                  <a:srgbClr val="231F20"/>
                </a:solidFill>
              </a:rPr>
              <a:t>(Ebner’s gland)</a:t>
            </a:r>
          </a:p>
          <a:p>
            <a:r>
              <a:rPr lang="en-US" b="0" i="0" u="none" strike="noStrike" baseline="0" dirty="0">
                <a:solidFill>
                  <a:srgbClr val="231F20"/>
                </a:solidFill>
              </a:rPr>
              <a:t>Optimum PH value of </a:t>
            </a:r>
            <a:r>
              <a:rPr lang="en-US" b="1" i="1" u="none" strike="noStrike" baseline="0" dirty="0">
                <a:solidFill>
                  <a:srgbClr val="231F20"/>
                </a:solidFill>
              </a:rPr>
              <a:t>lingual lipase</a:t>
            </a:r>
            <a:r>
              <a:rPr lang="en-US" b="1" i="0" u="none" strike="noStrike" baseline="0" dirty="0">
                <a:solidFill>
                  <a:srgbClr val="231F20"/>
                </a:solidFill>
              </a:rPr>
              <a:t> is 4.0 to 4.5</a:t>
            </a:r>
          </a:p>
          <a:p>
            <a:pPr algn="l"/>
            <a:r>
              <a:rPr lang="en-US" b="0" i="1" u="none" strike="noStrike" baseline="0" dirty="0">
                <a:solidFill>
                  <a:srgbClr val="231F20"/>
                </a:solidFill>
              </a:rPr>
              <a:t>Lingual lipase </a:t>
            </a:r>
            <a:r>
              <a:rPr lang="en-US" b="0" i="0" u="none" strike="noStrike" baseline="0" dirty="0">
                <a:solidFill>
                  <a:srgbClr val="231F20"/>
                </a:solidFill>
              </a:rPr>
              <a:t>is more active on </a:t>
            </a:r>
            <a:r>
              <a:rPr lang="en-US" b="1" i="0" u="none" strike="noStrike" baseline="0" dirty="0">
                <a:solidFill>
                  <a:srgbClr val="231F20"/>
                </a:solidFill>
              </a:rPr>
              <a:t>TG having shorter FA chains </a:t>
            </a:r>
            <a:r>
              <a:rPr lang="en-US" b="0" i="0" u="none" strike="noStrike" baseline="0" dirty="0">
                <a:solidFill>
                  <a:srgbClr val="231F20"/>
                </a:solidFill>
              </a:rPr>
              <a:t>and is found to be more specific for ester linkage at </a:t>
            </a:r>
            <a:r>
              <a:rPr lang="en-US" b="1" i="0" u="none" strike="noStrike" baseline="0" dirty="0">
                <a:solidFill>
                  <a:srgbClr val="231F20"/>
                </a:solidFill>
              </a:rPr>
              <a:t>3-position</a:t>
            </a:r>
            <a:r>
              <a:rPr lang="en-US" b="0" i="0" u="none" strike="noStrike" baseline="0" dirty="0">
                <a:solidFill>
                  <a:srgbClr val="231F20"/>
                </a:solidFill>
              </a:rPr>
              <a:t> rather than </a:t>
            </a:r>
            <a:r>
              <a:rPr lang="en-US" b="1" i="0" u="none" strike="noStrike" baseline="0" dirty="0">
                <a:solidFill>
                  <a:srgbClr val="231F20"/>
                </a:solidFill>
              </a:rPr>
              <a:t>position-1</a:t>
            </a:r>
            <a:r>
              <a:rPr lang="en-US" b="0" i="0" u="none" strike="noStrike" baseline="0" dirty="0">
                <a:solidFill>
                  <a:srgbClr val="231F20"/>
                </a:solidFill>
              </a:rPr>
              <a:t>.</a:t>
            </a:r>
          </a:p>
          <a:p>
            <a:pPr algn="l"/>
            <a:r>
              <a:rPr lang="en-US" dirty="0">
                <a:solidFill>
                  <a:srgbClr val="231F20"/>
                </a:solidFill>
              </a:rPr>
              <a:t>M</a:t>
            </a:r>
            <a:r>
              <a:rPr lang="en-US" u="none" strike="noStrike" baseline="0" dirty="0">
                <a:solidFill>
                  <a:srgbClr val="231F20"/>
                </a:solidFill>
              </a:rPr>
              <a:t>ilk fat appears to be the best substrate for this enzyme</a:t>
            </a:r>
          </a:p>
          <a:p>
            <a:pPr algn="l"/>
            <a:r>
              <a:rPr lang="en-US" b="0" i="0" u="none" strike="noStrike" baseline="0" dirty="0">
                <a:solidFill>
                  <a:srgbClr val="231F20"/>
                </a:solidFill>
              </a:rPr>
              <a:t>The released short chain fatty acids are relatively more soluble and hydrophilic and can be absorbed directly from the stomach wall and enter the portal vein.</a:t>
            </a:r>
            <a:endParaRPr lang="en-US" dirty="0"/>
          </a:p>
        </p:txBody>
      </p:sp>
      <p:sp>
        <p:nvSpPr>
          <p:cNvPr id="4" name="Slide Number Placeholder 3"/>
          <p:cNvSpPr>
            <a:spLocks noGrp="1"/>
          </p:cNvSpPr>
          <p:nvPr>
            <p:ph type="sldNum" sz="quarter" idx="12"/>
          </p:nvPr>
        </p:nvSpPr>
        <p:spPr/>
        <p:txBody>
          <a:bodyPr/>
          <a:lstStyle/>
          <a:p>
            <a:fld id="{E5AE5CE0-1CF5-4570-809D-2EE63D725C19}" type="slidenum">
              <a:rPr lang="en-US" smtClean="0"/>
              <a:t>17</a:t>
            </a:fld>
            <a:endParaRPr lang="en-US"/>
          </a:p>
        </p:txBody>
      </p:sp>
    </p:spTree>
    <p:extLst>
      <p:ext uri="{BB962C8B-B14F-4D97-AF65-F5344CB8AC3E}">
        <p14:creationId xmlns:p14="http://schemas.microsoft.com/office/powerpoint/2010/main" val="8989980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D1AE1-545B-40BE-B756-AE54AA746306}"/>
              </a:ext>
            </a:extLst>
          </p:cNvPr>
          <p:cNvSpPr>
            <a:spLocks noGrp="1"/>
          </p:cNvSpPr>
          <p:nvPr>
            <p:ph type="title"/>
          </p:nvPr>
        </p:nvSpPr>
        <p:spPr>
          <a:xfrm>
            <a:off x="361118" y="113335"/>
            <a:ext cx="10515600" cy="483014"/>
          </a:xfrm>
        </p:spPr>
        <p:txBody>
          <a:bodyPr>
            <a:normAutofit fontScale="90000"/>
          </a:bodyPr>
          <a:lstStyle/>
          <a:p>
            <a:r>
              <a:rPr lang="en-US" b="1" dirty="0"/>
              <a:t>Digestion in the Stomach</a:t>
            </a:r>
          </a:p>
        </p:txBody>
      </p:sp>
      <p:sp>
        <p:nvSpPr>
          <p:cNvPr id="3" name="Content Placeholder 2">
            <a:extLst>
              <a:ext uri="{FF2B5EF4-FFF2-40B4-BE49-F238E27FC236}">
                <a16:creationId xmlns:a16="http://schemas.microsoft.com/office/drawing/2014/main" id="{168754EF-451A-4683-8762-21145463808E}"/>
              </a:ext>
            </a:extLst>
          </p:cNvPr>
          <p:cNvSpPr>
            <a:spLocks noGrp="1"/>
          </p:cNvSpPr>
          <p:nvPr>
            <p:ph idx="1"/>
          </p:nvPr>
        </p:nvSpPr>
        <p:spPr>
          <a:xfrm>
            <a:off x="159025" y="795130"/>
            <a:ext cx="11834191" cy="5579165"/>
          </a:xfrm>
        </p:spPr>
        <p:txBody>
          <a:bodyPr>
            <a:normAutofit/>
          </a:bodyPr>
          <a:lstStyle/>
          <a:p>
            <a:r>
              <a:rPr lang="en-US" dirty="0"/>
              <a:t>In the stomach, mixing and churning helps to disperse food particles and fat molecules. </a:t>
            </a:r>
          </a:p>
          <a:p>
            <a:r>
              <a:rPr lang="en-US" dirty="0"/>
              <a:t>Cells in the stomach produce another lipase, called </a:t>
            </a:r>
            <a:r>
              <a:rPr lang="en-US" b="1" i="1" dirty="0"/>
              <a:t>gastric lipase</a:t>
            </a:r>
          </a:p>
          <a:p>
            <a:r>
              <a:rPr lang="en-US" b="1" i="1" dirty="0"/>
              <a:t>Lingual lipase </a:t>
            </a:r>
            <a:r>
              <a:rPr lang="en-US" dirty="0"/>
              <a:t>swallowed with food and saliva also remains active in the stomach</a:t>
            </a:r>
          </a:p>
          <a:p>
            <a:r>
              <a:rPr lang="en-US" dirty="0"/>
              <a:t>In the stomach, gastric lipase starts to break down triglycerides into diglycerides and fatty acids.</a:t>
            </a:r>
            <a:endParaRPr lang="en-US" b="1" i="1" dirty="0"/>
          </a:p>
          <a:p>
            <a:pPr algn="l"/>
            <a:r>
              <a:rPr lang="en-US" i="0" u="none" strike="noStrike" baseline="0" dirty="0">
                <a:solidFill>
                  <a:srgbClr val="231F20"/>
                </a:solidFill>
              </a:rPr>
              <a:t>Fats do play one important role in the stomach in that they </a:t>
            </a:r>
            <a:r>
              <a:rPr lang="en-US" i="1" u="none" strike="noStrike" baseline="0" dirty="0">
                <a:solidFill>
                  <a:srgbClr val="231F20"/>
                </a:solidFill>
              </a:rPr>
              <a:t>delay the rate of emptying of stomach</a:t>
            </a:r>
            <a:r>
              <a:rPr lang="en-US" i="0" u="none" strike="noStrike" baseline="0" dirty="0">
                <a:solidFill>
                  <a:srgbClr val="231F20"/>
                </a:solidFill>
              </a:rPr>
              <a:t>, presumably by way of the </a:t>
            </a:r>
            <a:r>
              <a:rPr lang="en-US" b="1" i="0" u="none" strike="noStrike" baseline="0" dirty="0">
                <a:solidFill>
                  <a:srgbClr val="231F20"/>
                </a:solidFill>
              </a:rPr>
              <a:t>hormone </a:t>
            </a:r>
            <a:r>
              <a:rPr lang="en-US" b="1" i="1" u="none" strike="noStrike" baseline="0" dirty="0">
                <a:solidFill>
                  <a:srgbClr val="231F20"/>
                </a:solidFill>
              </a:rPr>
              <a:t>enterogastrone</a:t>
            </a:r>
            <a:r>
              <a:rPr lang="en-US" i="1" u="none" strike="noStrike" baseline="0" dirty="0">
                <a:solidFill>
                  <a:srgbClr val="231F20"/>
                </a:solidFill>
              </a:rPr>
              <a:t>, which inhibits gastric motility and retards the discharge of bolus of food from the stomach. </a:t>
            </a:r>
          </a:p>
          <a:p>
            <a:pPr algn="l"/>
            <a:r>
              <a:rPr lang="en-US" b="1" i="0" u="none" strike="noStrike" baseline="0" dirty="0">
                <a:solidFill>
                  <a:srgbClr val="231F20"/>
                </a:solidFill>
              </a:rPr>
              <a:t>Thus fats have a high satiety value.</a:t>
            </a:r>
            <a:endParaRPr lang="en-US" b="1" dirty="0"/>
          </a:p>
        </p:txBody>
      </p:sp>
      <p:sp>
        <p:nvSpPr>
          <p:cNvPr id="4" name="Slide Number Placeholder 3"/>
          <p:cNvSpPr>
            <a:spLocks noGrp="1"/>
          </p:cNvSpPr>
          <p:nvPr>
            <p:ph type="sldNum" sz="quarter" idx="12"/>
          </p:nvPr>
        </p:nvSpPr>
        <p:spPr/>
        <p:txBody>
          <a:bodyPr/>
          <a:lstStyle/>
          <a:p>
            <a:fld id="{E5AE5CE0-1CF5-4570-809D-2EE63D725C19}" type="slidenum">
              <a:rPr lang="en-US" smtClean="0"/>
              <a:t>18</a:t>
            </a:fld>
            <a:endParaRPr lang="en-US"/>
          </a:p>
        </p:txBody>
      </p:sp>
    </p:spTree>
    <p:extLst>
      <p:ext uri="{BB962C8B-B14F-4D97-AF65-F5344CB8AC3E}">
        <p14:creationId xmlns:p14="http://schemas.microsoft.com/office/powerpoint/2010/main" val="24214481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99AF5-FC27-45A4-A5C6-906515470054}"/>
              </a:ext>
            </a:extLst>
          </p:cNvPr>
          <p:cNvSpPr>
            <a:spLocks noGrp="1"/>
          </p:cNvSpPr>
          <p:nvPr>
            <p:ph type="title"/>
          </p:nvPr>
        </p:nvSpPr>
        <p:spPr>
          <a:xfrm>
            <a:off x="838200" y="365126"/>
            <a:ext cx="10515600" cy="456510"/>
          </a:xfrm>
        </p:spPr>
        <p:txBody>
          <a:bodyPr>
            <a:normAutofit fontScale="90000"/>
          </a:bodyPr>
          <a:lstStyle/>
          <a:p>
            <a:r>
              <a:rPr lang="en-US" b="1" dirty="0"/>
              <a:t>Digestion in the Small Intestine</a:t>
            </a:r>
          </a:p>
        </p:txBody>
      </p:sp>
      <p:sp>
        <p:nvSpPr>
          <p:cNvPr id="3" name="Content Placeholder 2">
            <a:extLst>
              <a:ext uri="{FF2B5EF4-FFF2-40B4-BE49-F238E27FC236}">
                <a16:creationId xmlns:a16="http://schemas.microsoft.com/office/drawing/2014/main" id="{291892BB-AF7D-4EA8-AC6D-369824F78D96}"/>
              </a:ext>
            </a:extLst>
          </p:cNvPr>
          <p:cNvSpPr>
            <a:spLocks noGrp="1"/>
          </p:cNvSpPr>
          <p:nvPr>
            <p:ph idx="1"/>
          </p:nvPr>
        </p:nvSpPr>
        <p:spPr>
          <a:xfrm>
            <a:off x="777766" y="1070248"/>
            <a:ext cx="10142482" cy="5502137"/>
          </a:xfrm>
        </p:spPr>
        <p:txBody>
          <a:bodyPr>
            <a:normAutofit lnSpcReduction="10000"/>
          </a:bodyPr>
          <a:lstStyle/>
          <a:p>
            <a:r>
              <a:rPr lang="en-US" dirty="0"/>
              <a:t>As the stomach contents enter the small intestine, most of the dietary lipids are undigested and clustered in large droplets.</a:t>
            </a:r>
          </a:p>
          <a:p>
            <a:r>
              <a:rPr lang="en-US" b="1" i="1" dirty="0"/>
              <a:t>Bile</a:t>
            </a:r>
            <a:r>
              <a:rPr lang="en-US" dirty="0"/>
              <a:t>, which is made in the </a:t>
            </a:r>
            <a:r>
              <a:rPr lang="en-US" b="1" dirty="0"/>
              <a:t>liver </a:t>
            </a:r>
            <a:r>
              <a:rPr lang="en-US" dirty="0"/>
              <a:t>and stored in the </a:t>
            </a:r>
            <a:r>
              <a:rPr lang="en-US" b="1" dirty="0"/>
              <a:t>gallbladder</a:t>
            </a:r>
            <a:r>
              <a:rPr lang="en-US" dirty="0"/>
              <a:t>, is released into the duodenum, the first section of the small intestine.</a:t>
            </a:r>
          </a:p>
          <a:p>
            <a:pPr algn="l"/>
            <a:r>
              <a:rPr lang="en-US" dirty="0"/>
              <a:t>Bile contains </a:t>
            </a:r>
            <a:r>
              <a:rPr lang="en-US" b="1" dirty="0"/>
              <a:t>bile salts </a:t>
            </a:r>
            <a:r>
              <a:rPr lang="en-US" b="0" i="0" u="none" strike="noStrike" baseline="0" dirty="0">
                <a:solidFill>
                  <a:srgbClr val="231F20"/>
                </a:solidFill>
              </a:rPr>
              <a:t>(</a:t>
            </a:r>
            <a:r>
              <a:rPr lang="en-US" b="1" i="0" u="none" strike="noStrike" baseline="0" dirty="0">
                <a:solidFill>
                  <a:srgbClr val="231F20"/>
                </a:solidFill>
              </a:rPr>
              <a:t>sodium glycocholate and sodium taurocholate</a:t>
            </a:r>
            <a:r>
              <a:rPr lang="en-US" b="0" i="0" u="none" strike="noStrike" baseline="0" dirty="0">
                <a:solidFill>
                  <a:srgbClr val="231F20"/>
                </a:solidFill>
              </a:rPr>
              <a:t>)</a:t>
            </a:r>
            <a:r>
              <a:rPr lang="en-US" dirty="0"/>
              <a:t>, </a:t>
            </a:r>
            <a:r>
              <a:rPr lang="en-US" b="1" dirty="0"/>
              <a:t>lecithin</a:t>
            </a:r>
            <a:r>
              <a:rPr lang="en-US" dirty="0"/>
              <a:t>, and substances derived from </a:t>
            </a:r>
            <a:r>
              <a:rPr lang="en-US" b="1" dirty="0"/>
              <a:t>cholesterol</a:t>
            </a:r>
            <a:r>
              <a:rPr lang="en-US" dirty="0"/>
              <a:t> so it acts as an emulsifier.</a:t>
            </a:r>
          </a:p>
          <a:p>
            <a:r>
              <a:rPr lang="en-US" dirty="0"/>
              <a:t>Bile salts have both a hydrophobic and a hydrophilic side, so they are attracted to both fats and water. </a:t>
            </a:r>
          </a:p>
          <a:p>
            <a:r>
              <a:rPr lang="en-US" dirty="0"/>
              <a:t>This makes them effective emulsifiers</a:t>
            </a:r>
          </a:p>
          <a:p>
            <a:r>
              <a:rPr lang="en-US" dirty="0"/>
              <a:t> </a:t>
            </a:r>
            <a:r>
              <a:rPr lang="en-US" b="1" dirty="0"/>
              <a:t>Emulsification makes lipids more accessible to digestive enzymes by increasing the surface area for them to act </a:t>
            </a:r>
            <a:r>
              <a:rPr lang="en-US" b="1" dirty="0" err="1"/>
              <a:t>ie</a:t>
            </a:r>
            <a:r>
              <a:rPr lang="en-US" b="1" dirty="0"/>
              <a:t> surface tension is reduced. Bile salts, peristalsis and phospholipid enhance it. </a:t>
            </a:r>
          </a:p>
        </p:txBody>
      </p:sp>
      <p:sp>
        <p:nvSpPr>
          <p:cNvPr id="4" name="Slide Number Placeholder 3"/>
          <p:cNvSpPr>
            <a:spLocks noGrp="1"/>
          </p:cNvSpPr>
          <p:nvPr>
            <p:ph type="sldNum" sz="quarter" idx="12"/>
          </p:nvPr>
        </p:nvSpPr>
        <p:spPr/>
        <p:txBody>
          <a:bodyPr/>
          <a:lstStyle/>
          <a:p>
            <a:fld id="{E5AE5CE0-1CF5-4570-809D-2EE63D725C19}" type="slidenum">
              <a:rPr lang="en-US" smtClean="0"/>
              <a:t>19</a:t>
            </a:fld>
            <a:endParaRPr lang="en-US"/>
          </a:p>
        </p:txBody>
      </p:sp>
    </p:spTree>
    <p:extLst>
      <p:ext uri="{BB962C8B-B14F-4D97-AF65-F5344CB8AC3E}">
        <p14:creationId xmlns:p14="http://schemas.microsoft.com/office/powerpoint/2010/main" val="41525431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82C260-E5CC-4D35-938D-B33A20A42A7D}"/>
              </a:ext>
            </a:extLst>
          </p:cNvPr>
          <p:cNvSpPr>
            <a:spLocks noGrp="1"/>
          </p:cNvSpPr>
          <p:nvPr>
            <p:ph idx="1"/>
          </p:nvPr>
        </p:nvSpPr>
        <p:spPr>
          <a:xfrm>
            <a:off x="159025" y="659430"/>
            <a:ext cx="11767931" cy="5661855"/>
          </a:xfrm>
        </p:spPr>
        <p:txBody>
          <a:bodyPr>
            <a:normAutofit lnSpcReduction="10000"/>
          </a:bodyPr>
          <a:lstStyle/>
          <a:p>
            <a:r>
              <a:rPr lang="en-US" dirty="0"/>
              <a:t>Once the stomach contents have been emulsified, the pancreas secretes </a:t>
            </a:r>
            <a:r>
              <a:rPr lang="en-US" b="1" i="1" dirty="0"/>
              <a:t>pancreatic lipases</a:t>
            </a:r>
            <a:r>
              <a:rPr lang="en-US" dirty="0"/>
              <a:t> into the small intestine to enzymatically digest triglycerides.</a:t>
            </a:r>
          </a:p>
          <a:p>
            <a:pPr algn="l"/>
            <a:r>
              <a:rPr lang="en-US" u="none" strike="noStrike" baseline="0" dirty="0">
                <a:solidFill>
                  <a:srgbClr val="231F20"/>
                </a:solidFill>
              </a:rPr>
              <a:t>Pancreatic lipase is virtually specific for the hydrolysis of </a:t>
            </a:r>
            <a:r>
              <a:rPr lang="en-US" b="1" u="none" strike="noStrike" baseline="0" dirty="0">
                <a:solidFill>
                  <a:srgbClr val="231F20"/>
                </a:solidFill>
              </a:rPr>
              <a:t>“primary ester linkage”.</a:t>
            </a:r>
            <a:r>
              <a:rPr lang="en-US" b="1" dirty="0"/>
              <a:t> </a:t>
            </a:r>
          </a:p>
          <a:p>
            <a:pPr algn="l"/>
            <a:r>
              <a:rPr lang="en-US" b="1" i="1" u="none" strike="noStrike" baseline="0" dirty="0">
                <a:solidFill>
                  <a:srgbClr val="231F20"/>
                </a:solidFill>
              </a:rPr>
              <a:t>It cannot readily </a:t>
            </a:r>
            <a:r>
              <a:rPr lang="en-US" b="1" i="1" u="none" strike="noStrike" baseline="0" dirty="0" err="1">
                <a:solidFill>
                  <a:srgbClr val="231F20"/>
                </a:solidFill>
              </a:rPr>
              <a:t>hydrolyse</a:t>
            </a:r>
            <a:r>
              <a:rPr lang="en-US" b="1" i="1" u="none" strike="noStrike" baseline="0" dirty="0">
                <a:solidFill>
                  <a:srgbClr val="231F20"/>
                </a:solidFill>
              </a:rPr>
              <a:t> the ester linkage of position-2 (</a:t>
            </a:r>
            <a:r>
              <a:rPr lang="el-GR" b="0" i="0" u="none" strike="noStrike" baseline="0" dirty="0">
                <a:solidFill>
                  <a:srgbClr val="231F20"/>
                </a:solidFill>
              </a:rPr>
              <a:t>β</a:t>
            </a:r>
            <a:r>
              <a:rPr lang="en-US" b="1" i="1" u="none" strike="noStrike" baseline="0" dirty="0">
                <a:solidFill>
                  <a:srgbClr val="231F20"/>
                </a:solidFill>
              </a:rPr>
              <a:t>), </a:t>
            </a:r>
            <a:r>
              <a:rPr lang="en-US" b="0" i="0" u="none" strike="noStrike" baseline="0" dirty="0">
                <a:solidFill>
                  <a:srgbClr val="231F20"/>
                </a:solidFill>
              </a:rPr>
              <a:t>if it does so it occurs at a very slow rate.</a:t>
            </a:r>
          </a:p>
          <a:p>
            <a:pPr algn="l"/>
            <a:r>
              <a:rPr lang="en-US" b="0" i="0" u="none" strike="noStrike" baseline="0" dirty="0">
                <a:solidFill>
                  <a:srgbClr val="231F20"/>
                </a:solidFill>
              </a:rPr>
              <a:t>Digestion of TG molecule by pancreatic lipase proceeds by;</a:t>
            </a:r>
          </a:p>
          <a:p>
            <a:pPr algn="l">
              <a:buFont typeface="Wingdings" panose="05000000000000000000" pitchFamily="2" charset="2"/>
              <a:buChar char="Ø"/>
            </a:pPr>
            <a:r>
              <a:rPr lang="en-US" b="0" i="0" u="none" strike="noStrike" baseline="0" dirty="0">
                <a:solidFill>
                  <a:srgbClr val="231F20"/>
                </a:solidFill>
              </a:rPr>
              <a:t>removal of a terminal FA to produce an </a:t>
            </a:r>
            <a:r>
              <a:rPr lang="el-GR" b="0" i="0" u="none" strike="noStrike" baseline="0" dirty="0">
                <a:solidFill>
                  <a:srgbClr val="231F20"/>
                </a:solidFill>
                <a:cs typeface="Calibri" panose="020F0502020204030204" pitchFamily="34" charset="0"/>
              </a:rPr>
              <a:t>α</a:t>
            </a:r>
            <a:r>
              <a:rPr lang="en-US" dirty="0">
                <a:solidFill>
                  <a:srgbClr val="231F20"/>
                </a:solidFill>
                <a:cs typeface="Calibri" panose="020F0502020204030204" pitchFamily="34" charset="0"/>
              </a:rPr>
              <a:t>-</a:t>
            </a:r>
            <a:r>
              <a:rPr lang="en-US" b="1" i="0" u="none" strike="noStrike" baseline="0" dirty="0">
                <a:solidFill>
                  <a:srgbClr val="231F20"/>
                </a:solidFill>
              </a:rPr>
              <a:t>diglyceride</a:t>
            </a:r>
          </a:p>
          <a:p>
            <a:pPr algn="l">
              <a:buFont typeface="Wingdings" panose="05000000000000000000" pitchFamily="2" charset="2"/>
              <a:buChar char="Ø"/>
            </a:pPr>
            <a:r>
              <a:rPr lang="en-US" b="0" i="0" u="none" strike="noStrike" baseline="0" dirty="0">
                <a:solidFill>
                  <a:srgbClr val="231F20"/>
                </a:solidFill>
              </a:rPr>
              <a:t>The other terminal FA is then removed to produce a </a:t>
            </a:r>
            <a:r>
              <a:rPr lang="el-GR" b="0" i="0" u="none" strike="noStrike" baseline="0" dirty="0">
                <a:solidFill>
                  <a:srgbClr val="231F20"/>
                </a:solidFill>
              </a:rPr>
              <a:t>β</a:t>
            </a:r>
            <a:r>
              <a:rPr lang="en-US" b="0" i="0" u="none" strike="noStrike" baseline="0" dirty="0">
                <a:solidFill>
                  <a:srgbClr val="231F20"/>
                </a:solidFill>
              </a:rPr>
              <a:t>-</a:t>
            </a:r>
            <a:r>
              <a:rPr lang="en-US" b="1" i="0" u="none" strike="noStrike" baseline="0" dirty="0">
                <a:solidFill>
                  <a:srgbClr val="231F20"/>
                </a:solidFill>
              </a:rPr>
              <a:t>monoglyceride.</a:t>
            </a:r>
          </a:p>
          <a:p>
            <a:pPr algn="l"/>
            <a:r>
              <a:rPr lang="en-US" sz="3000" u="none" strike="noStrike" baseline="0" dirty="0">
                <a:solidFill>
                  <a:srgbClr val="231F20"/>
                </a:solidFill>
              </a:rPr>
              <a:t>The </a:t>
            </a:r>
            <a:r>
              <a:rPr lang="el-GR" sz="3200" b="0" i="0" u="none" strike="noStrike" baseline="0" dirty="0">
                <a:solidFill>
                  <a:srgbClr val="231F20"/>
                </a:solidFill>
              </a:rPr>
              <a:t>β</a:t>
            </a:r>
            <a:r>
              <a:rPr lang="en-US" sz="3200" b="0" i="0" u="none" strike="noStrike" baseline="0" dirty="0">
                <a:solidFill>
                  <a:srgbClr val="231F20"/>
                </a:solidFill>
              </a:rPr>
              <a:t>-</a:t>
            </a:r>
            <a:r>
              <a:rPr lang="en-US" sz="3000" u="none" strike="noStrike" baseline="0" dirty="0">
                <a:solidFill>
                  <a:srgbClr val="231F20"/>
                </a:solidFill>
              </a:rPr>
              <a:t>monoglyceride is first converted to </a:t>
            </a:r>
            <a:r>
              <a:rPr lang="el-GR" sz="3200" b="0" i="0" u="none" strike="noStrike" baseline="0" dirty="0">
                <a:solidFill>
                  <a:srgbClr val="231F20"/>
                </a:solidFill>
                <a:cs typeface="Calibri" panose="020F0502020204030204" pitchFamily="34" charset="0"/>
              </a:rPr>
              <a:t>α </a:t>
            </a:r>
            <a:r>
              <a:rPr lang="en-US" sz="3000" u="none" strike="noStrike" baseline="0" dirty="0">
                <a:solidFill>
                  <a:srgbClr val="231F20"/>
                </a:solidFill>
              </a:rPr>
              <a:t>-monoglyceride by </a:t>
            </a:r>
            <a:r>
              <a:rPr lang="en-US" sz="3000" u="none" strike="noStrike" baseline="0" dirty="0" err="1">
                <a:solidFill>
                  <a:srgbClr val="231F20"/>
                </a:solidFill>
              </a:rPr>
              <a:t>isomerisation</a:t>
            </a:r>
            <a:r>
              <a:rPr lang="en-US" sz="3000" u="none" strike="noStrike" baseline="0" dirty="0">
                <a:solidFill>
                  <a:srgbClr val="231F20"/>
                </a:solidFill>
              </a:rPr>
              <a:t> by an “isomerase” enzyme. </a:t>
            </a:r>
          </a:p>
          <a:p>
            <a:pPr algn="l"/>
            <a:r>
              <a:rPr lang="en-US" sz="3000" u="none" strike="noStrike" baseline="0" dirty="0">
                <a:solidFill>
                  <a:srgbClr val="231F20"/>
                </a:solidFill>
              </a:rPr>
              <a:t>Then the α-monoglyceride is </a:t>
            </a:r>
            <a:r>
              <a:rPr lang="en-US" sz="3000" u="none" strike="noStrike" baseline="0" dirty="0" err="1">
                <a:solidFill>
                  <a:srgbClr val="231F20"/>
                </a:solidFill>
              </a:rPr>
              <a:t>hydrolysed</a:t>
            </a:r>
            <a:r>
              <a:rPr lang="en-US" sz="3000" u="none" strike="noStrike" baseline="0" dirty="0">
                <a:solidFill>
                  <a:srgbClr val="231F20"/>
                </a:solidFill>
              </a:rPr>
              <a:t> by pancreatic lipase.</a:t>
            </a:r>
            <a:endParaRPr lang="en-US" sz="3000" dirty="0"/>
          </a:p>
        </p:txBody>
      </p:sp>
      <p:sp>
        <p:nvSpPr>
          <p:cNvPr id="4" name="Slide Number Placeholder 3"/>
          <p:cNvSpPr>
            <a:spLocks noGrp="1"/>
          </p:cNvSpPr>
          <p:nvPr>
            <p:ph type="sldNum" sz="quarter" idx="12"/>
          </p:nvPr>
        </p:nvSpPr>
        <p:spPr/>
        <p:txBody>
          <a:bodyPr/>
          <a:lstStyle/>
          <a:p>
            <a:fld id="{E5AE5CE0-1CF5-4570-809D-2EE63D725C19}" type="slidenum">
              <a:rPr lang="en-US" smtClean="0"/>
              <a:t>20</a:t>
            </a:fld>
            <a:endParaRPr lang="en-US"/>
          </a:p>
        </p:txBody>
      </p:sp>
    </p:spTree>
    <p:extLst>
      <p:ext uri="{BB962C8B-B14F-4D97-AF65-F5344CB8AC3E}">
        <p14:creationId xmlns:p14="http://schemas.microsoft.com/office/powerpoint/2010/main" val="13079004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49EC8FA-EA69-4388-AEEA-0D510134116A}"/>
              </a:ext>
            </a:extLst>
          </p:cNvPr>
          <p:cNvPicPr>
            <a:picLocks noChangeAspect="1"/>
          </p:cNvPicPr>
          <p:nvPr/>
        </p:nvPicPr>
        <p:blipFill>
          <a:blip r:embed="rId3"/>
          <a:stretch>
            <a:fillRect/>
          </a:stretch>
        </p:blipFill>
        <p:spPr>
          <a:xfrm>
            <a:off x="1208690" y="365125"/>
            <a:ext cx="9732580" cy="6127750"/>
          </a:xfrm>
          <a:prstGeom prst="rect">
            <a:avLst/>
          </a:prstGeom>
        </p:spPr>
      </p:pic>
      <p:sp>
        <p:nvSpPr>
          <p:cNvPr id="4" name="Slide Number Placeholder 3"/>
          <p:cNvSpPr>
            <a:spLocks noGrp="1"/>
          </p:cNvSpPr>
          <p:nvPr>
            <p:ph type="sldNum" sz="quarter" idx="12"/>
          </p:nvPr>
        </p:nvSpPr>
        <p:spPr/>
        <p:txBody>
          <a:bodyPr/>
          <a:lstStyle/>
          <a:p>
            <a:fld id="{E5AE5CE0-1CF5-4570-809D-2EE63D725C19}" type="slidenum">
              <a:rPr lang="en-US" smtClean="0"/>
              <a:t>21</a:t>
            </a:fld>
            <a:endParaRPr lang="en-US"/>
          </a:p>
        </p:txBody>
      </p:sp>
    </p:spTree>
    <p:extLst>
      <p:ext uri="{BB962C8B-B14F-4D97-AF65-F5344CB8AC3E}">
        <p14:creationId xmlns:p14="http://schemas.microsoft.com/office/powerpoint/2010/main" val="6205426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39D5D-79A1-4B35-AB95-C69D37823903}"/>
              </a:ext>
            </a:extLst>
          </p:cNvPr>
          <p:cNvSpPr>
            <a:spLocks noGrp="1"/>
          </p:cNvSpPr>
          <p:nvPr>
            <p:ph type="title"/>
          </p:nvPr>
        </p:nvSpPr>
        <p:spPr>
          <a:xfrm>
            <a:off x="586409" y="351874"/>
            <a:ext cx="10515600" cy="602284"/>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8DE86B02-30D7-4A59-AD6E-499222406802}"/>
              </a:ext>
            </a:extLst>
          </p:cNvPr>
          <p:cNvSpPr>
            <a:spLocks noGrp="1"/>
          </p:cNvSpPr>
          <p:nvPr>
            <p:ph idx="1"/>
          </p:nvPr>
        </p:nvSpPr>
        <p:spPr>
          <a:xfrm>
            <a:off x="198783" y="1060174"/>
            <a:ext cx="11820939" cy="5445951"/>
          </a:xfrm>
        </p:spPr>
        <p:txBody>
          <a:bodyPr>
            <a:normAutofit/>
          </a:bodyPr>
          <a:lstStyle/>
          <a:p>
            <a:r>
              <a:rPr lang="en-US" dirty="0"/>
              <a:t>Just as lipids require special handling in the digestive tract to move within a water-based environment, they require similar handling to travel in the bloodstream.</a:t>
            </a:r>
          </a:p>
          <a:p>
            <a:endParaRPr lang="en-US" dirty="0"/>
          </a:p>
          <a:p>
            <a:pPr algn="l"/>
            <a:r>
              <a:rPr lang="en-US" b="0" i="0" u="none" strike="noStrike" baseline="0" dirty="0"/>
              <a:t>The fatty acids of short and medium chain length( &lt; 10 carbons), after their absorption into the intestinal cells, do not undergo any modification.</a:t>
            </a:r>
          </a:p>
          <a:p>
            <a:pPr algn="l"/>
            <a:endParaRPr lang="en-US" b="0" i="0" u="none" strike="noStrike" baseline="0" dirty="0"/>
          </a:p>
          <a:p>
            <a:pPr algn="l"/>
            <a:r>
              <a:rPr lang="en-US" b="0" i="0" u="none" strike="noStrike" baseline="0" dirty="0"/>
              <a:t>They enter the portal circulation and are transported to the liver in a bound form to </a:t>
            </a:r>
            <a:r>
              <a:rPr lang="en-US" b="1" i="0" u="none" strike="noStrike" baseline="0" dirty="0"/>
              <a:t>albumin</a:t>
            </a:r>
            <a:r>
              <a:rPr lang="en-US" b="0" i="0" u="none" strike="noStrike" baseline="0" dirty="0"/>
              <a:t>.</a:t>
            </a:r>
          </a:p>
        </p:txBody>
      </p:sp>
      <p:sp>
        <p:nvSpPr>
          <p:cNvPr id="4" name="Slide Number Placeholder 3"/>
          <p:cNvSpPr>
            <a:spLocks noGrp="1"/>
          </p:cNvSpPr>
          <p:nvPr>
            <p:ph type="sldNum" sz="quarter" idx="12"/>
          </p:nvPr>
        </p:nvSpPr>
        <p:spPr/>
        <p:txBody>
          <a:bodyPr/>
          <a:lstStyle/>
          <a:p>
            <a:fld id="{E5AE5CE0-1CF5-4570-809D-2EE63D725C19}" type="slidenum">
              <a:rPr lang="en-US" smtClean="0"/>
              <a:t>22</a:t>
            </a:fld>
            <a:endParaRPr lang="en-US"/>
          </a:p>
        </p:txBody>
      </p:sp>
    </p:spTree>
    <p:extLst>
      <p:ext uri="{BB962C8B-B14F-4D97-AF65-F5344CB8AC3E}">
        <p14:creationId xmlns:p14="http://schemas.microsoft.com/office/powerpoint/2010/main" val="21846737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49BF5-67C4-4B8F-924C-D9D1211F0E29}"/>
              </a:ext>
            </a:extLst>
          </p:cNvPr>
          <p:cNvSpPr>
            <a:spLocks noGrp="1"/>
          </p:cNvSpPr>
          <p:nvPr>
            <p:ph type="title"/>
          </p:nvPr>
        </p:nvSpPr>
        <p:spPr>
          <a:xfrm>
            <a:off x="838200" y="47078"/>
            <a:ext cx="10515600" cy="315912"/>
          </a:xfrm>
        </p:spPr>
        <p:txBody>
          <a:bodyPr>
            <a:normAutofit fontScale="90000"/>
          </a:bodyPr>
          <a:lstStyle/>
          <a:p>
            <a:r>
              <a:rPr lang="en-US" b="1" dirty="0"/>
              <a:t>Lipids Absorption from the small Intestine</a:t>
            </a:r>
          </a:p>
        </p:txBody>
      </p:sp>
      <p:sp>
        <p:nvSpPr>
          <p:cNvPr id="3" name="Content Placeholder 2">
            <a:extLst>
              <a:ext uri="{FF2B5EF4-FFF2-40B4-BE49-F238E27FC236}">
                <a16:creationId xmlns:a16="http://schemas.microsoft.com/office/drawing/2014/main" id="{777D0984-6CA5-4D98-A35B-91D0D60E54C8}"/>
              </a:ext>
            </a:extLst>
          </p:cNvPr>
          <p:cNvSpPr>
            <a:spLocks noGrp="1"/>
          </p:cNvSpPr>
          <p:nvPr>
            <p:ph idx="1"/>
          </p:nvPr>
        </p:nvSpPr>
        <p:spPr>
          <a:xfrm>
            <a:off x="159026" y="463826"/>
            <a:ext cx="11181636" cy="5751443"/>
          </a:xfrm>
        </p:spPr>
        <p:txBody>
          <a:bodyPr/>
          <a:lstStyle/>
          <a:p>
            <a:r>
              <a:rPr lang="en-US" dirty="0"/>
              <a:t>How will the fats pass through the watery layer of mucus that coats the absorptive lining of the digestive tract? </a:t>
            </a:r>
          </a:p>
          <a:p>
            <a:r>
              <a:rPr lang="en-US" dirty="0"/>
              <a:t>As before, the answer is bile. Bile salts envelop the fatty acids and monoglycerides to form </a:t>
            </a:r>
            <a:r>
              <a:rPr lang="en-US" b="1" dirty="0"/>
              <a:t>micelles.</a:t>
            </a:r>
          </a:p>
          <a:p>
            <a:r>
              <a:rPr lang="en-US" dirty="0"/>
              <a:t>It help the fats get close enough to the microvilli of intestinal cells so that they can be absorbed.</a:t>
            </a:r>
          </a:p>
          <a:p>
            <a:r>
              <a:rPr lang="en-US" dirty="0"/>
              <a:t>The products of fat digestion diffuse across the membrane of the intestinal cells, and bile salts are recycled back to do more work emulsifying fat and forming micelles </a:t>
            </a:r>
            <a:r>
              <a:rPr lang="en-US" b="0" i="0" u="none" strike="noStrike" baseline="0" dirty="0">
                <a:solidFill>
                  <a:srgbClr val="231F20"/>
                </a:solidFill>
              </a:rPr>
              <a:t>(enterohepatic circulation of bile)</a:t>
            </a:r>
            <a:endParaRPr lang="en-US" dirty="0"/>
          </a:p>
        </p:txBody>
      </p:sp>
      <p:pic>
        <p:nvPicPr>
          <p:cNvPr id="4" name="Picture 3">
            <a:extLst>
              <a:ext uri="{FF2B5EF4-FFF2-40B4-BE49-F238E27FC236}">
                <a16:creationId xmlns:a16="http://schemas.microsoft.com/office/drawing/2014/main" id="{53A903CC-BFBC-4F21-B614-9B29407B6915}"/>
              </a:ext>
            </a:extLst>
          </p:cNvPr>
          <p:cNvPicPr>
            <a:picLocks noChangeAspect="1"/>
          </p:cNvPicPr>
          <p:nvPr/>
        </p:nvPicPr>
        <p:blipFill>
          <a:blip r:embed="rId3"/>
          <a:stretch>
            <a:fillRect/>
          </a:stretch>
        </p:blipFill>
        <p:spPr>
          <a:xfrm>
            <a:off x="7202349" y="4306956"/>
            <a:ext cx="4830625" cy="2503965"/>
          </a:xfrm>
          <a:prstGeom prst="rect">
            <a:avLst/>
          </a:prstGeom>
        </p:spPr>
      </p:pic>
      <p:sp>
        <p:nvSpPr>
          <p:cNvPr id="5" name="Slide Number Placeholder 4"/>
          <p:cNvSpPr>
            <a:spLocks noGrp="1"/>
          </p:cNvSpPr>
          <p:nvPr>
            <p:ph type="sldNum" sz="quarter" idx="12"/>
          </p:nvPr>
        </p:nvSpPr>
        <p:spPr/>
        <p:txBody>
          <a:bodyPr/>
          <a:lstStyle/>
          <a:p>
            <a:fld id="{E5AE5CE0-1CF5-4570-809D-2EE63D725C19}" type="slidenum">
              <a:rPr lang="en-US" smtClean="0"/>
              <a:t>23</a:t>
            </a:fld>
            <a:endParaRPr lang="en-US"/>
          </a:p>
        </p:txBody>
      </p:sp>
    </p:spTree>
    <p:extLst>
      <p:ext uri="{BB962C8B-B14F-4D97-AF65-F5344CB8AC3E}">
        <p14:creationId xmlns:p14="http://schemas.microsoft.com/office/powerpoint/2010/main" val="19420771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84625-FBF6-44CB-B017-5061A1250271}"/>
              </a:ext>
            </a:extLst>
          </p:cNvPr>
          <p:cNvSpPr>
            <a:spLocks noGrp="1"/>
          </p:cNvSpPr>
          <p:nvPr>
            <p:ph type="title"/>
          </p:nvPr>
        </p:nvSpPr>
        <p:spPr>
          <a:xfrm>
            <a:off x="838200" y="365126"/>
            <a:ext cx="10515600" cy="178214"/>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75E213E4-63EA-4AD3-A832-FBD972A3E3DE}"/>
              </a:ext>
            </a:extLst>
          </p:cNvPr>
          <p:cNvSpPr>
            <a:spLocks noGrp="1"/>
          </p:cNvSpPr>
          <p:nvPr>
            <p:ph idx="1"/>
          </p:nvPr>
        </p:nvSpPr>
        <p:spPr>
          <a:xfrm>
            <a:off x="291547" y="649357"/>
            <a:ext cx="11794435" cy="6082747"/>
          </a:xfrm>
        </p:spPr>
        <p:txBody>
          <a:bodyPr>
            <a:normAutofit/>
          </a:bodyPr>
          <a:lstStyle/>
          <a:p>
            <a:r>
              <a:rPr lang="en-US" dirty="0"/>
              <a:t>Inside the intestinal cells, the monoglycerides and fatty acids reassemble themselves into triglycerides.</a:t>
            </a:r>
          </a:p>
          <a:p>
            <a:endParaRPr lang="en-US" dirty="0"/>
          </a:p>
          <a:p>
            <a:pPr algn="l"/>
            <a:r>
              <a:rPr lang="en-US" b="0" i="0" u="none" strike="noStrike" baseline="0" dirty="0"/>
              <a:t>The long chain fatty acids are activated by </a:t>
            </a:r>
            <a:r>
              <a:rPr lang="en-US" b="1" i="0" u="none" strike="noStrike" baseline="0" dirty="0" err="1"/>
              <a:t>thiokinase</a:t>
            </a:r>
            <a:r>
              <a:rPr lang="en-US" b="1" i="0" u="none" strike="noStrike" baseline="0" dirty="0"/>
              <a:t> (fatty acyl CoA synthetase)</a:t>
            </a:r>
            <a:r>
              <a:rPr lang="en-US" b="0" i="0" u="none" strike="noStrike" baseline="0" dirty="0"/>
              <a:t> in the intestinal cells.</a:t>
            </a:r>
          </a:p>
          <a:p>
            <a:pPr algn="l"/>
            <a:endParaRPr lang="en-US" b="0" i="0" u="none" strike="noStrike" baseline="0" dirty="0"/>
          </a:p>
          <a:p>
            <a:pPr algn="l"/>
            <a:r>
              <a:rPr lang="en-US" b="0" i="0" u="none" strike="noStrike" baseline="0" dirty="0"/>
              <a:t>The acyl CoA derivatives so formed combine with 2-monoacylglycerols to produce triacylglycerols. </a:t>
            </a:r>
          </a:p>
          <a:p>
            <a:pPr algn="l"/>
            <a:endParaRPr lang="en-US" b="0" i="0" u="none" strike="noStrike" baseline="0" dirty="0"/>
          </a:p>
          <a:p>
            <a:pPr algn="l"/>
            <a:r>
              <a:rPr lang="en-US" b="0" i="0" u="none" strike="noStrike" baseline="0" dirty="0"/>
              <a:t>These reactions are </a:t>
            </a:r>
            <a:r>
              <a:rPr lang="en-US" b="0" i="0" u="none" strike="noStrike" baseline="0" dirty="0" err="1"/>
              <a:t>catalysed</a:t>
            </a:r>
            <a:r>
              <a:rPr lang="en-US" b="0" i="0" u="none" strike="noStrike" baseline="0" dirty="0"/>
              <a:t> by a group of enzymes, namely </a:t>
            </a:r>
            <a:r>
              <a:rPr lang="en-US" b="1" i="0" u="none" strike="noStrike" baseline="0" dirty="0"/>
              <a:t>acyltransferase</a:t>
            </a:r>
          </a:p>
          <a:p>
            <a:pPr algn="l"/>
            <a:endParaRPr lang="en-US" dirty="0"/>
          </a:p>
          <a:p>
            <a:endParaRPr lang="en-US" dirty="0"/>
          </a:p>
        </p:txBody>
      </p:sp>
      <p:sp>
        <p:nvSpPr>
          <p:cNvPr id="4" name="Slide Number Placeholder 3"/>
          <p:cNvSpPr>
            <a:spLocks noGrp="1"/>
          </p:cNvSpPr>
          <p:nvPr>
            <p:ph type="sldNum" sz="quarter" idx="12"/>
          </p:nvPr>
        </p:nvSpPr>
        <p:spPr/>
        <p:txBody>
          <a:bodyPr/>
          <a:lstStyle/>
          <a:p>
            <a:fld id="{E5AE5CE0-1CF5-4570-809D-2EE63D725C19}" type="slidenum">
              <a:rPr lang="en-US" smtClean="0"/>
              <a:t>24</a:t>
            </a:fld>
            <a:endParaRPr lang="en-US"/>
          </a:p>
        </p:txBody>
      </p:sp>
    </p:spTree>
    <p:extLst>
      <p:ext uri="{BB962C8B-B14F-4D97-AF65-F5344CB8AC3E}">
        <p14:creationId xmlns:p14="http://schemas.microsoft.com/office/powerpoint/2010/main" val="26961023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71CA4-B8C9-46DF-912E-089600F7E0E0}"/>
              </a:ext>
            </a:extLst>
          </p:cNvPr>
          <p:cNvSpPr>
            <a:spLocks noGrp="1"/>
          </p:cNvSpPr>
          <p:nvPr>
            <p:ph type="title"/>
          </p:nvPr>
        </p:nvSpPr>
        <p:spPr>
          <a:xfrm>
            <a:off x="838200" y="365126"/>
            <a:ext cx="10515600" cy="315912"/>
          </a:xfrm>
        </p:spPr>
        <p:txBody>
          <a:bodyPr>
            <a:normAutofit fontScale="90000"/>
          </a:bodyPr>
          <a:lstStyle/>
          <a:p>
            <a:r>
              <a:rPr lang="en-US" dirty="0"/>
              <a:t>Lipids Transport</a:t>
            </a:r>
          </a:p>
        </p:txBody>
      </p:sp>
      <p:sp>
        <p:nvSpPr>
          <p:cNvPr id="3" name="Content Placeholder 2">
            <a:extLst>
              <a:ext uri="{FF2B5EF4-FFF2-40B4-BE49-F238E27FC236}">
                <a16:creationId xmlns:a16="http://schemas.microsoft.com/office/drawing/2014/main" id="{48BB1C97-6E0B-443F-9538-27DE61A00089}"/>
              </a:ext>
            </a:extLst>
          </p:cNvPr>
          <p:cNvSpPr>
            <a:spLocks noGrp="1"/>
          </p:cNvSpPr>
          <p:nvPr>
            <p:ph idx="1"/>
          </p:nvPr>
        </p:nvSpPr>
        <p:spPr>
          <a:xfrm>
            <a:off x="251791" y="1126435"/>
            <a:ext cx="11728174" cy="5499652"/>
          </a:xfrm>
        </p:spPr>
        <p:txBody>
          <a:bodyPr>
            <a:normAutofit lnSpcReduction="10000"/>
          </a:bodyPr>
          <a:lstStyle/>
          <a:p>
            <a:r>
              <a:rPr lang="en-US" dirty="0"/>
              <a:t>The interior of a lipoprotein—called the </a:t>
            </a:r>
            <a:r>
              <a:rPr lang="en-US" b="1" dirty="0"/>
              <a:t>lipid core</a:t>
            </a:r>
            <a:r>
              <a:rPr lang="en-US" dirty="0"/>
              <a:t>—carries the </a:t>
            </a:r>
            <a:r>
              <a:rPr lang="en-US" b="1" dirty="0"/>
              <a:t>triglycerides</a:t>
            </a:r>
            <a:r>
              <a:rPr lang="en-US" dirty="0"/>
              <a:t> and </a:t>
            </a:r>
            <a:r>
              <a:rPr lang="en-US" b="1" dirty="0"/>
              <a:t>cholesterol esters</a:t>
            </a:r>
            <a:r>
              <a:rPr lang="en-US" dirty="0"/>
              <a:t>, both of which are insoluble in water.</a:t>
            </a:r>
          </a:p>
          <a:p>
            <a:r>
              <a:rPr lang="en-US" dirty="0"/>
              <a:t>The exterior of lipoproteins—called the </a:t>
            </a:r>
            <a:r>
              <a:rPr lang="en-US" b="1" dirty="0"/>
              <a:t>surface coat</a:t>
            </a:r>
            <a:r>
              <a:rPr lang="en-US" dirty="0"/>
              <a:t>—is made up of components that are at least partially soluble in water: </a:t>
            </a:r>
            <a:r>
              <a:rPr lang="en-US" b="1" dirty="0"/>
              <a:t>proteins</a:t>
            </a:r>
            <a:r>
              <a:rPr lang="en-US" dirty="0"/>
              <a:t> (called </a:t>
            </a:r>
            <a:r>
              <a:rPr lang="en-US" b="1" i="1" dirty="0"/>
              <a:t>apolipoproteins</a:t>
            </a:r>
            <a:r>
              <a:rPr lang="en-US" dirty="0"/>
              <a:t>), </a:t>
            </a:r>
            <a:r>
              <a:rPr lang="en-US" b="1" dirty="0"/>
              <a:t>phospholipids</a:t>
            </a:r>
            <a:r>
              <a:rPr lang="en-US" dirty="0"/>
              <a:t>, and </a:t>
            </a:r>
            <a:r>
              <a:rPr lang="en-US" b="1" dirty="0"/>
              <a:t>unesterified cholesterol</a:t>
            </a:r>
            <a:r>
              <a:rPr lang="en-US" dirty="0"/>
              <a:t>.</a:t>
            </a:r>
          </a:p>
          <a:p>
            <a:r>
              <a:rPr lang="en-US" dirty="0"/>
              <a:t>Together they form a chylomicron, which is a large lipoprotein that now enters the lymphatic system and will soon be released into the bloodstream</a:t>
            </a:r>
          </a:p>
          <a:p>
            <a:r>
              <a:rPr lang="en-US" dirty="0"/>
              <a:t>The phospholipids are oriented so that their water-soluble heads are pointed to the exterior, and their fat-soluble tails are pointed towards the interior of the lipoprotein.</a:t>
            </a:r>
          </a:p>
          <a:p>
            <a:r>
              <a:rPr lang="en-US" dirty="0"/>
              <a:t> </a:t>
            </a:r>
            <a:r>
              <a:rPr lang="en-US" dirty="0" err="1"/>
              <a:t>Apoliproteins</a:t>
            </a:r>
            <a:r>
              <a:rPr lang="en-US" dirty="0"/>
              <a:t> are similarly amphipathic (soluble in both fat and water), a property that makes them useful for aiding in the transport of lipids in the blood.</a:t>
            </a:r>
          </a:p>
          <a:p>
            <a:endParaRPr lang="en-US" dirty="0"/>
          </a:p>
        </p:txBody>
      </p:sp>
      <p:sp>
        <p:nvSpPr>
          <p:cNvPr id="4" name="Slide Number Placeholder 3"/>
          <p:cNvSpPr>
            <a:spLocks noGrp="1"/>
          </p:cNvSpPr>
          <p:nvPr>
            <p:ph type="sldNum" sz="quarter" idx="12"/>
          </p:nvPr>
        </p:nvSpPr>
        <p:spPr/>
        <p:txBody>
          <a:bodyPr/>
          <a:lstStyle/>
          <a:p>
            <a:fld id="{E5AE5CE0-1CF5-4570-809D-2EE63D725C19}" type="slidenum">
              <a:rPr lang="en-US" smtClean="0"/>
              <a:t>25</a:t>
            </a:fld>
            <a:endParaRPr lang="en-US"/>
          </a:p>
        </p:txBody>
      </p:sp>
    </p:spTree>
    <p:extLst>
      <p:ext uri="{BB962C8B-B14F-4D97-AF65-F5344CB8AC3E}">
        <p14:creationId xmlns:p14="http://schemas.microsoft.com/office/powerpoint/2010/main" val="40429675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DFF9B-5D67-4AE7-9635-75867148FE0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B57C2D4-F550-440F-A018-626FC2D7F695}"/>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A44A9270-7E4B-463E-9758-D8D315493E02}"/>
              </a:ext>
            </a:extLst>
          </p:cNvPr>
          <p:cNvPicPr>
            <a:picLocks noChangeAspect="1"/>
          </p:cNvPicPr>
          <p:nvPr/>
        </p:nvPicPr>
        <p:blipFill>
          <a:blip r:embed="rId2"/>
          <a:stretch>
            <a:fillRect/>
          </a:stretch>
        </p:blipFill>
        <p:spPr>
          <a:xfrm>
            <a:off x="838200" y="1272209"/>
            <a:ext cx="9631017" cy="4108174"/>
          </a:xfrm>
          <a:prstGeom prst="rect">
            <a:avLst/>
          </a:prstGeom>
        </p:spPr>
      </p:pic>
      <p:sp>
        <p:nvSpPr>
          <p:cNvPr id="6" name="TextBox 5">
            <a:extLst>
              <a:ext uri="{FF2B5EF4-FFF2-40B4-BE49-F238E27FC236}">
                <a16:creationId xmlns:a16="http://schemas.microsoft.com/office/drawing/2014/main" id="{FE77BA29-090F-4F04-B28D-AEE5FCCA4544}"/>
              </a:ext>
            </a:extLst>
          </p:cNvPr>
          <p:cNvSpPr txBox="1"/>
          <p:nvPr/>
        </p:nvSpPr>
        <p:spPr>
          <a:xfrm>
            <a:off x="2968486" y="5314120"/>
            <a:ext cx="4602607" cy="523220"/>
          </a:xfrm>
          <a:prstGeom prst="rect">
            <a:avLst/>
          </a:prstGeom>
          <a:noFill/>
        </p:spPr>
        <p:txBody>
          <a:bodyPr wrap="none" rtlCol="0">
            <a:spAutoFit/>
          </a:bodyPr>
          <a:lstStyle/>
          <a:p>
            <a:r>
              <a:rPr lang="en-US" sz="2800" b="1" dirty="0"/>
              <a:t>Basic Structure of Lipoprotein</a:t>
            </a:r>
          </a:p>
        </p:txBody>
      </p:sp>
      <p:sp>
        <p:nvSpPr>
          <p:cNvPr id="4" name="Slide Number Placeholder 3"/>
          <p:cNvSpPr>
            <a:spLocks noGrp="1"/>
          </p:cNvSpPr>
          <p:nvPr>
            <p:ph type="sldNum" sz="quarter" idx="12"/>
          </p:nvPr>
        </p:nvSpPr>
        <p:spPr/>
        <p:txBody>
          <a:bodyPr/>
          <a:lstStyle/>
          <a:p>
            <a:fld id="{E5AE5CE0-1CF5-4570-809D-2EE63D725C19}" type="slidenum">
              <a:rPr lang="en-US" smtClean="0"/>
              <a:t>26</a:t>
            </a:fld>
            <a:endParaRPr lang="en-US"/>
          </a:p>
        </p:txBody>
      </p:sp>
    </p:spTree>
    <p:extLst>
      <p:ext uri="{BB962C8B-B14F-4D97-AF65-F5344CB8AC3E}">
        <p14:creationId xmlns:p14="http://schemas.microsoft.com/office/powerpoint/2010/main" val="963953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EB14B-DAE9-480A-BED8-198AA41EB10B}"/>
              </a:ext>
            </a:extLst>
          </p:cNvPr>
          <p:cNvSpPr>
            <a:spLocks noGrp="1"/>
          </p:cNvSpPr>
          <p:nvPr>
            <p:ph type="title"/>
          </p:nvPr>
        </p:nvSpPr>
        <p:spPr>
          <a:xfrm>
            <a:off x="331303" y="113334"/>
            <a:ext cx="11661914" cy="999849"/>
          </a:xfrm>
        </p:spPr>
        <p:txBody>
          <a:bodyPr>
            <a:normAutofit fontScale="90000"/>
          </a:bodyPr>
          <a:lstStyle/>
          <a:p>
            <a:r>
              <a:rPr lang="en-US" sz="3600" b="1" dirty="0"/>
              <a:t>Chylomicrons Deliver Lipids to Cells for Utilization and Storage</a:t>
            </a:r>
            <a:br>
              <a:rPr lang="en-US" sz="3600" b="1" dirty="0"/>
            </a:br>
            <a:endParaRPr lang="en-US" sz="3600" b="1" dirty="0"/>
          </a:p>
        </p:txBody>
      </p:sp>
      <p:sp>
        <p:nvSpPr>
          <p:cNvPr id="3" name="Content Placeholder 2">
            <a:extLst>
              <a:ext uri="{FF2B5EF4-FFF2-40B4-BE49-F238E27FC236}">
                <a16:creationId xmlns:a16="http://schemas.microsoft.com/office/drawing/2014/main" id="{00AC63FD-BC94-4B7B-A141-921D75E48F2E}"/>
              </a:ext>
            </a:extLst>
          </p:cNvPr>
          <p:cNvSpPr>
            <a:spLocks noGrp="1"/>
          </p:cNvSpPr>
          <p:nvPr>
            <p:ph idx="1"/>
          </p:nvPr>
        </p:nvSpPr>
        <p:spPr>
          <a:xfrm>
            <a:off x="106017" y="834886"/>
            <a:ext cx="11887200" cy="5909780"/>
          </a:xfrm>
        </p:spPr>
        <p:txBody>
          <a:bodyPr>
            <a:normAutofit/>
          </a:bodyPr>
          <a:lstStyle/>
          <a:p>
            <a:r>
              <a:rPr lang="en-US" b="1" dirty="0"/>
              <a:t>The job of chylomicrons is to deliver triglycerides (originating from digested food) to the cells of the body</a:t>
            </a:r>
            <a:r>
              <a:rPr lang="en-US" dirty="0"/>
              <a:t>, where they can be used as an energy source or stored in adipose tissue for future use.</a:t>
            </a:r>
          </a:p>
          <a:p>
            <a:r>
              <a:rPr lang="en-US" dirty="0"/>
              <a:t>An enzyme called </a:t>
            </a:r>
            <a:r>
              <a:rPr lang="en-US" b="1" i="1" dirty="0"/>
              <a:t>lipoprotein lipase</a:t>
            </a:r>
            <a:r>
              <a:rPr lang="en-US" dirty="0"/>
              <a:t> sits on the surface of cells that line the blood vessels.</a:t>
            </a:r>
          </a:p>
          <a:p>
            <a:r>
              <a:rPr lang="en-US" dirty="0"/>
              <a:t> It breaks down triglycerides into fatty acids and glycerol, which can then enter nearby cells. </a:t>
            </a:r>
          </a:p>
          <a:p>
            <a:r>
              <a:rPr lang="en-US" dirty="0"/>
              <a:t>If those cells need energy right away, they’ll oxidize the fatty acids to generate ATP. If they don’t need energy right away, they’ll reassemble the fatty acids and glycerol into triglycerides and store them for later use.</a:t>
            </a:r>
          </a:p>
          <a:p>
            <a:r>
              <a:rPr lang="en-US" dirty="0"/>
              <a:t>As triglycerides are removed from the chylomicrons, they become smaller. These chylomicron remnants travel to the liver, where they’re disassembled.</a:t>
            </a:r>
          </a:p>
        </p:txBody>
      </p:sp>
      <p:sp>
        <p:nvSpPr>
          <p:cNvPr id="4" name="Slide Number Placeholder 3"/>
          <p:cNvSpPr>
            <a:spLocks noGrp="1"/>
          </p:cNvSpPr>
          <p:nvPr>
            <p:ph type="sldNum" sz="quarter" idx="12"/>
          </p:nvPr>
        </p:nvSpPr>
        <p:spPr/>
        <p:txBody>
          <a:bodyPr/>
          <a:lstStyle/>
          <a:p>
            <a:fld id="{E5AE5CE0-1CF5-4570-809D-2EE63D725C19}" type="slidenum">
              <a:rPr lang="en-US" smtClean="0"/>
              <a:t>27</a:t>
            </a:fld>
            <a:endParaRPr lang="en-US"/>
          </a:p>
        </p:txBody>
      </p:sp>
    </p:spTree>
    <p:extLst>
      <p:ext uri="{BB962C8B-B14F-4D97-AF65-F5344CB8AC3E}">
        <p14:creationId xmlns:p14="http://schemas.microsoft.com/office/powerpoint/2010/main" val="40965033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092BE83-E9C2-E0BE-601B-EAEC23A0D00B}"/>
              </a:ext>
            </a:extLst>
          </p:cNvPr>
          <p:cNvSpPr>
            <a:spLocks noGrp="1"/>
          </p:cNvSpPr>
          <p:nvPr>
            <p:ph type="sldNum" sz="quarter" idx="12"/>
          </p:nvPr>
        </p:nvSpPr>
        <p:spPr/>
        <p:txBody>
          <a:bodyPr/>
          <a:lstStyle/>
          <a:p>
            <a:fld id="{E5AE5CE0-1CF5-4570-809D-2EE63D725C19}" type="slidenum">
              <a:rPr lang="en-US" smtClean="0"/>
              <a:t>28</a:t>
            </a:fld>
            <a:endParaRPr lang="en-US"/>
          </a:p>
        </p:txBody>
      </p:sp>
      <p:pic>
        <p:nvPicPr>
          <p:cNvPr id="6" name="Picture 5">
            <a:extLst>
              <a:ext uri="{FF2B5EF4-FFF2-40B4-BE49-F238E27FC236}">
                <a16:creationId xmlns:a16="http://schemas.microsoft.com/office/drawing/2014/main" id="{F007AD7C-9C29-467D-BE89-912DF3692180}"/>
              </a:ext>
            </a:extLst>
          </p:cNvPr>
          <p:cNvPicPr>
            <a:picLocks noChangeAspect="1"/>
          </p:cNvPicPr>
          <p:nvPr/>
        </p:nvPicPr>
        <p:blipFill>
          <a:blip r:embed="rId3"/>
          <a:stretch>
            <a:fillRect/>
          </a:stretch>
        </p:blipFill>
        <p:spPr>
          <a:xfrm>
            <a:off x="6472517" y="1686895"/>
            <a:ext cx="5257800" cy="3732904"/>
          </a:xfrm>
          <a:prstGeom prst="rect">
            <a:avLst/>
          </a:prstGeom>
        </p:spPr>
      </p:pic>
      <p:pic>
        <p:nvPicPr>
          <p:cNvPr id="5" name="Picture 4">
            <a:extLst>
              <a:ext uri="{FF2B5EF4-FFF2-40B4-BE49-F238E27FC236}">
                <a16:creationId xmlns:a16="http://schemas.microsoft.com/office/drawing/2014/main" id="{A98C33FE-1A40-F101-53E6-AD350ADA04C6}"/>
              </a:ext>
            </a:extLst>
          </p:cNvPr>
          <p:cNvPicPr>
            <a:picLocks noChangeAspect="1"/>
          </p:cNvPicPr>
          <p:nvPr/>
        </p:nvPicPr>
        <p:blipFill>
          <a:blip r:embed="rId4"/>
          <a:stretch>
            <a:fillRect/>
          </a:stretch>
        </p:blipFill>
        <p:spPr>
          <a:xfrm>
            <a:off x="236668" y="136525"/>
            <a:ext cx="6332668" cy="3870698"/>
          </a:xfrm>
          <a:prstGeom prst="rect">
            <a:avLst/>
          </a:prstGeom>
        </p:spPr>
      </p:pic>
      <p:sp>
        <p:nvSpPr>
          <p:cNvPr id="3" name="TextBox 2">
            <a:extLst>
              <a:ext uri="{FF2B5EF4-FFF2-40B4-BE49-F238E27FC236}">
                <a16:creationId xmlns:a16="http://schemas.microsoft.com/office/drawing/2014/main" id="{09911C11-F152-4C1E-EB99-2EC428FCF0A3}"/>
              </a:ext>
            </a:extLst>
          </p:cNvPr>
          <p:cNvSpPr txBox="1"/>
          <p:nvPr/>
        </p:nvSpPr>
        <p:spPr>
          <a:xfrm>
            <a:off x="8610600" y="1253535"/>
            <a:ext cx="2320961" cy="369332"/>
          </a:xfrm>
          <a:prstGeom prst="rect">
            <a:avLst/>
          </a:prstGeom>
          <a:noFill/>
        </p:spPr>
        <p:txBody>
          <a:bodyPr wrap="square">
            <a:spAutoFit/>
          </a:bodyPr>
          <a:lstStyle/>
          <a:p>
            <a:pPr algn="l"/>
            <a:r>
              <a:rPr lang="en-US" sz="1800" b="1" i="0" u="none" strike="noStrike" baseline="0" dirty="0">
                <a:solidFill>
                  <a:srgbClr val="292526"/>
                </a:solidFill>
                <a:latin typeface="Arial" panose="020B0604020202020204" pitchFamily="34" charset="0"/>
              </a:rPr>
              <a:t>Chylomicron</a:t>
            </a:r>
          </a:p>
        </p:txBody>
      </p:sp>
    </p:spTree>
    <p:extLst>
      <p:ext uri="{BB962C8B-B14F-4D97-AF65-F5344CB8AC3E}">
        <p14:creationId xmlns:p14="http://schemas.microsoft.com/office/powerpoint/2010/main" val="14407203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EF135-53A7-47F3-AB69-139AB299B67E}"/>
              </a:ext>
            </a:extLst>
          </p:cNvPr>
          <p:cNvSpPr>
            <a:spLocks noGrp="1"/>
          </p:cNvSpPr>
          <p:nvPr>
            <p:ph type="title"/>
          </p:nvPr>
        </p:nvSpPr>
        <p:spPr>
          <a:xfrm>
            <a:off x="838200" y="365126"/>
            <a:ext cx="10515600" cy="602284"/>
          </a:xfrm>
        </p:spPr>
        <p:txBody>
          <a:bodyPr>
            <a:normAutofit fontScale="90000"/>
          </a:bodyPr>
          <a:lstStyle/>
          <a:p>
            <a:r>
              <a:rPr lang="en-US" b="1" dirty="0"/>
              <a:t>Lipid Transport from the Liver</a:t>
            </a:r>
            <a:br>
              <a:rPr lang="en-US" b="1" dirty="0"/>
            </a:br>
            <a:endParaRPr lang="en-US" dirty="0"/>
          </a:p>
        </p:txBody>
      </p:sp>
      <p:sp>
        <p:nvSpPr>
          <p:cNvPr id="3" name="Content Placeholder 2">
            <a:extLst>
              <a:ext uri="{FF2B5EF4-FFF2-40B4-BE49-F238E27FC236}">
                <a16:creationId xmlns:a16="http://schemas.microsoft.com/office/drawing/2014/main" id="{F14704D0-FAF8-4D43-BE5B-AE031819AB55}"/>
              </a:ext>
            </a:extLst>
          </p:cNvPr>
          <p:cNvSpPr>
            <a:spLocks noGrp="1"/>
          </p:cNvSpPr>
          <p:nvPr>
            <p:ph idx="1"/>
          </p:nvPr>
        </p:nvSpPr>
        <p:spPr>
          <a:xfrm>
            <a:off x="145773" y="911222"/>
            <a:ext cx="11953461" cy="5728115"/>
          </a:xfrm>
        </p:spPr>
        <p:txBody>
          <a:bodyPr>
            <a:normAutofit/>
          </a:bodyPr>
          <a:lstStyle/>
          <a:p>
            <a:r>
              <a:rPr lang="en-US" dirty="0"/>
              <a:t>The contents of chylomicron remnants, as well as other lipids in the liver, are incorporated into another type of lipoprotein called </a:t>
            </a:r>
            <a:r>
              <a:rPr lang="en-US" b="1" i="1" dirty="0"/>
              <a:t>very-low-density lipoprotein (VLDL)</a:t>
            </a:r>
            <a:r>
              <a:rPr lang="en-US" dirty="0"/>
              <a:t>. </a:t>
            </a:r>
          </a:p>
          <a:p>
            <a:r>
              <a:rPr lang="en-US" dirty="0"/>
              <a:t>The main job of VLDL is delivering triglycerides to the body’s cells, and lipoprotein lipase again helps to break down the triglycerides so that they can enter cells</a:t>
            </a:r>
          </a:p>
          <a:p>
            <a:r>
              <a:rPr lang="en-US" dirty="0"/>
              <a:t>As triglycerides are removed from VLDL, they get smaller and more dense, because they now contain relatively more protein compared to triglycerides.</a:t>
            </a:r>
          </a:p>
          <a:p>
            <a:r>
              <a:rPr lang="en-US" dirty="0"/>
              <a:t>They become </a:t>
            </a:r>
            <a:r>
              <a:rPr lang="en-US" b="1" i="1" dirty="0"/>
              <a:t>intermediate-density lipoproteins (IDL)</a:t>
            </a:r>
            <a:r>
              <a:rPr lang="en-US" dirty="0"/>
              <a:t> and eventually</a:t>
            </a:r>
            <a:r>
              <a:rPr lang="en-US" b="1" i="1" dirty="0"/>
              <a:t> low-density lipoproteins (LDL)</a:t>
            </a:r>
            <a:r>
              <a:rPr lang="en-US" dirty="0"/>
              <a:t>.</a:t>
            </a:r>
          </a:p>
          <a:p>
            <a:r>
              <a:rPr lang="en-US" dirty="0"/>
              <a:t>The main job of LDL is to deliver cholesterol to the body’s cells. </a:t>
            </a:r>
          </a:p>
        </p:txBody>
      </p:sp>
      <p:sp>
        <p:nvSpPr>
          <p:cNvPr id="4" name="Slide Number Placeholder 3"/>
          <p:cNvSpPr>
            <a:spLocks noGrp="1"/>
          </p:cNvSpPr>
          <p:nvPr>
            <p:ph type="sldNum" sz="quarter" idx="12"/>
          </p:nvPr>
        </p:nvSpPr>
        <p:spPr/>
        <p:txBody>
          <a:bodyPr/>
          <a:lstStyle/>
          <a:p>
            <a:fld id="{E5AE5CE0-1CF5-4570-809D-2EE63D725C19}" type="slidenum">
              <a:rPr lang="en-US" smtClean="0"/>
              <a:t>29</a:t>
            </a:fld>
            <a:endParaRPr lang="en-US"/>
          </a:p>
        </p:txBody>
      </p:sp>
    </p:spTree>
    <p:extLst>
      <p:ext uri="{BB962C8B-B14F-4D97-AF65-F5344CB8AC3E}">
        <p14:creationId xmlns:p14="http://schemas.microsoft.com/office/powerpoint/2010/main" val="37294368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63FC01-F0AC-4D00-876B-745243B58837}"/>
              </a:ext>
            </a:extLst>
          </p:cNvPr>
          <p:cNvSpPr>
            <a:spLocks noGrp="1"/>
          </p:cNvSpPr>
          <p:nvPr>
            <p:ph idx="1"/>
          </p:nvPr>
        </p:nvSpPr>
        <p:spPr>
          <a:xfrm>
            <a:off x="172277" y="89589"/>
            <a:ext cx="11794435" cy="4351338"/>
          </a:xfrm>
        </p:spPr>
        <p:txBody>
          <a:bodyPr/>
          <a:lstStyle/>
          <a:p>
            <a:r>
              <a:rPr lang="en-US" b="1" i="1" dirty="0"/>
              <a:t>High-density lipoproteins (HDL)</a:t>
            </a:r>
            <a:r>
              <a:rPr lang="en-US" dirty="0"/>
              <a:t> are made in the liver and gastrointestinal tract. They’re mostly made up of protein, so they’re very dense. Their job is to pick up cholesterol from the body’s cells and return it to the liver for disposal.</a:t>
            </a:r>
          </a:p>
        </p:txBody>
      </p:sp>
      <p:pic>
        <p:nvPicPr>
          <p:cNvPr id="5" name="Picture 4">
            <a:extLst>
              <a:ext uri="{FF2B5EF4-FFF2-40B4-BE49-F238E27FC236}">
                <a16:creationId xmlns:a16="http://schemas.microsoft.com/office/drawing/2014/main" id="{7996F9A3-061C-4C3A-ADD7-25D40FBA4204}"/>
              </a:ext>
            </a:extLst>
          </p:cNvPr>
          <p:cNvPicPr>
            <a:picLocks noChangeAspect="1"/>
          </p:cNvPicPr>
          <p:nvPr/>
        </p:nvPicPr>
        <p:blipFill>
          <a:blip r:embed="rId2"/>
          <a:stretch>
            <a:fillRect/>
          </a:stretch>
        </p:blipFill>
        <p:spPr>
          <a:xfrm>
            <a:off x="556592" y="1391479"/>
            <a:ext cx="10800522" cy="5247860"/>
          </a:xfrm>
          <a:prstGeom prst="rect">
            <a:avLst/>
          </a:prstGeom>
        </p:spPr>
      </p:pic>
      <p:sp>
        <p:nvSpPr>
          <p:cNvPr id="2" name="Slide Number Placeholder 1"/>
          <p:cNvSpPr>
            <a:spLocks noGrp="1"/>
          </p:cNvSpPr>
          <p:nvPr>
            <p:ph type="sldNum" sz="quarter" idx="12"/>
          </p:nvPr>
        </p:nvSpPr>
        <p:spPr/>
        <p:txBody>
          <a:bodyPr/>
          <a:lstStyle/>
          <a:p>
            <a:fld id="{E5AE5CE0-1CF5-4570-809D-2EE63D725C19}" type="slidenum">
              <a:rPr lang="en-US" smtClean="0"/>
              <a:t>30</a:t>
            </a:fld>
            <a:endParaRPr lang="en-US"/>
          </a:p>
        </p:txBody>
      </p:sp>
    </p:spTree>
    <p:extLst>
      <p:ext uri="{BB962C8B-B14F-4D97-AF65-F5344CB8AC3E}">
        <p14:creationId xmlns:p14="http://schemas.microsoft.com/office/powerpoint/2010/main" val="36783463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C665F-CDFB-4A1E-8296-BF56DA5ACC0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F254117-AF5E-4D79-8C7F-20125FA3EADC}"/>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D3826006-3523-41B1-ABB1-8482880F3271}"/>
              </a:ext>
            </a:extLst>
          </p:cNvPr>
          <p:cNvPicPr>
            <a:picLocks noChangeAspect="1"/>
          </p:cNvPicPr>
          <p:nvPr/>
        </p:nvPicPr>
        <p:blipFill>
          <a:blip r:embed="rId3"/>
          <a:stretch>
            <a:fillRect/>
          </a:stretch>
        </p:blipFill>
        <p:spPr>
          <a:xfrm>
            <a:off x="838200" y="240946"/>
            <a:ext cx="9246704" cy="4984749"/>
          </a:xfrm>
          <a:prstGeom prst="rect">
            <a:avLst/>
          </a:prstGeom>
        </p:spPr>
      </p:pic>
      <p:sp>
        <p:nvSpPr>
          <p:cNvPr id="7" name="TextBox 6">
            <a:extLst>
              <a:ext uri="{FF2B5EF4-FFF2-40B4-BE49-F238E27FC236}">
                <a16:creationId xmlns:a16="http://schemas.microsoft.com/office/drawing/2014/main" id="{622E715B-7262-489D-A9B4-4FFF9B5C82BF}"/>
              </a:ext>
            </a:extLst>
          </p:cNvPr>
          <p:cNvSpPr txBox="1"/>
          <p:nvPr/>
        </p:nvSpPr>
        <p:spPr>
          <a:xfrm>
            <a:off x="2213113" y="5367996"/>
            <a:ext cx="6930887" cy="523220"/>
          </a:xfrm>
          <a:prstGeom prst="rect">
            <a:avLst/>
          </a:prstGeom>
          <a:noFill/>
        </p:spPr>
        <p:txBody>
          <a:bodyPr wrap="square">
            <a:spAutoFit/>
          </a:bodyPr>
          <a:lstStyle/>
          <a:p>
            <a:r>
              <a:rPr lang="en-US" sz="2800" b="1" dirty="0"/>
              <a:t>Comparison of composition of lipoproteins</a:t>
            </a:r>
          </a:p>
        </p:txBody>
      </p:sp>
      <p:sp>
        <p:nvSpPr>
          <p:cNvPr id="4" name="Slide Number Placeholder 3"/>
          <p:cNvSpPr>
            <a:spLocks noGrp="1"/>
          </p:cNvSpPr>
          <p:nvPr>
            <p:ph type="sldNum" sz="quarter" idx="12"/>
          </p:nvPr>
        </p:nvSpPr>
        <p:spPr/>
        <p:txBody>
          <a:bodyPr/>
          <a:lstStyle/>
          <a:p>
            <a:fld id="{E5AE5CE0-1CF5-4570-809D-2EE63D725C19}" type="slidenum">
              <a:rPr lang="en-US" smtClean="0"/>
              <a:t>31</a:t>
            </a:fld>
            <a:endParaRPr lang="en-US"/>
          </a:p>
        </p:txBody>
      </p:sp>
    </p:spTree>
    <p:extLst>
      <p:ext uri="{BB962C8B-B14F-4D97-AF65-F5344CB8AC3E}">
        <p14:creationId xmlns:p14="http://schemas.microsoft.com/office/powerpoint/2010/main" val="21572698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182562"/>
          </a:xfrm>
        </p:spPr>
        <p:txBody>
          <a:bodyPr>
            <a:normAutofit fontScale="90000"/>
          </a:bodyPr>
          <a:lstStyle/>
          <a:p>
            <a:r>
              <a:rPr lang="en-US" dirty="0"/>
              <a:t>Lipid profile in human</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919704438"/>
              </p:ext>
            </p:extLst>
          </p:nvPr>
        </p:nvGraphicFramePr>
        <p:xfrm>
          <a:off x="636104" y="1295398"/>
          <a:ext cx="10972800" cy="4648203"/>
        </p:xfrm>
        <a:graphic>
          <a:graphicData uri="http://schemas.openxmlformats.org/drawingml/2006/table">
            <a:tbl>
              <a:tblPr firstRow="1" bandRow="1">
                <a:tableStyleId>{5C22544A-7EE6-4342-B048-85BDC9FD1C3A}</a:tableStyleId>
              </a:tblPr>
              <a:tblGrid>
                <a:gridCol w="54864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516467">
                <a:tc>
                  <a:txBody>
                    <a:bodyPr/>
                    <a:lstStyle/>
                    <a:p>
                      <a:r>
                        <a:rPr lang="en-US" b="1" dirty="0"/>
                        <a:t>Lipid Fractions</a:t>
                      </a:r>
                    </a:p>
                  </a:txBody>
                  <a:tcPr/>
                </a:tc>
                <a:tc>
                  <a:txBody>
                    <a:bodyPr/>
                    <a:lstStyle/>
                    <a:p>
                      <a:r>
                        <a:rPr lang="en-US" b="1" dirty="0"/>
                        <a:t>Reference value (mg/dl)</a:t>
                      </a:r>
                    </a:p>
                  </a:txBody>
                  <a:tcPr/>
                </a:tc>
                <a:extLst>
                  <a:ext uri="{0D108BD9-81ED-4DB2-BD59-A6C34878D82A}">
                    <a16:rowId xmlns:a16="http://schemas.microsoft.com/office/drawing/2014/main" val="10000"/>
                  </a:ext>
                </a:extLst>
              </a:tr>
              <a:tr h="516467">
                <a:tc>
                  <a:txBody>
                    <a:bodyPr/>
                    <a:lstStyle/>
                    <a:p>
                      <a:r>
                        <a:rPr lang="en-US" sz="1800" b="1" i="0" u="none" strike="noStrike" kern="1200" baseline="0" dirty="0">
                          <a:solidFill>
                            <a:schemeClr val="dk1"/>
                          </a:solidFill>
                          <a:latin typeface="+mn-lt"/>
                          <a:ea typeface="+mn-ea"/>
                          <a:cs typeface="+mn-cs"/>
                        </a:rPr>
                        <a:t>Total lipid</a:t>
                      </a:r>
                      <a:endParaRPr lang="en-US" b="1" dirty="0"/>
                    </a:p>
                  </a:txBody>
                  <a:tcPr/>
                </a:tc>
                <a:tc>
                  <a:txBody>
                    <a:bodyPr/>
                    <a:lstStyle/>
                    <a:p>
                      <a:r>
                        <a:rPr lang="en-US" b="1" dirty="0"/>
                        <a:t>400-600</a:t>
                      </a:r>
                    </a:p>
                  </a:txBody>
                  <a:tcPr/>
                </a:tc>
                <a:extLst>
                  <a:ext uri="{0D108BD9-81ED-4DB2-BD59-A6C34878D82A}">
                    <a16:rowId xmlns:a16="http://schemas.microsoft.com/office/drawing/2014/main" val="10001"/>
                  </a:ext>
                </a:extLst>
              </a:tr>
              <a:tr h="516467">
                <a:tc>
                  <a:txBody>
                    <a:bodyPr/>
                    <a:lstStyle/>
                    <a:p>
                      <a:r>
                        <a:rPr lang="en-US" sz="1800" b="1" i="0" u="none" strike="noStrike" kern="1200" baseline="0" dirty="0">
                          <a:solidFill>
                            <a:schemeClr val="dk1"/>
                          </a:solidFill>
                          <a:latin typeface="+mn-lt"/>
                          <a:ea typeface="+mn-ea"/>
                          <a:cs typeface="+mn-cs"/>
                        </a:rPr>
                        <a:t>Total Cholesterol</a:t>
                      </a:r>
                      <a:endParaRPr lang="en-US" b="1" dirty="0"/>
                    </a:p>
                  </a:txBody>
                  <a:tcPr/>
                </a:tc>
                <a:tc>
                  <a:txBody>
                    <a:bodyPr/>
                    <a:lstStyle/>
                    <a:p>
                      <a:r>
                        <a:rPr lang="en-US" b="1" dirty="0"/>
                        <a:t>150-200</a:t>
                      </a:r>
                    </a:p>
                  </a:txBody>
                  <a:tcPr/>
                </a:tc>
                <a:extLst>
                  <a:ext uri="{0D108BD9-81ED-4DB2-BD59-A6C34878D82A}">
                    <a16:rowId xmlns:a16="http://schemas.microsoft.com/office/drawing/2014/main" val="10002"/>
                  </a:ext>
                </a:extLst>
              </a:tr>
              <a:tr h="516467">
                <a:tc>
                  <a:txBody>
                    <a:bodyPr/>
                    <a:lstStyle/>
                    <a:p>
                      <a:r>
                        <a:rPr lang="en-US" b="1" dirty="0"/>
                        <a:t>LDL Cholesterol</a:t>
                      </a:r>
                    </a:p>
                  </a:txBody>
                  <a:tcPr/>
                </a:tc>
                <a:tc>
                  <a:txBody>
                    <a:bodyPr/>
                    <a:lstStyle/>
                    <a:p>
                      <a:r>
                        <a:rPr lang="en-US" b="1" dirty="0"/>
                        <a:t>80-150</a:t>
                      </a:r>
                    </a:p>
                  </a:txBody>
                  <a:tcPr/>
                </a:tc>
                <a:extLst>
                  <a:ext uri="{0D108BD9-81ED-4DB2-BD59-A6C34878D82A}">
                    <a16:rowId xmlns:a16="http://schemas.microsoft.com/office/drawing/2014/main" val="10003"/>
                  </a:ext>
                </a:extLst>
              </a:tr>
              <a:tr h="516467">
                <a:tc>
                  <a:txBody>
                    <a:bodyPr/>
                    <a:lstStyle/>
                    <a:p>
                      <a:r>
                        <a:rPr lang="en-US" b="1" dirty="0"/>
                        <a:t>HDL</a:t>
                      </a:r>
                    </a:p>
                  </a:txBody>
                  <a:tcPr/>
                </a:tc>
                <a:tc>
                  <a:txBody>
                    <a:bodyPr/>
                    <a:lstStyle/>
                    <a:p>
                      <a:r>
                        <a:rPr lang="en-US" b="1" dirty="0"/>
                        <a:t>30-60</a:t>
                      </a:r>
                    </a:p>
                  </a:txBody>
                  <a:tcPr/>
                </a:tc>
                <a:extLst>
                  <a:ext uri="{0D108BD9-81ED-4DB2-BD59-A6C34878D82A}">
                    <a16:rowId xmlns:a16="http://schemas.microsoft.com/office/drawing/2014/main" val="10004"/>
                  </a:ext>
                </a:extLst>
              </a:tr>
              <a:tr h="516467">
                <a:tc>
                  <a:txBody>
                    <a:bodyPr/>
                    <a:lstStyle/>
                    <a:p>
                      <a:r>
                        <a:rPr lang="en-US" b="1" dirty="0"/>
                        <a:t>VLDL</a:t>
                      </a:r>
                    </a:p>
                  </a:txBody>
                  <a:tcPr/>
                </a:tc>
                <a:tc>
                  <a:txBody>
                    <a:bodyPr/>
                    <a:lstStyle/>
                    <a:p>
                      <a:r>
                        <a:rPr lang="en-US" b="1" dirty="0"/>
                        <a:t>20-40</a:t>
                      </a:r>
                    </a:p>
                  </a:txBody>
                  <a:tcPr/>
                </a:tc>
                <a:extLst>
                  <a:ext uri="{0D108BD9-81ED-4DB2-BD59-A6C34878D82A}">
                    <a16:rowId xmlns:a16="http://schemas.microsoft.com/office/drawing/2014/main" val="10005"/>
                  </a:ext>
                </a:extLst>
              </a:tr>
              <a:tr h="516467">
                <a:tc>
                  <a:txBody>
                    <a:bodyPr/>
                    <a:lstStyle/>
                    <a:p>
                      <a:r>
                        <a:rPr lang="en-US" b="1" dirty="0"/>
                        <a:t>TAG</a:t>
                      </a:r>
                    </a:p>
                  </a:txBody>
                  <a:tcPr/>
                </a:tc>
                <a:tc>
                  <a:txBody>
                    <a:bodyPr/>
                    <a:lstStyle/>
                    <a:p>
                      <a:r>
                        <a:rPr lang="en-US" b="1" dirty="0"/>
                        <a:t>70-150</a:t>
                      </a:r>
                    </a:p>
                  </a:txBody>
                  <a:tcPr/>
                </a:tc>
                <a:extLst>
                  <a:ext uri="{0D108BD9-81ED-4DB2-BD59-A6C34878D82A}">
                    <a16:rowId xmlns:a16="http://schemas.microsoft.com/office/drawing/2014/main" val="10006"/>
                  </a:ext>
                </a:extLst>
              </a:tr>
              <a:tr h="516467">
                <a:tc>
                  <a:txBody>
                    <a:bodyPr/>
                    <a:lstStyle/>
                    <a:p>
                      <a:r>
                        <a:rPr lang="en-US" b="1" dirty="0"/>
                        <a:t>Phospholipids</a:t>
                      </a:r>
                    </a:p>
                  </a:txBody>
                  <a:tcPr/>
                </a:tc>
                <a:tc>
                  <a:txBody>
                    <a:bodyPr/>
                    <a:lstStyle/>
                    <a:p>
                      <a:r>
                        <a:rPr lang="en-US" b="1" dirty="0"/>
                        <a:t>150-200</a:t>
                      </a:r>
                    </a:p>
                  </a:txBody>
                  <a:tcPr/>
                </a:tc>
                <a:extLst>
                  <a:ext uri="{0D108BD9-81ED-4DB2-BD59-A6C34878D82A}">
                    <a16:rowId xmlns:a16="http://schemas.microsoft.com/office/drawing/2014/main" val="10007"/>
                  </a:ext>
                </a:extLst>
              </a:tr>
              <a:tr h="516467">
                <a:tc>
                  <a:txBody>
                    <a:bodyPr/>
                    <a:lstStyle/>
                    <a:p>
                      <a:r>
                        <a:rPr lang="en-US" b="1" dirty="0"/>
                        <a:t>Free fatty acids</a:t>
                      </a:r>
                    </a:p>
                  </a:txBody>
                  <a:tcPr/>
                </a:tc>
                <a:tc>
                  <a:txBody>
                    <a:bodyPr/>
                    <a:lstStyle/>
                    <a:p>
                      <a:r>
                        <a:rPr lang="en-US" b="1" dirty="0"/>
                        <a:t>5-15</a:t>
                      </a:r>
                    </a:p>
                  </a:txBody>
                  <a:tcPr/>
                </a:tc>
                <a:extLst>
                  <a:ext uri="{0D108BD9-81ED-4DB2-BD59-A6C34878D82A}">
                    <a16:rowId xmlns:a16="http://schemas.microsoft.com/office/drawing/2014/main" val="10008"/>
                  </a:ext>
                </a:extLst>
              </a:tr>
            </a:tbl>
          </a:graphicData>
        </a:graphic>
      </p:graphicFrame>
      <p:sp>
        <p:nvSpPr>
          <p:cNvPr id="3" name="Slide Number Placeholder 2"/>
          <p:cNvSpPr>
            <a:spLocks noGrp="1"/>
          </p:cNvSpPr>
          <p:nvPr>
            <p:ph type="sldNum" sz="quarter" idx="12"/>
          </p:nvPr>
        </p:nvSpPr>
        <p:spPr/>
        <p:txBody>
          <a:bodyPr/>
          <a:lstStyle/>
          <a:p>
            <a:fld id="{E5AE5CE0-1CF5-4570-809D-2EE63D725C19}" type="slidenum">
              <a:rPr lang="en-US" smtClean="0"/>
              <a:t>32</a:t>
            </a:fld>
            <a:endParaRPr lang="en-US"/>
          </a:p>
        </p:txBody>
      </p:sp>
    </p:spTree>
    <p:extLst>
      <p:ext uri="{BB962C8B-B14F-4D97-AF65-F5344CB8AC3E}">
        <p14:creationId xmlns:p14="http://schemas.microsoft.com/office/powerpoint/2010/main" val="39600592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18497</TotalTime>
  <Words>2539</Words>
  <Application>Microsoft Office PowerPoint</Application>
  <PresentationFormat>Widescreen</PresentationFormat>
  <Paragraphs>221</Paragraphs>
  <Slides>32</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Arial</vt:lpstr>
      <vt:lpstr>Calibri</vt:lpstr>
      <vt:lpstr>Calibri Light</vt:lpstr>
      <vt:lpstr>ElsevierGulliver</vt:lpstr>
      <vt:lpstr>Times New Roman</vt:lpstr>
      <vt:lpstr>Wingdings</vt:lpstr>
      <vt:lpstr>Office Theme</vt:lpstr>
      <vt:lpstr>Introduction</vt:lpstr>
      <vt:lpstr>PowerPoint Presentation</vt:lpstr>
      <vt:lpstr>PowerPoint Presentation</vt:lpstr>
      <vt:lpstr>PowerPoint Presentation</vt:lpstr>
      <vt:lpstr>Introduction Con’t</vt:lpstr>
      <vt:lpstr>PowerPoint Presentation</vt:lpstr>
      <vt:lpstr> </vt:lpstr>
      <vt:lpstr>PowerPoint Presentation</vt:lpstr>
      <vt:lpstr>Lipid Digestion</vt:lpstr>
      <vt:lpstr>PowerPoint Presentation</vt:lpstr>
      <vt:lpstr>PowerPoint Presentation</vt:lpstr>
      <vt:lpstr>PowerPoint Presentation</vt:lpstr>
      <vt:lpstr>Processing of dietary lipids in vertebrates</vt:lpstr>
      <vt:lpstr>PowerPoint Presentation</vt:lpstr>
      <vt:lpstr>PowerPoint Presentation</vt:lpstr>
      <vt:lpstr>PowerPoint Presentation</vt:lpstr>
      <vt:lpstr>Digestion in the Mouth </vt:lpstr>
      <vt:lpstr>Digestion in the Stomach</vt:lpstr>
      <vt:lpstr>Digestion in the Small Intestine</vt:lpstr>
      <vt:lpstr>PowerPoint Presentation</vt:lpstr>
      <vt:lpstr>PowerPoint Presentation</vt:lpstr>
      <vt:lpstr>PowerPoint Presentation</vt:lpstr>
      <vt:lpstr>Lipids Absorption from the small Intestine</vt:lpstr>
      <vt:lpstr>PowerPoint Presentation</vt:lpstr>
      <vt:lpstr>Lipids Transport</vt:lpstr>
      <vt:lpstr>PowerPoint Presentation</vt:lpstr>
      <vt:lpstr>Chylomicrons Deliver Lipids to Cells for Utilization and Storage </vt:lpstr>
      <vt:lpstr>PowerPoint Presentation</vt:lpstr>
      <vt:lpstr>Lipid Transport from the Liver </vt:lpstr>
      <vt:lpstr>PowerPoint Presentation</vt:lpstr>
      <vt:lpstr>PowerPoint Presentation</vt:lpstr>
      <vt:lpstr>Lipid profile in human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Sandra Ifie</cp:lastModifiedBy>
  <cp:revision>283</cp:revision>
  <dcterms:created xsi:type="dcterms:W3CDTF">2021-02-15T08:50:29Z</dcterms:created>
  <dcterms:modified xsi:type="dcterms:W3CDTF">2025-08-07T20:20:59Z</dcterms:modified>
</cp:coreProperties>
</file>