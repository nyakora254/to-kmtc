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66" r:id="rId4"/>
    <p:sldId id="293" r:id="rId5"/>
    <p:sldId id="294" r:id="rId6"/>
    <p:sldId id="268" r:id="rId7"/>
    <p:sldId id="295" r:id="rId8"/>
    <p:sldId id="315" r:id="rId9"/>
    <p:sldId id="300" r:id="rId10"/>
    <p:sldId id="317" r:id="rId11"/>
    <p:sldId id="321" r:id="rId12"/>
    <p:sldId id="319" r:id="rId13"/>
    <p:sldId id="306" r:id="rId14"/>
    <p:sldId id="281" r:id="rId15"/>
    <p:sldId id="322" r:id="rId16"/>
    <p:sldId id="323" r:id="rId17"/>
    <p:sldId id="325" r:id="rId18"/>
    <p:sldId id="264" r:id="rId19"/>
    <p:sldId id="327" r:id="rId20"/>
    <p:sldId id="328" r:id="rId21"/>
    <p:sldId id="284" r:id="rId22"/>
    <p:sldId id="285" r:id="rId23"/>
    <p:sldId id="286" r:id="rId24"/>
    <p:sldId id="288" r:id="rId25"/>
    <p:sldId id="289" r:id="rId26"/>
    <p:sldId id="290" r:id="rId27"/>
    <p:sldId id="291" r:id="rId28"/>
    <p:sldId id="308" r:id="rId29"/>
    <p:sldId id="309" r:id="rId30"/>
    <p:sldId id="310" r:id="rId31"/>
    <p:sldId id="311" r:id="rId32"/>
    <p:sldId id="329" r:id="rId33"/>
    <p:sldId id="347" r:id="rId34"/>
    <p:sldId id="330" r:id="rId35"/>
    <p:sldId id="332" r:id="rId36"/>
    <p:sldId id="331" r:id="rId37"/>
    <p:sldId id="334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8" r:id="rId46"/>
    <p:sldId id="343" r:id="rId47"/>
    <p:sldId id="350" r:id="rId48"/>
    <p:sldId id="344" r:id="rId49"/>
    <p:sldId id="346" r:id="rId50"/>
    <p:sldId id="349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0856C-06DC-4268-92A7-C22868A99104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59491-A50E-4665-AA2D-31CDD114C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6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559491-A50E-4665-AA2D-31CDD114C50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5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EA97-E712-4F55-A93A-D72162BAEBA4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6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4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24398-62AB-49FA-9BF8-B4AE62AEFFBC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0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9507-EE43-4BCA-BA7D-256B24D250E9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6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0E4C1-799D-4ECE-9776-96D6B3D94AA4}" type="datetime1">
              <a:rPr lang="en-US" smtClean="0"/>
              <a:t>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08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0FC4-38EA-4EE6-8A65-BE0E8895530F}" type="datetime1">
              <a:rPr lang="en-US" smtClean="0"/>
              <a:t>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4876-024B-401A-BE5C-5A7A691B918B}" type="datetime1">
              <a:rPr lang="en-US" smtClean="0"/>
              <a:t>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196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93524-5791-4C30-B666-475D23722C39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2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C96B5-4792-4DDC-9D61-07AAD4436AE0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7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7C8E-98D7-44EB-A594-2B3C0BFA9561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FFE4B-2D1A-4EE8-BA9D-D97C9813272E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7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E3865-7CEE-4423-BDAB-0E4FD0F5119B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@kevin &amp; Gift#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3F727-7C30-4BE5-937B-87A4F60C4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1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645" y="394856"/>
            <a:ext cx="9507681" cy="2784762"/>
          </a:xfrm>
        </p:spPr>
        <p:txBody>
          <a:bodyPr>
            <a:normAutofit/>
          </a:bodyPr>
          <a:lstStyle/>
          <a:p>
            <a:r>
              <a:rPr lang="en-US" b="1" dirty="0" smtClean="0"/>
              <a:t>Molecules, Cells and Organs of the </a:t>
            </a:r>
            <a:r>
              <a:rPr lang="en-US" b="1" dirty="0"/>
              <a:t>I</a:t>
            </a:r>
            <a:r>
              <a:rPr lang="en-US" b="1" dirty="0" smtClean="0"/>
              <a:t>mmune System 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22418"/>
            <a:ext cx="9144000" cy="33147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i="1" dirty="0" smtClean="0">
                <a:solidFill>
                  <a:srgbClr val="FF0000"/>
                </a:solidFill>
              </a:rPr>
              <a:t>‘’Cells Produce molecules to affect other cells that affect other cells’’</a:t>
            </a:r>
            <a:endParaRPr lang="en-US" b="1" i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3BA79-9B9F-4AC9-BB9D-072B1434FF13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1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O</a:t>
            </a:r>
            <a:r>
              <a:rPr lang="en-US" sz="4800" b="1" dirty="0" smtClean="0">
                <a:solidFill>
                  <a:srgbClr val="FF0000"/>
                </a:solidFill>
              </a:rPr>
              <a:t>bjectives of the Presentation 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 smtClean="0"/>
              <a:t>To discuss;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smtClean="0"/>
              <a:t>The different specialized cells in the body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smtClean="0"/>
              <a:t>Immune molecules that execute functions of the immune system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/>
              <a:t>Organs that execute functions of the immune </a:t>
            </a:r>
            <a:r>
              <a:rPr lang="en-US" sz="3600" dirty="0" smtClean="0"/>
              <a:t>systems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/>
              <a:t>Cell </a:t>
            </a:r>
            <a:r>
              <a:rPr lang="en-US" sz="3600" dirty="0" smtClean="0"/>
              <a:t>homeostasis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3600" dirty="0" smtClean="0"/>
              <a:t>Adaptive immune system</a:t>
            </a:r>
            <a:endParaRPr lang="en-US" sz="3600" dirty="0"/>
          </a:p>
          <a:p>
            <a:pPr marL="971550" lvl="1" indent="-514350">
              <a:buFont typeface="+mj-lt"/>
              <a:buAutoNum type="arabicPeriod"/>
            </a:pPr>
            <a:endParaRPr lang="en-US" sz="36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564A-21CF-44D5-8089-9DCAEB4A6B0B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08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Introduction 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936" y="1548244"/>
            <a:ext cx="11035146" cy="4873337"/>
          </a:xfrm>
        </p:spPr>
        <p:txBody>
          <a:bodyPr>
            <a:noAutofit/>
          </a:bodyPr>
          <a:lstStyle/>
          <a:p>
            <a:r>
              <a:rPr lang="en-US" sz="3600" dirty="0"/>
              <a:t>The </a:t>
            </a:r>
            <a:r>
              <a:rPr lang="en-US" sz="3600" b="1" dirty="0">
                <a:solidFill>
                  <a:srgbClr val="0000FF"/>
                </a:solidFill>
              </a:rPr>
              <a:t>immune system</a:t>
            </a:r>
            <a:r>
              <a:rPr lang="en-US" sz="3600" dirty="0"/>
              <a:t> is a host defense system comprising many biological structures and </a:t>
            </a:r>
            <a:r>
              <a:rPr lang="en-US" sz="3600" dirty="0" smtClean="0"/>
              <a:t>processes</a:t>
            </a:r>
            <a:r>
              <a:rPr lang="en-US" sz="3600" dirty="0"/>
              <a:t> </a:t>
            </a:r>
            <a:r>
              <a:rPr lang="en-US" sz="3600" dirty="0" smtClean="0"/>
              <a:t>within an organism</a:t>
            </a:r>
            <a:r>
              <a:rPr lang="en-US" sz="3600" dirty="0"/>
              <a:t> that protects it against disease. </a:t>
            </a: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r>
              <a:rPr lang="en-US" sz="3600" dirty="0" smtClean="0"/>
              <a:t>Hence</a:t>
            </a:r>
            <a:r>
              <a:rPr lang="en-US" sz="3600" dirty="0"/>
              <a:t>, to function </a:t>
            </a:r>
            <a:r>
              <a:rPr lang="en-US" sz="3600" dirty="0" smtClean="0"/>
              <a:t>properly</a:t>
            </a:r>
            <a:r>
              <a:rPr lang="en-US" sz="3600" dirty="0"/>
              <a:t>, an immune system must detect a wide variety of </a:t>
            </a:r>
            <a:r>
              <a:rPr lang="en-US" sz="3600" b="1" dirty="0">
                <a:solidFill>
                  <a:srgbClr val="0000FF"/>
                </a:solidFill>
              </a:rPr>
              <a:t>intracellular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0000FF"/>
                </a:solidFill>
              </a:rPr>
              <a:t>extracellular</a:t>
            </a:r>
            <a:r>
              <a:rPr lang="en-US" sz="3600" dirty="0"/>
              <a:t> pathogens and </a:t>
            </a:r>
            <a:r>
              <a:rPr lang="en-US" sz="3600" b="1" dirty="0"/>
              <a:t>distinguish</a:t>
            </a:r>
            <a:r>
              <a:rPr lang="en-US" sz="3600" dirty="0"/>
              <a:t> them from the organism's own </a:t>
            </a:r>
            <a:r>
              <a:rPr lang="en-US" sz="3600" b="1" dirty="0">
                <a:solidFill>
                  <a:srgbClr val="0000FF"/>
                </a:solidFill>
              </a:rPr>
              <a:t>healthy </a:t>
            </a:r>
            <a:r>
              <a:rPr lang="en-US" sz="3600" b="1" dirty="0" smtClean="0">
                <a:solidFill>
                  <a:srgbClr val="0000FF"/>
                </a:solidFill>
              </a:rPr>
              <a:t>tissue</a:t>
            </a:r>
            <a:r>
              <a:rPr lang="en-US" sz="3600" dirty="0" smtClean="0"/>
              <a:t>.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B03-B1AE-4C9F-A854-85385483481A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5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Components of the immune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</a:t>
            </a:r>
            <a:r>
              <a:rPr lang="en-US" sz="3600" dirty="0" smtClean="0"/>
              <a:t>he </a:t>
            </a:r>
            <a:r>
              <a:rPr lang="en-US" sz="3600" dirty="0"/>
              <a:t>immune system </a:t>
            </a:r>
            <a:r>
              <a:rPr lang="en-US" sz="3600" dirty="0" smtClean="0"/>
              <a:t>is composed of</a:t>
            </a:r>
            <a:r>
              <a:rPr lang="en-US" sz="3600" dirty="0"/>
              <a:t>;</a:t>
            </a:r>
          </a:p>
          <a:p>
            <a:pPr lvl="1">
              <a:lnSpc>
                <a:spcPct val="150000"/>
              </a:lnSpc>
            </a:pPr>
            <a:r>
              <a:rPr lang="en-US" sz="3600" dirty="0"/>
              <a:t>Specialized cells</a:t>
            </a:r>
          </a:p>
          <a:p>
            <a:pPr lvl="1">
              <a:lnSpc>
                <a:spcPct val="150000"/>
              </a:lnSpc>
            </a:pPr>
            <a:r>
              <a:rPr lang="en-US" sz="3600" dirty="0" smtClean="0"/>
              <a:t>Organs (lymphoid organs) </a:t>
            </a:r>
            <a:endParaRPr lang="en-US" sz="3600" dirty="0"/>
          </a:p>
          <a:p>
            <a:pPr lvl="1">
              <a:lnSpc>
                <a:spcPct val="150000"/>
              </a:lnSpc>
            </a:pPr>
            <a:r>
              <a:rPr lang="en-US" sz="3600" dirty="0"/>
              <a:t>Immune molecules 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5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5865"/>
            <a:ext cx="10515600" cy="1215736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Components of the immune </a:t>
            </a:r>
            <a:r>
              <a:rPr lang="en-US" sz="4800" b="1" dirty="0" smtClean="0">
                <a:solidFill>
                  <a:srgbClr val="FF0000"/>
                </a:solidFill>
              </a:rPr>
              <a:t>system…</a:t>
            </a:r>
            <a:r>
              <a:rPr lang="en-US" sz="4800" b="1" dirty="0" err="1" smtClean="0">
                <a:solidFill>
                  <a:srgbClr val="FF0000"/>
                </a:solidFill>
              </a:rPr>
              <a:t>con’t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5</a:t>
            </a:fld>
            <a:endParaRPr lang="en-US"/>
          </a:p>
        </p:txBody>
      </p:sp>
      <p:pic>
        <p:nvPicPr>
          <p:cNvPr id="7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25" y="1371602"/>
            <a:ext cx="10832211" cy="4592780"/>
          </a:xfrm>
        </p:spPr>
      </p:pic>
    </p:spTree>
    <p:extLst>
      <p:ext uri="{BB962C8B-B14F-4D97-AF65-F5344CB8AC3E}">
        <p14:creationId xmlns:p14="http://schemas.microsoft.com/office/powerpoint/2010/main" val="25229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1. Specialized cells of the immune system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809"/>
            <a:ext cx="10515600" cy="4873335"/>
          </a:xfrm>
        </p:spPr>
        <p:txBody>
          <a:bodyPr>
            <a:noAutofit/>
          </a:bodyPr>
          <a:lstStyle/>
          <a:p>
            <a:r>
              <a:rPr lang="en-US" sz="3200" dirty="0"/>
              <a:t>Cells of the immune system originate from the bone marrow through a process called </a:t>
            </a:r>
            <a:r>
              <a:rPr lang="en-US" sz="3200" b="1" dirty="0">
                <a:solidFill>
                  <a:srgbClr val="0000FF"/>
                </a:solidFill>
              </a:rPr>
              <a:t>hematopoiesis</a:t>
            </a:r>
            <a:r>
              <a:rPr lang="en-US" sz="3200" dirty="0"/>
              <a:t> </a:t>
            </a:r>
            <a:r>
              <a:rPr lang="en-US" sz="3200" dirty="0" smtClean="0"/>
              <a:t>where </a:t>
            </a:r>
            <a:r>
              <a:rPr lang="en-US" sz="3200" dirty="0"/>
              <a:t>most of them mature and later circulate in blood and in the lymphatic vessels. </a:t>
            </a:r>
            <a:endParaRPr lang="en-US" sz="3200" dirty="0" smtClean="0"/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/>
              <a:t>Hematopoietic stem cells divide to produce two specialized stem cells i.e. </a:t>
            </a:r>
            <a:r>
              <a:rPr lang="en-US" sz="3200" b="1" dirty="0">
                <a:solidFill>
                  <a:srgbClr val="0000FF"/>
                </a:solidFill>
              </a:rPr>
              <a:t>a common myeloid progenitor cell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/>
              <a:t>that gives rise to </a:t>
            </a:r>
            <a:r>
              <a:rPr lang="en-US" sz="3200" dirty="0" smtClean="0"/>
              <a:t>granulocytes, monocytes, erythrocytes </a:t>
            </a:r>
            <a:r>
              <a:rPr lang="en-US" sz="3200" dirty="0"/>
              <a:t>and megakaryocytes </a:t>
            </a:r>
            <a:r>
              <a:rPr lang="en-US" sz="3200" dirty="0" smtClean="0"/>
              <a:t>and </a:t>
            </a:r>
            <a:r>
              <a:rPr lang="en-US" sz="3200" b="1" dirty="0">
                <a:solidFill>
                  <a:srgbClr val="0000FF"/>
                </a:solidFill>
              </a:rPr>
              <a:t>a common lymphoid progenitor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/>
              <a:t>that gives rise to Natural killer cells, T and B lymphocytes.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B6A1B-C6C1-4F89-88E3-12EF01AC704F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124690"/>
            <a:ext cx="10515600" cy="67266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+mn-lt"/>
              </a:rPr>
              <a:t>O</a:t>
            </a:r>
            <a:r>
              <a:rPr lang="en-US" sz="3600" b="1" dirty="0" smtClean="0">
                <a:solidFill>
                  <a:srgbClr val="FF0000"/>
                </a:solidFill>
                <a:latin typeface="+mn-lt"/>
              </a:rPr>
              <a:t>rigin of cells of the immune system - hematopoiesis </a:t>
            </a:r>
            <a:endParaRPr lang="en-US" sz="36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D4B73-0D0D-4DC9-BC58-86E802060651}" type="datetime1">
              <a:rPr lang="en-US" smtClean="0"/>
              <a:t>2/5/2024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7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976744"/>
            <a:ext cx="9069325" cy="5379605"/>
          </a:xfrm>
        </p:spPr>
      </p:pic>
    </p:spTree>
    <p:extLst>
      <p:ext uri="{BB962C8B-B14F-4D97-AF65-F5344CB8AC3E}">
        <p14:creationId xmlns:p14="http://schemas.microsoft.com/office/powerpoint/2010/main" val="183139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3518"/>
            <a:ext cx="10515600" cy="90400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Specialized cells con’t…Phagocytes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5245" y="997527"/>
            <a:ext cx="7263246" cy="5559137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 </a:t>
            </a:r>
            <a:r>
              <a:rPr lang="en-US" sz="3200" dirty="0"/>
              <a:t>most important long-lived phagocytic cells belong to the mononuclear phagocyte lineage and are called </a:t>
            </a:r>
            <a:r>
              <a:rPr lang="en-US" sz="3200" b="1" dirty="0">
                <a:solidFill>
                  <a:srgbClr val="0000FF"/>
                </a:solidFill>
              </a:rPr>
              <a:t>monocytes</a:t>
            </a:r>
            <a:r>
              <a:rPr lang="en-US" sz="3200" dirty="0">
                <a:solidFill>
                  <a:srgbClr val="0000FF"/>
                </a:solidFill>
              </a:rPr>
              <a:t>. </a:t>
            </a:r>
            <a:endParaRPr lang="en-US" sz="3200" dirty="0" smtClean="0">
              <a:solidFill>
                <a:srgbClr val="0000FF"/>
              </a:solidFill>
            </a:endParaRPr>
          </a:p>
          <a:p>
            <a:r>
              <a:rPr lang="en-US" sz="3200" dirty="0" smtClean="0"/>
              <a:t>Monocytes </a:t>
            </a:r>
            <a:r>
              <a:rPr lang="en-US" sz="3200" dirty="0"/>
              <a:t>migrate from the blood into the tissues where they develop into tissue </a:t>
            </a:r>
            <a:r>
              <a:rPr lang="en-US" sz="3200" b="1" dirty="0">
                <a:solidFill>
                  <a:srgbClr val="0000FF"/>
                </a:solidFill>
              </a:rPr>
              <a:t>macrophages</a:t>
            </a:r>
            <a:r>
              <a:rPr lang="en-US" sz="3200" dirty="0">
                <a:solidFill>
                  <a:srgbClr val="0000FF"/>
                </a:solidFill>
              </a:rPr>
              <a:t>. </a:t>
            </a:r>
            <a:endParaRPr lang="en-US" sz="3200" dirty="0" smtClean="0">
              <a:solidFill>
                <a:srgbClr val="0000FF"/>
              </a:solidFill>
            </a:endParaRPr>
          </a:p>
          <a:p>
            <a:r>
              <a:rPr lang="en-US" sz="3200" dirty="0" smtClean="0"/>
              <a:t>Their </a:t>
            </a:r>
            <a:r>
              <a:rPr lang="en-US" sz="3200" dirty="0"/>
              <a:t>main function is to </a:t>
            </a:r>
            <a:r>
              <a:rPr lang="en-US" sz="3200" b="1" dirty="0">
                <a:solidFill>
                  <a:srgbClr val="0000FF"/>
                </a:solidFill>
              </a:rPr>
              <a:t>engulf particles </a:t>
            </a:r>
            <a:r>
              <a:rPr lang="en-US" sz="3200" dirty="0"/>
              <a:t>including infectious agents, internalize them and </a:t>
            </a:r>
            <a:r>
              <a:rPr lang="en-US" sz="3200" b="1" dirty="0">
                <a:solidFill>
                  <a:srgbClr val="0000FF"/>
                </a:solidFill>
              </a:rPr>
              <a:t>destroy them</a:t>
            </a:r>
            <a:r>
              <a:rPr lang="en-US" sz="3200" dirty="0"/>
              <a:t>. Hence </a:t>
            </a:r>
            <a:r>
              <a:rPr lang="en-US" sz="3200" dirty="0" smtClean="0"/>
              <a:t>they must be strategically </a:t>
            </a:r>
            <a:r>
              <a:rPr lang="en-US" sz="3200" dirty="0"/>
              <a:t>placed where they will encounter such </a:t>
            </a:r>
            <a:r>
              <a:rPr lang="en-US" sz="3200" dirty="0" smtClean="0"/>
              <a:t>particles. 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790" y="997527"/>
            <a:ext cx="3719945" cy="5559138"/>
          </a:xfr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61FDA-0AA9-47E8-8E48-E4DCE61EB06A}" type="datetime1">
              <a:rPr lang="en-US" smtClean="0"/>
              <a:t>2/5/2024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555" y="365125"/>
            <a:ext cx="11596254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Specialized cells</a:t>
            </a:r>
            <a:r>
              <a:rPr lang="en-US" sz="4800" b="1" dirty="0">
                <a:solidFill>
                  <a:srgbClr val="FF0000"/>
                </a:solidFill>
              </a:rPr>
              <a:t> </a:t>
            </a:r>
            <a:r>
              <a:rPr lang="en-US" sz="4800" b="1" dirty="0" smtClean="0">
                <a:solidFill>
                  <a:srgbClr val="FF0000"/>
                </a:solidFill>
              </a:rPr>
              <a:t>con’t </a:t>
            </a:r>
            <a:r>
              <a:rPr lang="en-US" sz="4800" b="1" dirty="0">
                <a:solidFill>
                  <a:srgbClr val="FF0000"/>
                </a:solidFill>
              </a:rPr>
              <a:t>– </a:t>
            </a:r>
            <a:r>
              <a:rPr lang="en-US" sz="4800" b="1" dirty="0" smtClean="0">
                <a:solidFill>
                  <a:srgbClr val="FF0000"/>
                </a:solidFill>
              </a:rPr>
              <a:t>Polymorphonuclear Neutrophils (PMNs)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67790"/>
            <a:ext cx="10515600" cy="428855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smtClean="0"/>
              <a:t>Constitute </a:t>
            </a:r>
            <a:r>
              <a:rPr lang="en-US" sz="3600" b="1" dirty="0" smtClean="0">
                <a:solidFill>
                  <a:srgbClr val="0000FF"/>
                </a:solidFill>
              </a:rPr>
              <a:t>majority</a:t>
            </a:r>
            <a:r>
              <a:rPr lang="en-US" sz="3600" dirty="0" smtClean="0"/>
              <a:t> of blood leukocytes (40-70%)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smtClean="0"/>
              <a:t>They are </a:t>
            </a:r>
            <a:r>
              <a:rPr lang="en-US" sz="3600" b="1" dirty="0" smtClean="0">
                <a:solidFill>
                  <a:srgbClr val="0000FF"/>
                </a:solidFill>
              </a:rPr>
              <a:t>short lived </a:t>
            </a:r>
            <a:r>
              <a:rPr lang="en-US" sz="3600" dirty="0" smtClean="0"/>
              <a:t>phagocytes - </a:t>
            </a:r>
            <a:r>
              <a:rPr lang="en-US" sz="3600" dirty="0"/>
              <a:t>Die after engulfing </a:t>
            </a:r>
            <a:r>
              <a:rPr lang="en-US" sz="3600" dirty="0" smtClean="0"/>
              <a:t>material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smtClean="0"/>
              <a:t>Migrate into tissues at sites of inflammation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dirty="0" smtClean="0"/>
              <a:t>They have granules; primary, secondary and tertiary 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9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187037"/>
            <a:ext cx="10515600" cy="92479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Specialized cells con’t…Lymphocytes (T cells)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91" y="1298864"/>
            <a:ext cx="11180618" cy="54136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T cells have T cell antigen receptors and are of different types with a variety of functions. </a:t>
            </a:r>
            <a:endParaRPr lang="en-US" sz="3200" dirty="0" smtClean="0"/>
          </a:p>
          <a:p>
            <a:r>
              <a:rPr lang="en-US" sz="3200" b="1" dirty="0" smtClean="0">
                <a:solidFill>
                  <a:srgbClr val="0000FF"/>
                </a:solidFill>
              </a:rPr>
              <a:t>Type </a:t>
            </a:r>
            <a:r>
              <a:rPr lang="en-US" sz="3200" b="1" dirty="0">
                <a:solidFill>
                  <a:srgbClr val="0000FF"/>
                </a:solidFill>
              </a:rPr>
              <a:t>1 helper T cells (</a:t>
            </a:r>
            <a:r>
              <a:rPr lang="en-US" sz="3200" b="1" dirty="0" smtClean="0">
                <a:solidFill>
                  <a:srgbClr val="0000FF"/>
                </a:solidFill>
              </a:rPr>
              <a:t>Th1 </a:t>
            </a:r>
            <a:r>
              <a:rPr lang="en-US" sz="3200" b="1" dirty="0">
                <a:solidFill>
                  <a:srgbClr val="0000FF"/>
                </a:solidFill>
              </a:rPr>
              <a:t>cells)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dirty="0"/>
              <a:t>interacts with mononuclear phagocytes and helps them destroy intracellular </a:t>
            </a:r>
            <a:r>
              <a:rPr lang="en-US" sz="3200" dirty="0" smtClean="0"/>
              <a:t>pathogens.</a:t>
            </a:r>
          </a:p>
          <a:p>
            <a:r>
              <a:rPr lang="en-US" sz="3200" b="1" dirty="0" smtClean="0">
                <a:solidFill>
                  <a:srgbClr val="0000FF"/>
                </a:solidFill>
              </a:rPr>
              <a:t>Type 2 helper T cells (Th2 cells)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r>
              <a:rPr lang="en-US" sz="3200" dirty="0"/>
              <a:t>interacts with B cells and helps them to divide, differentiate and make antibody. </a:t>
            </a:r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third group of T cells are responsible </a:t>
            </a:r>
            <a:r>
              <a:rPr lang="en-US" sz="3200" dirty="0" smtClean="0"/>
              <a:t>for </a:t>
            </a:r>
            <a:r>
              <a:rPr lang="en-US" sz="3200" dirty="0"/>
              <a:t>destruction of host cells that have become infected by viruses or other intracellular pathogens. This kind of action is called </a:t>
            </a:r>
            <a:r>
              <a:rPr lang="en-US" sz="3200" b="1" dirty="0"/>
              <a:t>cytotoxicity</a:t>
            </a:r>
            <a:r>
              <a:rPr lang="en-US" sz="3200" dirty="0"/>
              <a:t> and these T cells are therefore called </a:t>
            </a:r>
            <a:r>
              <a:rPr lang="en-US" sz="3200" b="1" dirty="0">
                <a:solidFill>
                  <a:srgbClr val="0000FF"/>
                </a:solidFill>
              </a:rPr>
              <a:t>cytotoxic T lymphocytes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  <a:r>
              <a:rPr lang="en-US" sz="3200" b="1" dirty="0" smtClean="0">
                <a:solidFill>
                  <a:srgbClr val="0000FF"/>
                </a:solidFill>
              </a:rPr>
              <a:t>(</a:t>
            </a:r>
            <a:r>
              <a:rPr lang="en-US" sz="3200" b="1" dirty="0" err="1" smtClean="0">
                <a:solidFill>
                  <a:srgbClr val="0000FF"/>
                </a:solidFill>
              </a:rPr>
              <a:t>Tc</a:t>
            </a:r>
            <a:r>
              <a:rPr lang="en-US" sz="3200" b="1" dirty="0" smtClean="0">
                <a:solidFill>
                  <a:srgbClr val="0000FF"/>
                </a:solidFill>
              </a:rPr>
              <a:t> </a:t>
            </a:r>
            <a:r>
              <a:rPr lang="en-US" sz="3200" b="1" dirty="0">
                <a:solidFill>
                  <a:srgbClr val="0000FF"/>
                </a:solidFill>
              </a:rPr>
              <a:t>cells).</a:t>
            </a:r>
            <a:r>
              <a:rPr lang="en-US" sz="32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CA4-6CE1-4C46-8879-4FC25C13C63D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617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Specialized cells </a:t>
            </a:r>
            <a:r>
              <a:rPr lang="en-US" b="1" dirty="0" smtClean="0">
                <a:solidFill>
                  <a:srgbClr val="FF0000"/>
                </a:solidFill>
              </a:rPr>
              <a:t>con’t…Functions of T cells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r>
              <a:rPr lang="en-US" sz="3600" dirty="0" smtClean="0"/>
              <a:t>Recognize antigens ONLY when presented on the surface of other cells by MHC</a:t>
            </a:r>
          </a:p>
          <a:p>
            <a:r>
              <a:rPr lang="en-US" sz="3600" dirty="0" smtClean="0"/>
              <a:t>T cell Antigen Receptors are related in structure and function to surface antibody which cells use as antigen receptors</a:t>
            </a:r>
          </a:p>
          <a:p>
            <a:r>
              <a:rPr lang="en-US" sz="3600" dirty="0" smtClean="0"/>
              <a:t>Release soluble proteins and cytokines that signal to other cells</a:t>
            </a:r>
          </a:p>
          <a:p>
            <a:r>
              <a:rPr lang="en-US" sz="3600" dirty="0" smtClean="0"/>
              <a:t>Also function via cell to cell interactions directly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3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037"/>
            <a:ext cx="10515600" cy="12573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Specialized cells con’t…Lymphocytes </a:t>
            </a:r>
            <a:r>
              <a:rPr lang="en-US" sz="4800" b="1" dirty="0" smtClean="0">
                <a:solidFill>
                  <a:srgbClr val="FF0000"/>
                </a:solidFill>
              </a:rPr>
              <a:t>(B </a:t>
            </a:r>
            <a:r>
              <a:rPr lang="en-US" sz="4800" b="1" dirty="0">
                <a:solidFill>
                  <a:srgbClr val="FF0000"/>
                </a:solidFill>
              </a:rPr>
              <a:t>cells)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4336"/>
            <a:ext cx="10841182" cy="4912014"/>
          </a:xfrm>
        </p:spPr>
        <p:txBody>
          <a:bodyPr>
            <a:normAutofit/>
          </a:bodyPr>
          <a:lstStyle/>
          <a:p>
            <a:r>
              <a:rPr lang="en-US" sz="3600" dirty="0"/>
              <a:t>B and T cells bear receptors that recognize specific molecular components of pathogens and hence </a:t>
            </a:r>
            <a:r>
              <a:rPr lang="en-US" sz="3600" b="1" dirty="0">
                <a:solidFill>
                  <a:srgbClr val="0000FF"/>
                </a:solidFill>
              </a:rPr>
              <a:t>initiate adaptive immune responses</a:t>
            </a:r>
            <a:r>
              <a:rPr lang="en-US" sz="3600" dirty="0"/>
              <a:t>. </a:t>
            </a: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B cells express antibody because they are genetically programmed to express a surface receptor specific for a particular antigen. If a B cell binds to its specific antigen, it will multiply and differentiate into </a:t>
            </a:r>
            <a:r>
              <a:rPr lang="en-US" sz="3600" b="1" dirty="0">
                <a:solidFill>
                  <a:srgbClr val="0000FF"/>
                </a:solidFill>
              </a:rPr>
              <a:t>plasma cells </a:t>
            </a:r>
            <a:r>
              <a:rPr lang="en-US" sz="3600" dirty="0"/>
              <a:t>which are specific to only that antigen.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9C2B-2456-4246-8655-7CD731FED753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691"/>
            <a:ext cx="10515600" cy="103909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Specialized cells con’t…Cytotoxic cells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027" y="1163782"/>
            <a:ext cx="11388437" cy="519256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3600" b="1" dirty="0">
                <a:solidFill>
                  <a:srgbClr val="0000FF"/>
                </a:solidFill>
              </a:rPr>
              <a:t>C</a:t>
            </a:r>
            <a:r>
              <a:rPr lang="en-US" sz="3600" b="1" dirty="0" smtClean="0">
                <a:solidFill>
                  <a:srgbClr val="0000FF"/>
                </a:solidFill>
              </a:rPr>
              <a:t>ytotoxic </a:t>
            </a:r>
            <a:r>
              <a:rPr lang="en-US" sz="3600" b="1" dirty="0">
                <a:solidFill>
                  <a:srgbClr val="0000FF"/>
                </a:solidFill>
              </a:rPr>
              <a:t>cells </a:t>
            </a:r>
            <a:r>
              <a:rPr lang="en-US" sz="3600" dirty="0"/>
              <a:t>recognize and destroy other cells that have become </a:t>
            </a:r>
            <a:r>
              <a:rPr lang="en-US" sz="3600" dirty="0" smtClean="0"/>
              <a:t>infected and they </a:t>
            </a:r>
            <a:r>
              <a:rPr lang="en-US" sz="3600" dirty="0"/>
              <a:t>include </a:t>
            </a:r>
            <a:r>
              <a:rPr lang="en-US" sz="3600" b="1" dirty="0">
                <a:solidFill>
                  <a:srgbClr val="0000FF"/>
                </a:solidFill>
              </a:rPr>
              <a:t>Natural Killer (NK)</a:t>
            </a:r>
            <a:r>
              <a:rPr lang="en-US" sz="3600" dirty="0">
                <a:solidFill>
                  <a:srgbClr val="0000FF"/>
                </a:solidFill>
              </a:rPr>
              <a:t> </a:t>
            </a:r>
            <a:r>
              <a:rPr lang="en-US" sz="3600" dirty="0" smtClean="0"/>
              <a:t>cells and </a:t>
            </a:r>
            <a:r>
              <a:rPr lang="en-US" sz="3600" b="1" dirty="0" err="1">
                <a:solidFill>
                  <a:srgbClr val="0000FF"/>
                </a:solidFill>
              </a:rPr>
              <a:t>Eosinophils</a:t>
            </a:r>
            <a:r>
              <a:rPr lang="en-US" sz="3600" dirty="0" smtClean="0">
                <a:solidFill>
                  <a:srgbClr val="0000FF"/>
                </a:solidFill>
              </a:rPr>
              <a:t>.</a:t>
            </a:r>
          </a:p>
          <a:p>
            <a:pPr marL="0" lvl="0" indent="0">
              <a:buNone/>
            </a:pPr>
            <a:endParaRPr lang="en-US" sz="3600" dirty="0">
              <a:solidFill>
                <a:srgbClr val="0000FF"/>
              </a:solidFill>
            </a:endParaRPr>
          </a:p>
          <a:p>
            <a:r>
              <a:rPr lang="en-US" sz="3600" dirty="0"/>
              <a:t>NK cells have the capacity to recognize the surface changes that occur on a variety of tumor cells &amp;</a:t>
            </a:r>
            <a:r>
              <a:rPr lang="en-US" sz="3600" dirty="0" smtClean="0"/>
              <a:t> </a:t>
            </a:r>
            <a:r>
              <a:rPr lang="en-US" sz="3600" dirty="0"/>
              <a:t>virally infected cells and later damage these target cells. </a:t>
            </a: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r>
              <a:rPr lang="en-US" sz="3600" dirty="0" smtClean="0"/>
              <a:t>Eosinophils </a:t>
            </a:r>
            <a:r>
              <a:rPr lang="en-US" sz="3600" dirty="0"/>
              <a:t>are a specialized group of leukocytes that have the ability to engage and </a:t>
            </a:r>
            <a:r>
              <a:rPr lang="en-US" sz="3600" b="1" dirty="0">
                <a:solidFill>
                  <a:srgbClr val="0000FF"/>
                </a:solidFill>
              </a:rPr>
              <a:t>damage large extracellular parasites</a:t>
            </a:r>
            <a:r>
              <a:rPr lang="en-US" sz="3600" dirty="0"/>
              <a:t>, such as </a:t>
            </a:r>
            <a:r>
              <a:rPr lang="en-US" sz="3600" dirty="0" smtClean="0"/>
              <a:t>schistosomes.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4178F-8A4E-4C8A-B97C-21EB42ADAA3B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4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8991"/>
            <a:ext cx="10515600" cy="101830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Specialized cells con’t…Cells of Inflammation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292"/>
            <a:ext cx="10515600" cy="4860058"/>
          </a:xfrm>
        </p:spPr>
        <p:txBody>
          <a:bodyPr>
            <a:noAutofit/>
          </a:bodyPr>
          <a:lstStyle/>
          <a:p>
            <a:r>
              <a:rPr lang="en-US" sz="3200" dirty="0"/>
              <a:t>The main purpose of inflammation is to </a:t>
            </a:r>
            <a:r>
              <a:rPr lang="en-US" sz="3200" b="1" dirty="0">
                <a:solidFill>
                  <a:srgbClr val="0000FF"/>
                </a:solidFill>
              </a:rPr>
              <a:t>attract leukocytes </a:t>
            </a:r>
            <a:r>
              <a:rPr lang="en-US" sz="3200" dirty="0" smtClean="0"/>
              <a:t>and </a:t>
            </a:r>
            <a:r>
              <a:rPr lang="en-US" sz="3200" b="1" dirty="0">
                <a:solidFill>
                  <a:srgbClr val="0000FF"/>
                </a:solidFill>
              </a:rPr>
              <a:t>soluble mediators</a:t>
            </a:r>
            <a:r>
              <a:rPr lang="en-US" sz="3200" dirty="0"/>
              <a:t> of immunity towards a site of infection. Inflammation is mediated by a variety </a:t>
            </a:r>
            <a:r>
              <a:rPr lang="en-US" sz="3200" dirty="0" smtClean="0"/>
              <a:t>of </a:t>
            </a:r>
            <a:r>
              <a:rPr lang="en-US" sz="3200" dirty="0"/>
              <a:t>cells including </a:t>
            </a:r>
            <a:r>
              <a:rPr lang="en-US" sz="3200" b="1" dirty="0">
                <a:solidFill>
                  <a:srgbClr val="0000FF"/>
                </a:solidFill>
              </a:rPr>
              <a:t>basophils</a:t>
            </a:r>
            <a:r>
              <a:rPr lang="en-US" sz="3200" dirty="0"/>
              <a:t>, </a:t>
            </a:r>
            <a:r>
              <a:rPr lang="en-US" sz="3200" b="1" dirty="0">
                <a:solidFill>
                  <a:srgbClr val="0000FF"/>
                </a:solidFill>
              </a:rPr>
              <a:t>mast cells</a:t>
            </a:r>
            <a:r>
              <a:rPr lang="en-US" sz="3200" dirty="0"/>
              <a:t>, and </a:t>
            </a:r>
            <a:r>
              <a:rPr lang="en-US" sz="3200" b="1" dirty="0">
                <a:solidFill>
                  <a:srgbClr val="0000FF"/>
                </a:solidFill>
              </a:rPr>
              <a:t>platelets</a:t>
            </a:r>
            <a:r>
              <a:rPr lang="en-US" sz="3200" dirty="0" smtClean="0"/>
              <a:t>.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Basophils and mast cells </a:t>
            </a:r>
            <a:r>
              <a:rPr lang="en-US" sz="3200" b="1" dirty="0">
                <a:solidFill>
                  <a:srgbClr val="0000FF"/>
                </a:solidFill>
              </a:rPr>
              <a:t>have granules </a:t>
            </a:r>
            <a:r>
              <a:rPr lang="en-US" sz="3200" dirty="0"/>
              <a:t>that contain a variety of mediators which induce </a:t>
            </a:r>
            <a:r>
              <a:rPr lang="en-US" sz="3200" dirty="0" smtClean="0"/>
              <a:t>inflammation. </a:t>
            </a:r>
          </a:p>
          <a:p>
            <a:r>
              <a:rPr lang="en-US" sz="3200" dirty="0" smtClean="0"/>
              <a:t>Platelets </a:t>
            </a:r>
            <a:r>
              <a:rPr lang="en-US" sz="3200" dirty="0"/>
              <a:t>are essential in blood clotting, but can also be activated during immune responses to release mediators of inflammation.</a:t>
            </a:r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F5CF8-4510-4DEE-B698-641CC48D11D9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2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1335"/>
            <a:ext cx="10515600" cy="10779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2. Immune molecules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419" y="1558635"/>
            <a:ext cx="10557162" cy="4618327"/>
          </a:xfrm>
        </p:spPr>
        <p:txBody>
          <a:bodyPr>
            <a:noAutofit/>
          </a:bodyPr>
          <a:lstStyle/>
          <a:p>
            <a:r>
              <a:rPr lang="en-US" sz="3600" dirty="0"/>
              <a:t>A wide variety of molecules are involved in the development of immune responses including </a:t>
            </a:r>
            <a:r>
              <a:rPr lang="en-US" sz="3600" b="1" dirty="0">
                <a:solidFill>
                  <a:srgbClr val="0000FF"/>
                </a:solidFill>
              </a:rPr>
              <a:t>antibodies</a:t>
            </a:r>
            <a:r>
              <a:rPr lang="en-US" sz="3600" dirty="0">
                <a:solidFill>
                  <a:srgbClr val="0000FF"/>
                </a:solidFill>
              </a:rPr>
              <a:t>, </a:t>
            </a:r>
            <a:r>
              <a:rPr lang="en-US" sz="3600" b="1" dirty="0">
                <a:solidFill>
                  <a:srgbClr val="0000FF"/>
                </a:solidFill>
              </a:rPr>
              <a:t>cytokines</a:t>
            </a:r>
            <a:r>
              <a:rPr lang="en-US" sz="3600" dirty="0">
                <a:solidFill>
                  <a:srgbClr val="0000FF"/>
                </a:solidFill>
              </a:rPr>
              <a:t> </a:t>
            </a:r>
            <a:r>
              <a:rPr lang="en-US" sz="3600" dirty="0"/>
              <a:t>and other molecules that are normally present in serum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The serum concentration of a number of these proteins increases rapidly during infection and they are therefore called </a:t>
            </a:r>
            <a:r>
              <a:rPr lang="en-US" sz="3600" b="1" dirty="0">
                <a:solidFill>
                  <a:srgbClr val="0000FF"/>
                </a:solidFill>
              </a:rPr>
              <a:t>acute phase proteins</a:t>
            </a:r>
            <a:r>
              <a:rPr lang="en-US" sz="3600" dirty="0"/>
              <a:t>. </a:t>
            </a:r>
            <a:endParaRPr lang="en-US" sz="3600" dirty="0" smtClean="0"/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3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5864"/>
            <a:ext cx="10515600" cy="11326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Immune molecules con’t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408" y="1371600"/>
            <a:ext cx="11024755" cy="4805363"/>
          </a:xfrm>
        </p:spPr>
        <p:txBody>
          <a:bodyPr>
            <a:noAutofit/>
          </a:bodyPr>
          <a:lstStyle/>
          <a:p>
            <a:r>
              <a:rPr lang="en-US" sz="3600" dirty="0"/>
              <a:t>One example of an acute phase protein is </a:t>
            </a:r>
            <a:r>
              <a:rPr lang="en-US" sz="3600" b="1" dirty="0">
                <a:solidFill>
                  <a:srgbClr val="0000FF"/>
                </a:solidFill>
              </a:rPr>
              <a:t>C reactive protein (CRP)</a:t>
            </a:r>
            <a:r>
              <a:rPr lang="en-US" sz="3600" dirty="0">
                <a:solidFill>
                  <a:srgbClr val="0000FF"/>
                </a:solidFill>
              </a:rPr>
              <a:t>; </a:t>
            </a:r>
            <a:r>
              <a:rPr lang="en-US" sz="3600" dirty="0"/>
              <a:t>so-called because of its ability to bind</a:t>
            </a:r>
            <a:r>
              <a:rPr lang="en-US" sz="3600" b="1" dirty="0"/>
              <a:t> </a:t>
            </a:r>
            <a:r>
              <a:rPr lang="en-US" sz="3600" dirty="0"/>
              <a:t>to the C protein of pneumococci which promotes it’s uptake by phagocytes in a process known as</a:t>
            </a:r>
            <a:r>
              <a:rPr lang="en-US" sz="3600" b="1" dirty="0"/>
              <a:t> </a:t>
            </a:r>
            <a:r>
              <a:rPr lang="en-US" sz="3600" b="1" dirty="0" err="1">
                <a:solidFill>
                  <a:srgbClr val="0000FF"/>
                </a:solidFill>
              </a:rPr>
              <a:t>Opsonization</a:t>
            </a:r>
            <a:r>
              <a:rPr lang="en-US" sz="3600" dirty="0">
                <a:solidFill>
                  <a:srgbClr val="0000FF"/>
                </a:solidFill>
              </a:rPr>
              <a:t>. </a:t>
            </a:r>
            <a:endParaRPr lang="en-US" sz="3600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Molecules such as antibody and CRP that</a:t>
            </a:r>
            <a:r>
              <a:rPr lang="en-US" sz="3600" b="1" dirty="0"/>
              <a:t> </a:t>
            </a:r>
            <a:r>
              <a:rPr lang="en-US" sz="3600" dirty="0"/>
              <a:t>promote phagocytosis are said to act as </a:t>
            </a:r>
            <a:r>
              <a:rPr lang="en-US" sz="3600" b="1" dirty="0" err="1">
                <a:solidFill>
                  <a:srgbClr val="0000FF"/>
                </a:solidFill>
              </a:rPr>
              <a:t>Opsonins</a:t>
            </a:r>
            <a:r>
              <a:rPr lang="en-US" sz="3600" dirty="0">
                <a:solidFill>
                  <a:srgbClr val="0000FF"/>
                </a:solidFill>
              </a:rPr>
              <a:t>.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en-US" sz="3600" dirty="0"/>
              <a:t>Another important group of molecules that can act as</a:t>
            </a:r>
            <a:r>
              <a:rPr lang="en-US" sz="3600" b="1" dirty="0"/>
              <a:t> </a:t>
            </a:r>
            <a:r>
              <a:rPr lang="en-US" sz="3600" dirty="0" err="1"/>
              <a:t>opsonins</a:t>
            </a:r>
            <a:r>
              <a:rPr lang="en-US" sz="3600" dirty="0"/>
              <a:t> are </a:t>
            </a:r>
            <a:r>
              <a:rPr lang="en-US" sz="3600" dirty="0" smtClean="0"/>
              <a:t>components</a:t>
            </a:r>
            <a:r>
              <a:rPr lang="en-US" sz="3600" dirty="0"/>
              <a:t> of the </a:t>
            </a:r>
            <a:r>
              <a:rPr lang="en-US" sz="3600" b="1" dirty="0">
                <a:solidFill>
                  <a:srgbClr val="0000FF"/>
                </a:solidFill>
              </a:rPr>
              <a:t>complement system</a:t>
            </a:r>
            <a:r>
              <a:rPr lang="en-US" sz="36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1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5865"/>
            <a:ext cx="10747664" cy="110143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Immune molecules </a:t>
            </a:r>
            <a:r>
              <a:rPr lang="en-US" b="1" dirty="0" smtClean="0">
                <a:solidFill>
                  <a:srgbClr val="FF0000"/>
                </a:solidFill>
              </a:rPr>
              <a:t>con’t…Acute phase proteins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0FC4-38EA-4EE6-8A65-BE0E8895530F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777898"/>
              </p:ext>
            </p:extLst>
          </p:nvPr>
        </p:nvGraphicFramePr>
        <p:xfrm>
          <a:off x="989838" y="1162736"/>
          <a:ext cx="10212324" cy="50626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06162"/>
                <a:gridCol w="5106162"/>
              </a:tblGrid>
              <a:tr h="3552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effectLst/>
                        </a:rPr>
                        <a:t>Acute Phase Protein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effectLst/>
                        </a:rPr>
                        <a:t>Function in the </a:t>
                      </a:r>
                      <a:r>
                        <a:rPr lang="en-US" sz="2400" b="1" u="none" strike="noStrike" dirty="0" smtClean="0">
                          <a:effectLst/>
                        </a:rPr>
                        <a:t>Immune </a:t>
                      </a:r>
                      <a:r>
                        <a:rPr lang="en-US" sz="2400" b="1" u="none" strike="noStrike" dirty="0">
                          <a:effectLst/>
                        </a:rPr>
                        <a:t>system</a:t>
                      </a:r>
                      <a:r>
                        <a:rPr lang="en-US" sz="2400" b="1" dirty="0">
                          <a:effectLst/>
                        </a:rPr>
                        <a:t> 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strike="noStrike" dirty="0">
                          <a:effectLst/>
                        </a:rPr>
                        <a:t>C-reactive protein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r>
                        <a:rPr lang="en-GB" sz="2000" u="none" strike="noStrike" dirty="0">
                          <a:effectLst/>
                        </a:rPr>
                        <a:t>Opsonin</a:t>
                      </a:r>
                      <a:r>
                        <a:rPr lang="en-GB" sz="2000" dirty="0">
                          <a:effectLst/>
                        </a:rPr>
                        <a:t> on </a:t>
                      </a:r>
                      <a:r>
                        <a:rPr lang="en-GB" sz="2000" dirty="0" smtClean="0">
                          <a:effectLst/>
                        </a:rPr>
                        <a:t>microbes</a:t>
                      </a:r>
                      <a:r>
                        <a:rPr lang="en-GB" sz="2000" dirty="0">
                          <a:effectLst/>
                        </a:rPr>
                        <a:t> 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  <a:tr h="355211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strike="noStrike" dirty="0">
                          <a:effectLst/>
                        </a:rPr>
                        <a:t>Serum amyloid P component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Opsonin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  <a:tr h="888028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strike="noStrike" dirty="0">
                          <a:effectLst/>
                        </a:rPr>
                        <a:t>Serum amyloid 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>
                          <a:effectLst/>
                        </a:rPr>
                        <a:t>Recruitment of immune cells to inflammatory sites</a:t>
                      </a:r>
                    </a:p>
                    <a:p>
                      <a:pPr algn="l">
                        <a:buFont typeface="Arial" panose="020B0604020202020204" pitchFamily="34" charset="0"/>
                        <a:buChar char="•"/>
                      </a:pPr>
                      <a:r>
                        <a:rPr lang="en-GB" sz="2000" dirty="0">
                          <a:effectLst/>
                        </a:rPr>
                        <a:t>Induction of </a:t>
                      </a:r>
                      <a:r>
                        <a:rPr lang="en-GB" sz="2000" u="none" strike="noStrike" dirty="0">
                          <a:effectLst/>
                        </a:rPr>
                        <a:t>enzymes</a:t>
                      </a:r>
                      <a:r>
                        <a:rPr lang="en-GB" sz="2000" dirty="0">
                          <a:effectLst/>
                        </a:rPr>
                        <a:t> </a:t>
                      </a:r>
                      <a:r>
                        <a:rPr lang="en-GB" sz="2000" dirty="0" smtClean="0">
                          <a:effectLst/>
                        </a:rPr>
                        <a:t>that</a:t>
                      </a:r>
                      <a:r>
                        <a:rPr lang="en-GB" sz="2000" baseline="0" dirty="0" smtClean="0">
                          <a:effectLst/>
                        </a:rPr>
                        <a:t> </a:t>
                      </a:r>
                      <a:r>
                        <a:rPr lang="en-GB" sz="2000" dirty="0" smtClean="0">
                          <a:effectLst/>
                        </a:rPr>
                        <a:t>degrade</a:t>
                      </a:r>
                      <a:r>
                        <a:rPr lang="en-GB" sz="2000" dirty="0">
                          <a:effectLst/>
                        </a:rPr>
                        <a:t> </a:t>
                      </a:r>
                      <a:r>
                        <a:rPr lang="en-GB" sz="2000" u="none" strike="noStrike" dirty="0">
                          <a:effectLst/>
                        </a:rPr>
                        <a:t>extracellular matrix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strike="noStrike" dirty="0">
                          <a:effectLst/>
                        </a:rPr>
                        <a:t>Complement</a:t>
                      </a:r>
                      <a:r>
                        <a:rPr lang="en-US" sz="2000" dirty="0">
                          <a:effectLst/>
                        </a:rPr>
                        <a:t> factors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effectLst/>
                        </a:rPr>
                        <a:t>Opsonization, </a:t>
                      </a:r>
                      <a:r>
                        <a:rPr lang="en-GB" sz="2000" u="none" strike="noStrike" dirty="0" err="1">
                          <a:effectLst/>
                        </a:rPr>
                        <a:t>lysis</a:t>
                      </a:r>
                      <a:r>
                        <a:rPr lang="en-GB" sz="2000" dirty="0">
                          <a:effectLst/>
                        </a:rPr>
                        <a:t> and clumping of target </a:t>
                      </a:r>
                      <a:r>
                        <a:rPr lang="en-GB" sz="2000" dirty="0" smtClean="0">
                          <a:effectLst/>
                        </a:rPr>
                        <a:t>cells</a:t>
                      </a:r>
                      <a:r>
                        <a:rPr lang="en-GB" sz="2000" baseline="0" dirty="0" smtClean="0">
                          <a:effectLst/>
                        </a:rPr>
                        <a:t> and </a:t>
                      </a:r>
                      <a:r>
                        <a:rPr lang="en-GB" sz="2000" u="none" strike="noStrike" dirty="0" err="1" smtClean="0">
                          <a:effectLst/>
                        </a:rPr>
                        <a:t>Chemotaxis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  <a:tr h="621620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strike="noStrike" dirty="0" err="1">
                          <a:effectLst/>
                        </a:rPr>
                        <a:t>Mannan</a:t>
                      </a:r>
                      <a:r>
                        <a:rPr lang="en-US" sz="2000" u="none" strike="noStrike" dirty="0">
                          <a:effectLst/>
                        </a:rPr>
                        <a:t>-binding </a:t>
                      </a:r>
                      <a:r>
                        <a:rPr lang="en-US" sz="2000" u="none" strike="noStrike" dirty="0" err="1">
                          <a:effectLst/>
                        </a:rPr>
                        <a:t>lectin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r>
                        <a:rPr lang="en-GB" sz="2000" u="none" strike="noStrike" dirty="0" err="1">
                          <a:effectLst/>
                        </a:rPr>
                        <a:t>Mannan</a:t>
                      </a:r>
                      <a:r>
                        <a:rPr lang="en-GB" sz="2000" u="none" strike="noStrike" dirty="0">
                          <a:effectLst/>
                        </a:rPr>
                        <a:t>-binding </a:t>
                      </a:r>
                      <a:r>
                        <a:rPr lang="en-GB" sz="2000" u="none" strike="noStrike" dirty="0" err="1">
                          <a:effectLst/>
                        </a:rPr>
                        <a:t>lectin</a:t>
                      </a:r>
                      <a:r>
                        <a:rPr lang="en-GB" sz="2000" u="none" strike="noStrike" dirty="0">
                          <a:effectLst/>
                        </a:rPr>
                        <a:t> pathway</a:t>
                      </a:r>
                      <a:r>
                        <a:rPr lang="en-GB" sz="2000" dirty="0">
                          <a:effectLst/>
                        </a:rPr>
                        <a:t> of complement activation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  <a:tr h="888028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strike="noStrike" dirty="0">
                          <a:effectLst/>
                        </a:rPr>
                        <a:t>Fibrinogen</a:t>
                      </a:r>
                      <a:r>
                        <a:rPr lang="en-US" sz="2000" dirty="0">
                          <a:effectLst/>
                        </a:rPr>
                        <a:t>, </a:t>
                      </a:r>
                      <a:r>
                        <a:rPr lang="en-US" sz="2000" u="none" strike="noStrike" dirty="0" err="1">
                          <a:effectLst/>
                        </a:rPr>
                        <a:t>prothrombin</a:t>
                      </a:r>
                      <a:r>
                        <a:rPr lang="en-US" sz="2000" dirty="0">
                          <a:effectLst/>
                        </a:rPr>
                        <a:t>, </a:t>
                      </a:r>
                      <a:r>
                        <a:rPr lang="en-US" sz="2000" u="none" strike="noStrike" dirty="0">
                          <a:effectLst/>
                        </a:rPr>
                        <a:t>factor VIII</a:t>
                      </a:r>
                      <a:r>
                        <a:rPr lang="en-US" sz="2000" dirty="0">
                          <a:effectLst/>
                        </a:rPr>
                        <a:t>,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u="none" strike="noStrike" dirty="0">
                          <a:effectLst/>
                        </a:rPr>
                        <a:t>von </a:t>
                      </a:r>
                      <a:r>
                        <a:rPr lang="en-US" sz="2000" u="none" strike="noStrike" dirty="0" err="1">
                          <a:effectLst/>
                        </a:rPr>
                        <a:t>Willebrand</a:t>
                      </a:r>
                      <a:r>
                        <a:rPr lang="en-US" sz="2000" u="none" strike="noStrike" dirty="0">
                          <a:effectLst/>
                        </a:rPr>
                        <a:t> factor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  <a:tc>
                  <a:txBody>
                    <a:bodyPr/>
                    <a:lstStyle/>
                    <a:p>
                      <a:r>
                        <a:rPr lang="en-GB" sz="2000" u="none" strike="noStrike" dirty="0">
                          <a:effectLst/>
                        </a:rPr>
                        <a:t>Coagulation factors</a:t>
                      </a:r>
                      <a:r>
                        <a:rPr lang="en-GB" sz="2000" dirty="0">
                          <a:effectLst/>
                        </a:rPr>
                        <a:t>, trapping invading microbes in blood </a:t>
                      </a:r>
                      <a:r>
                        <a:rPr lang="en-GB" sz="2000" dirty="0" smtClean="0">
                          <a:effectLst/>
                        </a:rPr>
                        <a:t>clots</a:t>
                      </a:r>
                      <a:r>
                        <a:rPr lang="en-GB" sz="2000" baseline="0" dirty="0" smtClean="0">
                          <a:effectLst/>
                        </a:rPr>
                        <a:t> and s</a:t>
                      </a:r>
                      <a:r>
                        <a:rPr lang="en-GB" sz="2000" dirty="0" smtClean="0">
                          <a:effectLst/>
                        </a:rPr>
                        <a:t>ome </a:t>
                      </a:r>
                      <a:r>
                        <a:rPr lang="en-GB" sz="2000" dirty="0">
                          <a:effectLst/>
                        </a:rPr>
                        <a:t>cause </a:t>
                      </a:r>
                      <a:r>
                        <a:rPr lang="en-GB" sz="2000" dirty="0" err="1">
                          <a:effectLst/>
                        </a:rPr>
                        <a:t>chemotaxis</a:t>
                      </a:r>
                      <a:endParaRPr lang="en-GB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88803" marR="88803" marT="44401" marB="44401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11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87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con’t…Complement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026" y="1111827"/>
            <a:ext cx="6328063" cy="5455228"/>
          </a:xfrm>
        </p:spPr>
        <p:txBody>
          <a:bodyPr>
            <a:noAutofit/>
          </a:bodyPr>
          <a:lstStyle/>
          <a:p>
            <a:r>
              <a:rPr lang="en-US" sz="3200" dirty="0"/>
              <a:t>Damage to plasma membranes on cells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dirty="0" err="1">
                <a:solidFill>
                  <a:srgbClr val="0000FF"/>
                </a:solidFill>
              </a:rPr>
              <a:t>lysis</a:t>
            </a:r>
            <a:r>
              <a:rPr lang="en-US" sz="3200" b="1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sz="3200" dirty="0"/>
              <a:t>Attraction of phagocytes to sites of infection </a:t>
            </a:r>
            <a:r>
              <a:rPr lang="en-US" sz="3200" dirty="0">
                <a:solidFill>
                  <a:srgbClr val="0000FF"/>
                </a:solidFill>
              </a:rPr>
              <a:t>(</a:t>
            </a:r>
            <a:r>
              <a:rPr lang="en-US" sz="3200" b="1" dirty="0" err="1">
                <a:solidFill>
                  <a:srgbClr val="0000FF"/>
                </a:solidFill>
              </a:rPr>
              <a:t>Chemotaxis</a:t>
            </a:r>
            <a:r>
              <a:rPr lang="en-US" sz="3200" dirty="0" smtClean="0">
                <a:solidFill>
                  <a:srgbClr val="0000FF"/>
                </a:solidFill>
              </a:rPr>
              <a:t>)</a:t>
            </a:r>
          </a:p>
          <a:p>
            <a:r>
              <a:rPr lang="en-US" sz="3200" b="1" dirty="0" err="1">
                <a:solidFill>
                  <a:srgbClr val="0000FF"/>
                </a:solidFill>
              </a:rPr>
              <a:t>Opsonization</a:t>
            </a:r>
            <a:r>
              <a:rPr lang="en-US" sz="3200" dirty="0"/>
              <a:t> of microorganisms for uptake by </a:t>
            </a:r>
            <a:r>
              <a:rPr lang="en-US" sz="3200" dirty="0" smtClean="0"/>
              <a:t>phagocytes</a:t>
            </a:r>
          </a:p>
          <a:p>
            <a:r>
              <a:rPr lang="en-US" sz="3200" dirty="0" smtClean="0"/>
              <a:t>Increased </a:t>
            </a:r>
            <a:r>
              <a:rPr lang="en-US" sz="3200" dirty="0"/>
              <a:t>blood flow to the site of activation and </a:t>
            </a:r>
            <a:r>
              <a:rPr lang="en-US" sz="3200" dirty="0" smtClean="0"/>
              <a:t>in  se permeability </a:t>
            </a:r>
            <a:r>
              <a:rPr lang="en-US" sz="3200" dirty="0"/>
              <a:t>of capillaries to plasma </a:t>
            </a:r>
            <a:r>
              <a:rPr lang="en-US" sz="3200" dirty="0" smtClean="0"/>
              <a:t>molecules</a:t>
            </a:r>
          </a:p>
          <a:p>
            <a:r>
              <a:rPr lang="en-US" sz="3200" dirty="0" smtClean="0"/>
              <a:t>Release </a:t>
            </a:r>
            <a:r>
              <a:rPr lang="en-US" sz="3200" dirty="0"/>
              <a:t>of inflammatory mediators from mast cells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090" y="1111827"/>
            <a:ext cx="4790210" cy="5455227"/>
          </a:xfrm>
        </p:spPr>
      </p:pic>
      <p:sp>
        <p:nvSpPr>
          <p:cNvPr id="8" name="Up Arrow 7"/>
          <p:cNvSpPr/>
          <p:nvPr/>
        </p:nvSpPr>
        <p:spPr>
          <a:xfrm>
            <a:off x="3475756" y="4582391"/>
            <a:ext cx="181843" cy="353291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24FC6-7C10-4226-98D3-FB467DBDB34B}" type="datetime1">
              <a:rPr lang="en-US" smtClean="0"/>
              <a:t>2/5/2024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0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103909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</a:t>
            </a:r>
            <a:r>
              <a:rPr lang="en-US" sz="4800" b="1" dirty="0" smtClean="0">
                <a:solidFill>
                  <a:srgbClr val="FF0000"/>
                </a:solidFill>
              </a:rPr>
              <a:t>con’t…Antibodies 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652155"/>
            <a:ext cx="6289965" cy="4524808"/>
          </a:xfrm>
        </p:spPr>
        <p:txBody>
          <a:bodyPr>
            <a:normAutofit/>
          </a:bodyPr>
          <a:lstStyle/>
          <a:p>
            <a:r>
              <a:rPr lang="en-US" dirty="0"/>
              <a:t>Antibodies are soluble glycoproteins that recognize and bind antigens present in serum, tissue fluids or on cell membranes. </a:t>
            </a:r>
          </a:p>
          <a:p>
            <a:r>
              <a:rPr lang="en-US" dirty="0" err="1"/>
              <a:t>Immunoglobulins</a:t>
            </a:r>
            <a:r>
              <a:rPr lang="en-US" dirty="0"/>
              <a:t> also function as membrane-bound antigen receptors on B cells and play key roles in B cell differentiation.</a:t>
            </a:r>
          </a:p>
          <a:p>
            <a:r>
              <a:rPr lang="en-US" dirty="0"/>
              <a:t>There are five classes of antibody in mammals – </a:t>
            </a:r>
            <a:r>
              <a:rPr lang="en-US" dirty="0" err="1"/>
              <a:t>IgG</a:t>
            </a:r>
            <a:r>
              <a:rPr lang="en-US" dirty="0"/>
              <a:t>, IgA, </a:t>
            </a:r>
            <a:r>
              <a:rPr lang="en-US" dirty="0" err="1"/>
              <a:t>IgM</a:t>
            </a:r>
            <a:r>
              <a:rPr lang="en-US" dirty="0"/>
              <a:t>, </a:t>
            </a:r>
            <a:r>
              <a:rPr lang="en-US" dirty="0" err="1"/>
              <a:t>IgD</a:t>
            </a:r>
            <a:r>
              <a:rPr lang="en-US" dirty="0"/>
              <a:t>, and </a:t>
            </a:r>
            <a:r>
              <a:rPr lang="en-US" dirty="0" err="1"/>
              <a:t>IgE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682" y="1652155"/>
            <a:ext cx="3937293" cy="4614502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9507-EE43-4BCA-BA7D-256B24D250E9}" type="datetime1">
              <a:rPr lang="en-US" smtClean="0"/>
              <a:t>2/5/2024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3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45574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con’t…Antibodies </a:t>
            </a:r>
            <a:endParaRPr lang="en-US" sz="4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0FC4-38EA-4EE6-8A65-BE0E8895530F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978780"/>
              </p:ext>
            </p:extLst>
          </p:nvPr>
        </p:nvGraphicFramePr>
        <p:xfrm>
          <a:off x="259772" y="945574"/>
          <a:ext cx="11700164" cy="5268190"/>
        </p:xfrm>
        <a:graphic>
          <a:graphicData uri="http://schemas.openxmlformats.org/drawingml/2006/table">
            <a:tbl>
              <a:tblPr firstRow="1" firstCol="1" bandRow="1"/>
              <a:tblGrid>
                <a:gridCol w="802630"/>
                <a:gridCol w="10897534"/>
              </a:tblGrid>
              <a:tr h="57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b="1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</a:tr>
              <a:tr h="8700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IgA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Found in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mucosal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areas, such as the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gut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respiratory tract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and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urogenital </a:t>
                      </a:r>
                      <a:r>
                        <a:rPr lang="en-US" sz="20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tract.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They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colonization by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pathogens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Also found in saliva,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tears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 breast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milk.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8520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IgD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 mainly as an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antigen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receptor on B cells that have not been exposed to antigens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It also activates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basophils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and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mast cells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to produce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antimicrobial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factors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897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Binds to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allergens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and triggers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histamine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release from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mast </a:t>
                      </a:r>
                      <a:r>
                        <a:rPr lang="en-US" sz="20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cells</a:t>
                      </a:r>
                      <a:r>
                        <a:rPr lang="en-US" sz="20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basophils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is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also involved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allergy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200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IgE</a:t>
                      </a:r>
                      <a:r>
                        <a:rPr lang="en-US" sz="200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also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protects the body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against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parasitic </a:t>
                      </a:r>
                      <a:r>
                        <a:rPr lang="en-US" sz="20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worms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90400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 its four forms, provides the majority of antibody-based immunity against invading pathogens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The only antibody capable of crossing the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placenta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to give passive immunity to the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fetus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12780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u="none" strike="noStrik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IgM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Expressed on the surface of B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cells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and in a secreted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form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with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 </a:t>
                      </a:r>
                      <a:r>
                        <a:rPr lang="en-US" sz="2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avidity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Eliminates pathogens in the early stages of B cell-mediated (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humoral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 immunity before there is sufficient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IgG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10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8209"/>
            <a:ext cx="10515600" cy="108065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</a:t>
            </a:r>
            <a:r>
              <a:rPr lang="en-US" sz="4800" b="1" dirty="0" smtClean="0">
                <a:solidFill>
                  <a:srgbClr val="FF0000"/>
                </a:solidFill>
              </a:rPr>
              <a:t>con’t…Cytokines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8445" cy="4351338"/>
          </a:xfrm>
        </p:spPr>
        <p:txBody>
          <a:bodyPr>
            <a:normAutofit/>
          </a:bodyPr>
          <a:lstStyle/>
          <a:p>
            <a:r>
              <a:rPr lang="en-US" sz="3600" dirty="0"/>
              <a:t>Cytokines are a group of proteins secreted by cells of the immune system that act as </a:t>
            </a:r>
            <a:r>
              <a:rPr lang="en-US" sz="3600" b="1" dirty="0">
                <a:solidFill>
                  <a:srgbClr val="0000FF"/>
                </a:solidFill>
              </a:rPr>
              <a:t>chemical </a:t>
            </a:r>
            <a:r>
              <a:rPr lang="en-US" sz="3600" b="1" dirty="0" smtClean="0">
                <a:solidFill>
                  <a:srgbClr val="0000FF"/>
                </a:solidFill>
              </a:rPr>
              <a:t>messengers.</a:t>
            </a:r>
          </a:p>
          <a:p>
            <a:pPr marL="0" indent="0">
              <a:buNone/>
            </a:pPr>
            <a:endParaRPr lang="en-US" sz="3600" dirty="0" smtClean="0"/>
          </a:p>
          <a:p>
            <a:r>
              <a:rPr lang="en-US" sz="3600" dirty="0" smtClean="0"/>
              <a:t>Their </a:t>
            </a:r>
            <a:r>
              <a:rPr lang="en-US" sz="3600" dirty="0"/>
              <a:t>main role is to help regulate the immune response and are of five different types which include </a:t>
            </a:r>
            <a:r>
              <a:rPr lang="en-US" sz="3600" b="1" i="1" dirty="0" err="1">
                <a:solidFill>
                  <a:srgbClr val="0000FF"/>
                </a:solidFill>
              </a:rPr>
              <a:t>Chemokines</a:t>
            </a:r>
            <a:r>
              <a:rPr lang="en-US" sz="3600" b="1" i="1" dirty="0">
                <a:solidFill>
                  <a:srgbClr val="0000FF"/>
                </a:solidFill>
              </a:rPr>
              <a:t>, </a:t>
            </a:r>
            <a:r>
              <a:rPr lang="en-US" sz="3600" b="1" i="1" dirty="0" err="1">
                <a:solidFill>
                  <a:srgbClr val="0000FF"/>
                </a:solidFill>
              </a:rPr>
              <a:t>Interferones</a:t>
            </a:r>
            <a:r>
              <a:rPr lang="en-US" sz="3600" b="1" i="1" dirty="0">
                <a:solidFill>
                  <a:srgbClr val="0000FF"/>
                </a:solidFill>
              </a:rPr>
              <a:t>, </a:t>
            </a:r>
            <a:r>
              <a:rPr lang="en-US" sz="3600" b="1" i="1" dirty="0" err="1">
                <a:solidFill>
                  <a:srgbClr val="0000FF"/>
                </a:solidFill>
              </a:rPr>
              <a:t>Interleukines</a:t>
            </a:r>
            <a:r>
              <a:rPr lang="en-US" sz="3600" b="1" i="1" dirty="0">
                <a:solidFill>
                  <a:srgbClr val="0000FF"/>
                </a:solidFill>
              </a:rPr>
              <a:t>, </a:t>
            </a:r>
            <a:r>
              <a:rPr lang="en-US" sz="3600" b="1" i="1" dirty="0" err="1">
                <a:solidFill>
                  <a:srgbClr val="0000FF"/>
                </a:solidFill>
              </a:rPr>
              <a:t>Lymphokines</a:t>
            </a:r>
            <a:r>
              <a:rPr lang="en-US" sz="3600" b="1" i="1" dirty="0">
                <a:solidFill>
                  <a:srgbClr val="0000FF"/>
                </a:solidFill>
              </a:rPr>
              <a:t> </a:t>
            </a:r>
            <a:r>
              <a:rPr lang="en-US" sz="3600" dirty="0"/>
              <a:t>and</a:t>
            </a:r>
            <a:r>
              <a:rPr lang="en-US" sz="3600" b="1" i="1" dirty="0">
                <a:solidFill>
                  <a:srgbClr val="0000FF"/>
                </a:solidFill>
              </a:rPr>
              <a:t> Tumor Necrosis Factor. </a:t>
            </a:r>
            <a:endParaRPr lang="en-US" sz="3600" b="1" dirty="0">
              <a:solidFill>
                <a:srgbClr val="0000FF"/>
              </a:solidFill>
            </a:endParaRP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B31EA-7BB2-407A-AC2A-001FD2BCC016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7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127"/>
            <a:ext cx="10515600" cy="109104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</a:t>
            </a:r>
            <a:r>
              <a:rPr lang="en-US" sz="4800" b="1" dirty="0" smtClean="0">
                <a:solidFill>
                  <a:srgbClr val="FF0000"/>
                </a:solidFill>
              </a:rPr>
              <a:t>con’t…</a:t>
            </a:r>
            <a:r>
              <a:rPr lang="en-US" sz="4800" b="1" dirty="0" err="1" smtClean="0">
                <a:solidFill>
                  <a:srgbClr val="FF0000"/>
                </a:solidFill>
              </a:rPr>
              <a:t>Chemokines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155" y="1413164"/>
            <a:ext cx="11180618" cy="5185063"/>
          </a:xfrm>
        </p:spPr>
        <p:txBody>
          <a:bodyPr>
            <a:noAutofit/>
          </a:bodyPr>
          <a:lstStyle/>
          <a:p>
            <a:r>
              <a:rPr lang="en-US" sz="3200" dirty="0"/>
              <a:t>Chemokines induce </a:t>
            </a:r>
            <a:r>
              <a:rPr lang="en-US" sz="3200" b="1" dirty="0">
                <a:solidFill>
                  <a:srgbClr val="0000FF"/>
                </a:solidFill>
              </a:rPr>
              <a:t>chemotaxis</a:t>
            </a:r>
            <a:r>
              <a:rPr lang="en-US" sz="3200" dirty="0"/>
              <a:t> </a:t>
            </a:r>
            <a:r>
              <a:rPr lang="en-US" sz="3200" dirty="0" smtClean="0"/>
              <a:t>by </a:t>
            </a:r>
            <a:r>
              <a:rPr lang="en-US" sz="3200" dirty="0"/>
              <a:t>calling in cells to the sites of infection. </a:t>
            </a:r>
            <a:endParaRPr lang="en-US" sz="3200" dirty="0" smtClean="0"/>
          </a:p>
          <a:p>
            <a:r>
              <a:rPr lang="en-US" sz="3200" dirty="0" smtClean="0"/>
              <a:t>Chemokines </a:t>
            </a:r>
            <a:r>
              <a:rPr lang="en-US" sz="3200" dirty="0"/>
              <a:t>have been classified into four main subfamilies i.e. </a:t>
            </a:r>
            <a:r>
              <a:rPr lang="en-US" sz="3200" b="1" dirty="0">
                <a:solidFill>
                  <a:srgbClr val="0000FF"/>
                </a:solidFill>
              </a:rPr>
              <a:t>CXC, CC, CX3C </a:t>
            </a:r>
            <a:r>
              <a:rPr lang="en-US" sz="3200" dirty="0"/>
              <a:t>and</a:t>
            </a:r>
            <a:r>
              <a:rPr lang="en-US" sz="3200" b="1" dirty="0">
                <a:solidFill>
                  <a:srgbClr val="0000FF"/>
                </a:solidFill>
              </a:rPr>
              <a:t> XC</a:t>
            </a:r>
            <a:r>
              <a:rPr lang="en-US" sz="3200" dirty="0"/>
              <a:t>. </a:t>
            </a:r>
            <a:endParaRPr lang="en-US" sz="3200" dirty="0" smtClean="0"/>
          </a:p>
          <a:p>
            <a:r>
              <a:rPr lang="en-US" sz="3200" dirty="0" smtClean="0"/>
              <a:t>All </a:t>
            </a:r>
            <a:r>
              <a:rPr lang="en-US" sz="3200" dirty="0"/>
              <a:t>of these proteins exert their biological effects by interacting with </a:t>
            </a:r>
            <a:r>
              <a:rPr lang="en-US" sz="3200" b="1" dirty="0" smtClean="0">
                <a:solidFill>
                  <a:srgbClr val="0000FF"/>
                </a:solidFill>
              </a:rPr>
              <a:t>chemokine </a:t>
            </a:r>
            <a:r>
              <a:rPr lang="en-US" sz="3200" b="1" dirty="0">
                <a:solidFill>
                  <a:srgbClr val="0000FF"/>
                </a:solidFill>
              </a:rPr>
              <a:t>receptors </a:t>
            </a:r>
            <a:r>
              <a:rPr lang="en-US" sz="3200" dirty="0"/>
              <a:t>that are selectively found on the surfaces of their target cells. </a:t>
            </a:r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Cells </a:t>
            </a:r>
            <a:r>
              <a:rPr lang="en-US" sz="3200" dirty="0"/>
              <a:t>that are attracted by chemokines follow a signal of </a:t>
            </a:r>
            <a:r>
              <a:rPr lang="en-US" sz="3200" b="1" dirty="0">
                <a:solidFill>
                  <a:srgbClr val="0000FF"/>
                </a:solidFill>
              </a:rPr>
              <a:t>increasing chemokine concentration </a:t>
            </a:r>
            <a:r>
              <a:rPr lang="en-US" sz="3200" dirty="0"/>
              <a:t>towards the source of the chemokine.</a:t>
            </a:r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4318C-156E-4D50-B9CA-FFBF0052A124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2508"/>
            <a:ext cx="10515600" cy="11326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</a:t>
            </a:r>
            <a:r>
              <a:rPr lang="en-US" sz="4800" b="1" dirty="0" err="1" smtClean="0">
                <a:solidFill>
                  <a:srgbClr val="FF0000"/>
                </a:solidFill>
              </a:rPr>
              <a:t>con’t</a:t>
            </a:r>
            <a:r>
              <a:rPr lang="en-US" sz="4800" b="1" dirty="0" smtClean="0">
                <a:solidFill>
                  <a:srgbClr val="FF0000"/>
                </a:solidFill>
              </a:rPr>
              <a:t>…Interferons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1787236"/>
            <a:ext cx="11118273" cy="4977246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Interferons (IFN) </a:t>
            </a:r>
            <a:r>
              <a:rPr lang="en-US" sz="3600" dirty="0"/>
              <a:t>are proteins that </a:t>
            </a:r>
            <a:r>
              <a:rPr lang="en-US" sz="3600" b="1" dirty="0">
                <a:solidFill>
                  <a:srgbClr val="0000FF"/>
                </a:solidFill>
              </a:rPr>
              <a:t>inhibit </a:t>
            </a:r>
            <a:r>
              <a:rPr lang="en-US" sz="3600" dirty="0"/>
              <a:t>viruses from </a:t>
            </a:r>
            <a:r>
              <a:rPr lang="en-US" sz="3600" b="1" dirty="0">
                <a:solidFill>
                  <a:srgbClr val="0000FF"/>
                </a:solidFill>
              </a:rPr>
              <a:t>replicating</a:t>
            </a:r>
            <a:r>
              <a:rPr lang="en-US" sz="3600" dirty="0"/>
              <a:t>. </a:t>
            </a:r>
            <a:endParaRPr lang="en-US" sz="3600" dirty="0" smtClean="0"/>
          </a:p>
          <a:p>
            <a:r>
              <a:rPr lang="en-US" sz="3600" dirty="0" smtClean="0"/>
              <a:t>If </a:t>
            </a:r>
            <a:r>
              <a:rPr lang="en-US" sz="3600" dirty="0"/>
              <a:t>a cell gets infected by a virus, it releases </a:t>
            </a:r>
            <a:r>
              <a:rPr lang="en-US" sz="3600" b="1" dirty="0">
                <a:solidFill>
                  <a:srgbClr val="0000FF"/>
                </a:solidFill>
              </a:rPr>
              <a:t>IFNα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0000FF"/>
                </a:solidFill>
              </a:rPr>
              <a:t>IFNβ</a:t>
            </a:r>
            <a:r>
              <a:rPr lang="en-US" sz="3600" dirty="0"/>
              <a:t> </a:t>
            </a:r>
            <a:r>
              <a:rPr lang="en-US" sz="3600" dirty="0" smtClean="0"/>
              <a:t>in </a:t>
            </a:r>
            <a:r>
              <a:rPr lang="en-US" sz="3600" dirty="0"/>
              <a:t>addition to </a:t>
            </a:r>
            <a:r>
              <a:rPr lang="en-US" sz="3600" b="1" dirty="0" err="1">
                <a:solidFill>
                  <a:srgbClr val="0000FF"/>
                </a:solidFill>
              </a:rPr>
              <a:t>IFNγ</a:t>
            </a:r>
            <a:r>
              <a:rPr lang="en-US" sz="3600" dirty="0"/>
              <a:t> </a:t>
            </a:r>
            <a:r>
              <a:rPr lang="en-US" sz="3600" dirty="0" smtClean="0"/>
              <a:t>released </a:t>
            </a:r>
            <a:r>
              <a:rPr lang="en-US" sz="3600" dirty="0"/>
              <a:t>by </a:t>
            </a:r>
            <a:r>
              <a:rPr lang="en-US" sz="3600" b="1" dirty="0">
                <a:solidFill>
                  <a:srgbClr val="0000FF"/>
                </a:solidFill>
              </a:rPr>
              <a:t>activated </a:t>
            </a:r>
            <a:r>
              <a:rPr lang="en-US" sz="3600" b="1" dirty="0" smtClean="0">
                <a:solidFill>
                  <a:srgbClr val="0000FF"/>
                </a:solidFill>
              </a:rPr>
              <a:t>Th1 </a:t>
            </a:r>
            <a:r>
              <a:rPr lang="en-US" sz="3600" b="1" dirty="0">
                <a:solidFill>
                  <a:srgbClr val="0000FF"/>
                </a:solidFill>
              </a:rPr>
              <a:t>cells</a:t>
            </a:r>
            <a:r>
              <a:rPr lang="en-US" sz="3600" dirty="0"/>
              <a:t>.  </a:t>
            </a:r>
            <a:endParaRPr lang="en-US" sz="3600" dirty="0" smtClean="0"/>
          </a:p>
          <a:p>
            <a:r>
              <a:rPr lang="en-US" sz="3600" dirty="0" smtClean="0"/>
              <a:t>This </a:t>
            </a:r>
            <a:r>
              <a:rPr lang="en-US" sz="3600" dirty="0"/>
              <a:t>signals other cells to put up their shields so that the virus doesn’t spread </a:t>
            </a:r>
            <a:r>
              <a:rPr lang="en-US" sz="3600" dirty="0">
                <a:solidFill>
                  <a:srgbClr val="0000FF"/>
                </a:solidFill>
              </a:rPr>
              <a:t>(</a:t>
            </a:r>
            <a:r>
              <a:rPr lang="en-US" sz="3600" b="1" dirty="0">
                <a:solidFill>
                  <a:srgbClr val="0000FF"/>
                </a:solidFill>
              </a:rPr>
              <a:t>macrophages form granulomas</a:t>
            </a:r>
            <a:r>
              <a:rPr lang="en-US" sz="3600" dirty="0">
                <a:solidFill>
                  <a:srgbClr val="0000FF"/>
                </a:solidFill>
              </a:rPr>
              <a:t>). </a:t>
            </a:r>
            <a:endParaRPr lang="en-US" sz="3600" dirty="0" smtClean="0">
              <a:solidFill>
                <a:srgbClr val="0000FF"/>
              </a:solidFill>
            </a:endParaRPr>
          </a:p>
          <a:p>
            <a:r>
              <a:rPr lang="en-US" sz="3600" dirty="0" smtClean="0"/>
              <a:t>Interferons </a:t>
            </a:r>
            <a:r>
              <a:rPr lang="en-US" sz="3600" dirty="0"/>
              <a:t>also </a:t>
            </a:r>
            <a:r>
              <a:rPr lang="en-US" sz="3600" b="1" dirty="0">
                <a:solidFill>
                  <a:srgbClr val="0000FF"/>
                </a:solidFill>
              </a:rPr>
              <a:t>activate NK cells</a:t>
            </a:r>
            <a:r>
              <a:rPr lang="en-US" sz="3600" dirty="0"/>
              <a:t> to fight against viral infected cells. 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1443A-E661-40F9-B07F-1784B4EFCD45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6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con’t…</a:t>
            </a:r>
            <a:r>
              <a:rPr lang="en-US" sz="4800" b="1" dirty="0" err="1">
                <a:solidFill>
                  <a:srgbClr val="FF0000"/>
                </a:solidFill>
              </a:rPr>
              <a:t>Interferones</a:t>
            </a: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37855"/>
            <a:ext cx="5157787" cy="69619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000FF"/>
                </a:solidFill>
              </a:rPr>
              <a:t>Granuloma - TB Disease 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52882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0000FF"/>
                </a:solidFill>
              </a:rPr>
              <a:t>Action of </a:t>
            </a:r>
            <a:r>
              <a:rPr lang="en-US" sz="3200" dirty="0" err="1" smtClean="0">
                <a:solidFill>
                  <a:srgbClr val="0000FF"/>
                </a:solidFill>
              </a:rPr>
              <a:t>Interferones</a:t>
            </a:r>
            <a:r>
              <a:rPr lang="en-US" sz="3200" dirty="0" smtClean="0">
                <a:solidFill>
                  <a:srgbClr val="0000FF"/>
                </a:solidFill>
              </a:rPr>
              <a:t> </a:t>
            </a:r>
            <a:endParaRPr lang="en-US" sz="3200" dirty="0">
              <a:solidFill>
                <a:srgbClr val="0000FF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143" y="2234046"/>
            <a:ext cx="5372245" cy="4487430"/>
          </a:xfrm>
        </p:spPr>
      </p:pic>
      <p:pic>
        <p:nvPicPr>
          <p:cNvPr id="7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62" y="2234046"/>
            <a:ext cx="5143355" cy="4623954"/>
          </a:xfr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DCB7-618C-4811-AD42-04DFBCE15C34}" type="datetime1">
              <a:rPr lang="en-US" smtClean="0"/>
              <a:t>2/5/2024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3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5473"/>
            <a:ext cx="10515600" cy="134042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Immune molecules </a:t>
            </a:r>
            <a:r>
              <a:rPr lang="en-US" sz="4800" b="1" dirty="0" err="1" smtClean="0">
                <a:solidFill>
                  <a:srgbClr val="FF0000"/>
                </a:solidFill>
              </a:rPr>
              <a:t>con’t</a:t>
            </a:r>
            <a:r>
              <a:rPr lang="en-US" sz="4800" b="1" dirty="0" smtClean="0">
                <a:solidFill>
                  <a:srgbClr val="FF0000"/>
                </a:solidFill>
              </a:rPr>
              <a:t>…Interleukins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09" y="1485900"/>
            <a:ext cx="11336481" cy="509154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Interleukins (IL) </a:t>
            </a:r>
            <a:r>
              <a:rPr lang="en-US" sz="3600" dirty="0"/>
              <a:t>are proteins that regulate immune and inflammatory responses. </a:t>
            </a:r>
            <a:endParaRPr lang="en-US" sz="3600" dirty="0" smtClean="0"/>
          </a:p>
          <a:p>
            <a:endParaRPr lang="en-US" sz="3600" dirty="0" smtClean="0"/>
          </a:p>
          <a:p>
            <a:r>
              <a:rPr lang="en-US" sz="3600" dirty="0" smtClean="0"/>
              <a:t>They </a:t>
            </a:r>
            <a:r>
              <a:rPr lang="en-US" sz="3600" dirty="0"/>
              <a:t>are produced by WBCs and their role in the immune system is to </a:t>
            </a:r>
            <a:r>
              <a:rPr lang="en-US" sz="3600" b="1" dirty="0">
                <a:solidFill>
                  <a:srgbClr val="0000FF"/>
                </a:solidFill>
              </a:rPr>
              <a:t>promote growth, maturation </a:t>
            </a:r>
            <a:r>
              <a:rPr lang="en-US" sz="3600" dirty="0"/>
              <a:t>and</a:t>
            </a:r>
            <a:r>
              <a:rPr lang="en-US" sz="3600" b="1" dirty="0">
                <a:solidFill>
                  <a:srgbClr val="0000FF"/>
                </a:solidFill>
              </a:rPr>
              <a:t> activation </a:t>
            </a:r>
            <a:r>
              <a:rPr lang="en-US" sz="3600" dirty="0"/>
              <a:t>of immune cells. </a:t>
            </a:r>
            <a:endParaRPr lang="en-US" sz="3600" dirty="0" smtClean="0"/>
          </a:p>
          <a:p>
            <a:endParaRPr lang="en-US" sz="3600" dirty="0" smtClean="0"/>
          </a:p>
          <a:p>
            <a:pPr marL="0" indent="0">
              <a:buNone/>
            </a:pPr>
            <a:r>
              <a:rPr lang="en-US" sz="2000" dirty="0" smtClean="0"/>
              <a:t>Several </a:t>
            </a:r>
            <a:r>
              <a:rPr lang="en-US" sz="2000" dirty="0"/>
              <a:t>types are there though we will discuss only a few of them. 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AAD5-8D8E-43F5-A916-AF0FCBDDCF66}" type="datetime1">
              <a:rPr lang="en-US" smtClean="0"/>
              <a:t>2/5/2024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8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74995"/>
              </p:ext>
            </p:extLst>
          </p:nvPr>
        </p:nvGraphicFramePr>
        <p:xfrm>
          <a:off x="706581" y="176650"/>
          <a:ext cx="10889674" cy="6729339"/>
        </p:xfrm>
        <a:graphic>
          <a:graphicData uri="http://schemas.openxmlformats.org/drawingml/2006/table">
            <a:tbl>
              <a:tblPr firstRow="1" firstCol="1" bandRow="1"/>
              <a:tblGrid>
                <a:gridCol w="1839192"/>
                <a:gridCol w="2431472"/>
                <a:gridCol w="2410691"/>
                <a:gridCol w="4208319"/>
              </a:tblGrid>
              <a:tr h="4769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Interleukins (IL)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Source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Target cell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Function in the target cell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1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Macrophages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Endothelium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Induce fever &amp; inflammation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Maturation &amp; proliferation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NK cells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Activation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0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2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Th1 cell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cells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Stimulates growth &amp; differentiation of T cell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3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Activated Th cells, NK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Hematopoietic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Differentiation and proliferation of myeloid progenitor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cells  &amp;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Esinophils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Esinophils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Activation &amp; production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 cells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Differentiation &amp; </a:t>
                      </a:r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IgA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production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6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Macrophages, B cells &amp;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cells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Activated B cell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Differentiation into 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plasma cells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Plasma cells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Antibody secretion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Hematopoietic cells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Differentiation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8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8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Lymphocytes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Neutrophil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Neutrophil 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chemotaxis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1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14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Activated B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Controls growth &amp; proliferation of B cells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4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IL 15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Mononuclear phagocytes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Activated B cells and T cells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Induces production of NK cells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341" marR="4434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B1CD-DDB7-4E76-BE7F-53745860A6EE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7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3136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Immune molecules </a:t>
            </a:r>
            <a:r>
              <a:rPr lang="en-US" b="1" dirty="0" smtClean="0">
                <a:solidFill>
                  <a:srgbClr val="FF0000"/>
                </a:solidFill>
              </a:rPr>
              <a:t>con’t…Tumor Necrotic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76264" cy="435133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Tumor Necrotic Factor (TNF) </a:t>
            </a:r>
            <a:r>
              <a:rPr lang="en-US" sz="3600" dirty="0"/>
              <a:t>is the main trigger of inflammation. </a:t>
            </a:r>
            <a:endParaRPr lang="en-US" sz="3600" dirty="0" smtClean="0"/>
          </a:p>
          <a:p>
            <a:pPr marL="0" indent="0">
              <a:buNone/>
            </a:pPr>
            <a:endParaRPr lang="en-US" sz="3600" dirty="0" smtClean="0"/>
          </a:p>
          <a:p>
            <a:r>
              <a:rPr lang="en-US" sz="3600" dirty="0" smtClean="0"/>
              <a:t>It </a:t>
            </a:r>
            <a:r>
              <a:rPr lang="en-US" sz="3600" dirty="0"/>
              <a:t>affects local blood vessels by increasing vascular permeability which leads to accumulation of </a:t>
            </a:r>
            <a:r>
              <a:rPr lang="en-US" sz="3600" dirty="0" smtClean="0"/>
              <a:t>immunoglobulins, </a:t>
            </a:r>
            <a:r>
              <a:rPr lang="en-US" sz="3600" dirty="0"/>
              <a:t>complements and blood proteins in the tissue. 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A2FD-9D37-4AF6-B120-24C7CED807CD}" type="datetime1">
              <a:rPr lang="en-US" smtClean="0"/>
              <a:t>2/5/2024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6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255"/>
            <a:ext cx="10515600" cy="126769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3</a:t>
            </a:r>
            <a:r>
              <a:rPr lang="en-US" sz="4800" b="1" dirty="0" smtClean="0">
                <a:solidFill>
                  <a:srgbClr val="FF0000"/>
                </a:solidFill>
              </a:rPr>
              <a:t>. Organs of the immune system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109" y="1506682"/>
            <a:ext cx="11201400" cy="5122718"/>
          </a:xfrm>
        </p:spPr>
        <p:txBody>
          <a:bodyPr>
            <a:noAutofit/>
          </a:bodyPr>
          <a:lstStyle/>
          <a:p>
            <a:r>
              <a:rPr lang="en-US" sz="3600" dirty="0"/>
              <a:t>Primary lymphoid organs are sites where stem cells divide and become </a:t>
            </a:r>
            <a:r>
              <a:rPr lang="en-US" sz="3600" b="1" dirty="0" err="1">
                <a:solidFill>
                  <a:srgbClr val="0000FF"/>
                </a:solidFill>
              </a:rPr>
              <a:t>immunocompetent</a:t>
            </a:r>
            <a:r>
              <a:rPr lang="en-US" sz="3600" dirty="0"/>
              <a:t> </a:t>
            </a:r>
            <a:r>
              <a:rPr lang="en-US" sz="3600" dirty="0" smtClean="0"/>
              <a:t>- capable </a:t>
            </a:r>
            <a:r>
              <a:rPr lang="en-US" sz="3600" dirty="0"/>
              <a:t>of recognizing and attacking foreign </a:t>
            </a:r>
            <a:r>
              <a:rPr lang="en-US" sz="3600" dirty="0" smtClean="0"/>
              <a:t>antigens to </a:t>
            </a:r>
            <a:r>
              <a:rPr lang="en-US" sz="3600" dirty="0"/>
              <a:t>elicit an immune response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r>
              <a:rPr lang="en-US" sz="3600" dirty="0" smtClean="0"/>
              <a:t> </a:t>
            </a:r>
          </a:p>
          <a:p>
            <a:r>
              <a:rPr lang="en-US" sz="3600" dirty="0" smtClean="0"/>
              <a:t>B </a:t>
            </a:r>
            <a:r>
              <a:rPr lang="en-US" sz="3600" dirty="0"/>
              <a:t>cells stay in the </a:t>
            </a:r>
            <a:r>
              <a:rPr lang="en-US" sz="3600" b="1" dirty="0">
                <a:solidFill>
                  <a:srgbClr val="0000FF"/>
                </a:solidFill>
              </a:rPr>
              <a:t>bone marrow</a:t>
            </a:r>
            <a:r>
              <a:rPr lang="en-US" sz="3600" dirty="0">
                <a:solidFill>
                  <a:srgbClr val="0000FF"/>
                </a:solidFill>
              </a:rPr>
              <a:t> </a:t>
            </a:r>
            <a:r>
              <a:rPr lang="en-US" sz="3600" dirty="0"/>
              <a:t>until they are </a:t>
            </a:r>
            <a:r>
              <a:rPr lang="en-US" sz="3600" dirty="0" err="1"/>
              <a:t>immunocompetent</a:t>
            </a:r>
            <a:r>
              <a:rPr lang="en-US" sz="3600" dirty="0"/>
              <a:t> before moving to secondary lymphoid </a:t>
            </a:r>
            <a:r>
              <a:rPr lang="en-US" sz="3600" dirty="0" smtClean="0"/>
              <a:t>organs while T cells move </a:t>
            </a:r>
            <a:r>
              <a:rPr lang="en-US" sz="3600" dirty="0"/>
              <a:t>to the </a:t>
            </a:r>
            <a:r>
              <a:rPr lang="en-US" sz="3600" b="1" dirty="0">
                <a:solidFill>
                  <a:srgbClr val="0000FF"/>
                </a:solidFill>
              </a:rPr>
              <a:t>thymus</a:t>
            </a:r>
            <a:r>
              <a:rPr lang="en-US" sz="3600" dirty="0"/>
              <a:t> </a:t>
            </a:r>
            <a:r>
              <a:rPr lang="en-US" sz="3600" dirty="0" smtClean="0"/>
              <a:t>for </a:t>
            </a:r>
            <a:r>
              <a:rPr lang="en-US" sz="3600" dirty="0"/>
              <a:t>maturation before moving to secondary lymphoid </a:t>
            </a:r>
            <a:r>
              <a:rPr lang="en-US" sz="3600" dirty="0" smtClean="0"/>
              <a:t>organs</a:t>
            </a:r>
            <a:r>
              <a:rPr lang="en-US" sz="3600" dirty="0"/>
              <a:t> 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75E9-F19D-493A-B1AE-200E9028F350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078" y="166254"/>
            <a:ext cx="10515600" cy="128847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Organs </a:t>
            </a:r>
            <a:r>
              <a:rPr lang="en-US" sz="4800" b="1" dirty="0">
                <a:solidFill>
                  <a:srgbClr val="FF0000"/>
                </a:solidFill>
              </a:rPr>
              <a:t>of the immune </a:t>
            </a:r>
            <a:r>
              <a:rPr lang="en-US" sz="4800" b="1" dirty="0" smtClean="0">
                <a:solidFill>
                  <a:srgbClr val="FF0000"/>
                </a:solidFill>
              </a:rPr>
              <a:t>system con’t…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7" y="1641764"/>
            <a:ext cx="11336482" cy="5091544"/>
          </a:xfrm>
        </p:spPr>
        <p:txBody>
          <a:bodyPr>
            <a:noAutofit/>
          </a:bodyPr>
          <a:lstStyle/>
          <a:p>
            <a:r>
              <a:rPr lang="en-US" sz="3200" dirty="0"/>
              <a:t>S</a:t>
            </a:r>
            <a:r>
              <a:rPr lang="en-US" sz="3200" dirty="0" smtClean="0"/>
              <a:t>econdary </a:t>
            </a:r>
            <a:r>
              <a:rPr lang="en-US" sz="3200" dirty="0"/>
              <a:t>lymphoid organs are sites of </a:t>
            </a:r>
            <a:r>
              <a:rPr lang="en-US" sz="3200" b="1" dirty="0">
                <a:solidFill>
                  <a:srgbClr val="0000FF"/>
                </a:solidFill>
              </a:rPr>
              <a:t>lymphocytes recirculation </a:t>
            </a:r>
            <a:r>
              <a:rPr lang="en-US" sz="3200" dirty="0" smtClean="0"/>
              <a:t>between </a:t>
            </a:r>
            <a:r>
              <a:rPr lang="en-US" sz="3200" dirty="0"/>
              <a:t>blood and these organs and also sites of </a:t>
            </a:r>
            <a:r>
              <a:rPr lang="en-US" sz="3200" b="1" dirty="0">
                <a:solidFill>
                  <a:srgbClr val="0000FF"/>
                </a:solidFill>
              </a:rPr>
              <a:t>lymphocyte activation </a:t>
            </a:r>
            <a:r>
              <a:rPr lang="en-US" sz="3200" dirty="0"/>
              <a:t>by antigen. </a:t>
            </a:r>
            <a:r>
              <a:rPr lang="en-US" sz="3200" dirty="0" smtClean="0"/>
              <a:t>Examples include </a:t>
            </a:r>
            <a:r>
              <a:rPr lang="en-US" sz="3200" dirty="0"/>
              <a:t>the </a:t>
            </a:r>
            <a:r>
              <a:rPr lang="en-US" sz="3200" b="1" dirty="0">
                <a:solidFill>
                  <a:srgbClr val="0000FF"/>
                </a:solidFill>
              </a:rPr>
              <a:t>lymph nodes</a:t>
            </a:r>
            <a:r>
              <a:rPr lang="en-US" sz="3200" b="1" dirty="0" smtClean="0">
                <a:solidFill>
                  <a:srgbClr val="0000FF"/>
                </a:solidFill>
              </a:rPr>
              <a:t>, </a:t>
            </a:r>
            <a:r>
              <a:rPr lang="en-US" sz="3200" dirty="0" smtClean="0"/>
              <a:t>the </a:t>
            </a:r>
            <a:r>
              <a:rPr lang="en-US" sz="3200" b="1" dirty="0">
                <a:solidFill>
                  <a:srgbClr val="0000FF"/>
                </a:solidFill>
              </a:rPr>
              <a:t>spleen, adenoids, tonsils, appendix </a:t>
            </a:r>
            <a:r>
              <a:rPr lang="en-US" sz="3200" dirty="0"/>
              <a:t>and</a:t>
            </a:r>
            <a:r>
              <a:rPr lang="en-US" sz="3200" b="1" dirty="0">
                <a:solidFill>
                  <a:srgbClr val="0000FF"/>
                </a:solidFill>
              </a:rPr>
              <a:t> peyer’s patches</a:t>
            </a:r>
            <a:r>
              <a:rPr lang="en-US" sz="3200" b="1" dirty="0" smtClean="0">
                <a:solidFill>
                  <a:srgbClr val="0000FF"/>
                </a:solidFill>
              </a:rPr>
              <a:t>. 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Lymph nodes filter </a:t>
            </a:r>
            <a:r>
              <a:rPr lang="en-US" sz="3200" dirty="0"/>
              <a:t>and </a:t>
            </a:r>
            <a:r>
              <a:rPr lang="en-US" sz="3200" dirty="0" smtClean="0"/>
              <a:t>cleanses </a:t>
            </a:r>
            <a:r>
              <a:rPr lang="en-US" sz="3200" dirty="0"/>
              <a:t>the lymph as it passes through a</a:t>
            </a:r>
            <a:r>
              <a:rPr lang="en-US" sz="3200" dirty="0" smtClean="0"/>
              <a:t> </a:t>
            </a:r>
            <a:r>
              <a:rPr lang="en-US" sz="3200" dirty="0"/>
              <a:t>node. In the process, they </a:t>
            </a:r>
            <a:r>
              <a:rPr lang="en-US" sz="3200" b="1" dirty="0">
                <a:solidFill>
                  <a:srgbClr val="0000FF"/>
                </a:solidFill>
              </a:rPr>
              <a:t>filter damaged cells, cancerous cells, cellular debris, bacteria </a:t>
            </a:r>
            <a:r>
              <a:rPr lang="en-US" sz="3200" dirty="0"/>
              <a:t>and</a:t>
            </a:r>
            <a:r>
              <a:rPr lang="en-US" sz="3200" b="1" dirty="0">
                <a:solidFill>
                  <a:srgbClr val="0000FF"/>
                </a:solidFill>
              </a:rPr>
              <a:t> viruses</a:t>
            </a:r>
            <a:r>
              <a:rPr lang="en-US" sz="3200" dirty="0"/>
              <a:t> which become trapped in the reticular tissue of the lymph node and are </a:t>
            </a:r>
            <a:r>
              <a:rPr lang="en-US" sz="3200" b="1" dirty="0">
                <a:solidFill>
                  <a:srgbClr val="0000FF"/>
                </a:solidFill>
              </a:rPr>
              <a:t>destroyed</a:t>
            </a:r>
            <a:r>
              <a:rPr lang="en-US" sz="3200" dirty="0"/>
              <a:t> by the action of </a:t>
            </a:r>
            <a:r>
              <a:rPr lang="en-US" sz="3200" b="1" dirty="0">
                <a:solidFill>
                  <a:srgbClr val="0000FF"/>
                </a:solidFill>
              </a:rPr>
              <a:t>lymphocytes </a:t>
            </a:r>
            <a:r>
              <a:rPr lang="en-US" sz="3200" dirty="0"/>
              <a:t>and</a:t>
            </a:r>
            <a:r>
              <a:rPr lang="en-US" sz="3200" b="1" dirty="0">
                <a:solidFill>
                  <a:srgbClr val="0000FF"/>
                </a:solidFill>
              </a:rPr>
              <a:t> macrophages.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55F18-EAAC-4EB8-938F-841F9920BC18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6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1"/>
            <a:ext cx="10515600" cy="116378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Organs of the immune system con’t…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579418"/>
            <a:ext cx="11232573" cy="4842163"/>
          </a:xfrm>
        </p:spPr>
        <p:txBody>
          <a:bodyPr>
            <a:noAutofit/>
          </a:bodyPr>
          <a:lstStyle/>
          <a:p>
            <a:r>
              <a:rPr lang="en-US" sz="3600" dirty="0"/>
              <a:t>The spleen is the </a:t>
            </a:r>
            <a:r>
              <a:rPr lang="en-US" sz="3600" b="1" dirty="0">
                <a:solidFill>
                  <a:srgbClr val="0000FF"/>
                </a:solidFill>
              </a:rPr>
              <a:t>largest lymphoid organ</a:t>
            </a:r>
            <a:r>
              <a:rPr lang="en-US" sz="3600" dirty="0"/>
              <a:t>. </a:t>
            </a:r>
            <a:r>
              <a:rPr lang="en-US" sz="3600" dirty="0" smtClean="0"/>
              <a:t>It filters </a:t>
            </a:r>
            <a:r>
              <a:rPr lang="en-US" sz="3600" dirty="0"/>
              <a:t>blood after which </a:t>
            </a:r>
            <a:r>
              <a:rPr lang="en-US" sz="3600" dirty="0" smtClean="0"/>
              <a:t>trapped pathogens </a:t>
            </a:r>
            <a:r>
              <a:rPr lang="en-US" sz="3600" dirty="0"/>
              <a:t>and cell debris are destroyed by lymphocytes and macrophages. It also acts as a major site of lymphocyte activation and proliferation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The </a:t>
            </a:r>
            <a:r>
              <a:rPr lang="en-US" sz="3600" b="1" dirty="0"/>
              <a:t>gut-associated lymphoid tissues </a:t>
            </a:r>
            <a:r>
              <a:rPr lang="en-US" sz="3600" dirty="0">
                <a:solidFill>
                  <a:srgbClr val="0000FF"/>
                </a:solidFill>
              </a:rPr>
              <a:t>(</a:t>
            </a:r>
            <a:r>
              <a:rPr lang="en-US" sz="3600" b="1" dirty="0">
                <a:solidFill>
                  <a:srgbClr val="0000FF"/>
                </a:solidFill>
              </a:rPr>
              <a:t>GALT</a:t>
            </a:r>
            <a:r>
              <a:rPr lang="en-US" sz="3600" dirty="0">
                <a:solidFill>
                  <a:srgbClr val="0000FF"/>
                </a:solidFill>
              </a:rPr>
              <a:t>) </a:t>
            </a:r>
            <a:r>
              <a:rPr lang="en-US" sz="3600" dirty="0"/>
              <a:t>include the tonsils, adenoids, appendix and specialized structures called Peyer's patches in the small intestine. </a:t>
            </a: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4624-9FFF-49ED-B0EE-4D529635A9F5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0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Organs of the immune system con’t…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25625"/>
            <a:ext cx="10848108" cy="4606348"/>
          </a:xfrm>
        </p:spPr>
        <p:txBody>
          <a:bodyPr>
            <a:normAutofit/>
          </a:bodyPr>
          <a:lstStyle/>
          <a:p>
            <a:r>
              <a:rPr lang="en-US" sz="3600" dirty="0"/>
              <a:t>The GALT collect antigen from the epithelial surfaces of the gastrointestinal tract which are destroyed by lymphocytes and macrophages. </a:t>
            </a:r>
            <a:endParaRPr lang="en-US" sz="3600" dirty="0" smtClean="0"/>
          </a:p>
          <a:p>
            <a:endParaRPr lang="en-US" sz="3600" dirty="0"/>
          </a:p>
          <a:p>
            <a:r>
              <a:rPr lang="en-US" sz="3600" dirty="0"/>
              <a:t>Similarly, there is also </a:t>
            </a:r>
            <a:r>
              <a:rPr lang="en-US" sz="3600" b="1" dirty="0"/>
              <a:t>bronchial-associated lymphoid tissue </a:t>
            </a:r>
            <a:r>
              <a:rPr lang="en-US" sz="3600" dirty="0">
                <a:solidFill>
                  <a:srgbClr val="0000FF"/>
                </a:solidFill>
              </a:rPr>
              <a:t>(</a:t>
            </a:r>
            <a:r>
              <a:rPr lang="en-US" sz="3600" b="1" dirty="0">
                <a:solidFill>
                  <a:srgbClr val="0000FF"/>
                </a:solidFill>
              </a:rPr>
              <a:t>BALT</a:t>
            </a:r>
            <a:r>
              <a:rPr lang="en-US" sz="3600" dirty="0">
                <a:solidFill>
                  <a:srgbClr val="0000FF"/>
                </a:solidFill>
              </a:rPr>
              <a:t>) </a:t>
            </a:r>
            <a:r>
              <a:rPr lang="en-US" sz="3600" dirty="0"/>
              <a:t>and </a:t>
            </a:r>
            <a:r>
              <a:rPr lang="en-US" sz="3600" b="1" dirty="0" smtClean="0"/>
              <a:t>mucosal associated lymphoid tissue </a:t>
            </a:r>
            <a:r>
              <a:rPr lang="en-US" sz="3600" dirty="0" smtClean="0">
                <a:solidFill>
                  <a:srgbClr val="0000FF"/>
                </a:solidFill>
              </a:rPr>
              <a:t>(</a:t>
            </a:r>
            <a:r>
              <a:rPr lang="en-US" sz="3600" b="1" dirty="0">
                <a:solidFill>
                  <a:srgbClr val="0000FF"/>
                </a:solidFill>
              </a:rPr>
              <a:t>MALT</a:t>
            </a:r>
            <a:r>
              <a:rPr lang="en-US" sz="3600" dirty="0">
                <a:solidFill>
                  <a:srgbClr val="0000FF"/>
                </a:solidFill>
              </a:rPr>
              <a:t>)</a:t>
            </a:r>
            <a:r>
              <a:rPr lang="en-US" sz="3600" dirty="0"/>
              <a:t> which protect the respiratory track </a:t>
            </a:r>
            <a:r>
              <a:rPr lang="en-US" sz="3600" dirty="0" smtClean="0"/>
              <a:t>and </a:t>
            </a:r>
            <a:r>
              <a:rPr lang="en-US" sz="3600" dirty="0"/>
              <a:t>mucosal </a:t>
            </a:r>
            <a:r>
              <a:rPr lang="en-US" sz="3600" dirty="0" smtClean="0"/>
              <a:t>track</a:t>
            </a:r>
            <a:r>
              <a:rPr lang="en-US" sz="3600" dirty="0"/>
              <a:t> </a:t>
            </a:r>
            <a:r>
              <a:rPr lang="en-US" sz="3600" dirty="0" smtClean="0"/>
              <a:t>respectively.</a:t>
            </a:r>
            <a:endParaRPr lang="en-US" sz="3600" dirty="0"/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46CE9-80C4-44A7-9715-331EF06FB8A2}" type="datetime1">
              <a:rPr lang="en-US" smtClean="0"/>
              <a:t>2/5/2024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8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6256"/>
            <a:ext cx="10515600" cy="112221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Major lymphoid organs and tissues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73" y="1153390"/>
            <a:ext cx="6338454" cy="508346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87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Structure of a Lymph Node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5312" y="1236372"/>
            <a:ext cx="9247031" cy="503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008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Cell homeostasis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810"/>
            <a:ext cx="10515600" cy="4766540"/>
          </a:xfrm>
        </p:spPr>
        <p:txBody>
          <a:bodyPr>
            <a:normAutofit lnSpcReduction="10000"/>
          </a:bodyPr>
          <a:lstStyle/>
          <a:p>
            <a:r>
              <a:rPr lang="en-US" sz="3600" dirty="0" smtClean="0"/>
              <a:t>Homeostasis is a controlled process that generally maintains a constant steady state in production of mature blood cells.</a:t>
            </a:r>
          </a:p>
          <a:p>
            <a:r>
              <a:rPr lang="en-US" sz="3600" dirty="0" smtClean="0"/>
              <a:t>Homeostasis is regulated by a complete mechanism that involves;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 smtClean="0"/>
              <a:t>Use </a:t>
            </a:r>
            <a:r>
              <a:rPr lang="en-US" sz="3600" dirty="0"/>
              <a:t>of </a:t>
            </a:r>
            <a:r>
              <a:rPr lang="en-US" sz="3600" b="1" dirty="0">
                <a:solidFill>
                  <a:srgbClr val="0000FF"/>
                </a:solidFill>
              </a:rPr>
              <a:t>cytokines</a:t>
            </a:r>
            <a:r>
              <a:rPr lang="en-US" sz="3600" dirty="0"/>
              <a:t> (</a:t>
            </a:r>
            <a:r>
              <a:rPr lang="en-US" sz="3600" dirty="0" smtClean="0"/>
              <a:t>interleukins</a:t>
            </a:r>
            <a:r>
              <a:rPr lang="en-US" sz="3600" dirty="0"/>
              <a:t>) to either suppress or promote differentiation and proliferation of cells (See Table 3, </a:t>
            </a:r>
            <a:r>
              <a:rPr lang="en-US" sz="3600" dirty="0" smtClean="0"/>
              <a:t>for </a:t>
            </a:r>
            <a:r>
              <a:rPr lang="en-US" sz="3600" dirty="0"/>
              <a:t>functions of ILs</a:t>
            </a:r>
            <a:r>
              <a:rPr lang="en-US" sz="3600" dirty="0" smtClean="0"/>
              <a:t>)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q"/>
            </a:pPr>
            <a:r>
              <a:rPr lang="en-US" sz="3200" dirty="0"/>
              <a:t>A programmed cell death of old cells – </a:t>
            </a:r>
            <a:r>
              <a:rPr lang="en-US" sz="3200" b="1" dirty="0">
                <a:solidFill>
                  <a:srgbClr val="0000FF"/>
                </a:solidFill>
              </a:rPr>
              <a:t>Apoptosis</a:t>
            </a:r>
            <a:r>
              <a:rPr lang="en-US" sz="3200" dirty="0"/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3600" dirty="0"/>
          </a:p>
          <a:p>
            <a:pPr>
              <a:buFont typeface="Wingdings" panose="05000000000000000000" pitchFamily="2" charset="2"/>
              <a:buChar char="q"/>
            </a:pPr>
            <a:endParaRPr lang="en-US" sz="3600" dirty="0" smtClean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4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645"/>
            <a:ext cx="10515600" cy="122612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Cell homeostasis con’t…</a:t>
            </a:r>
            <a:endParaRPr lang="en-US" sz="4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92" y="1776846"/>
            <a:ext cx="9934618" cy="450397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35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645"/>
            <a:ext cx="10515600" cy="105987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Cell </a:t>
            </a:r>
            <a:r>
              <a:rPr lang="en-US" sz="4800" b="1" dirty="0" smtClean="0">
                <a:solidFill>
                  <a:srgbClr val="FF0000"/>
                </a:solidFill>
              </a:rPr>
              <a:t>homeostasis con’t…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065" y="1641764"/>
            <a:ext cx="10432471" cy="47145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 smtClean="0"/>
              <a:t>Low blood cells mainly occurs during an </a:t>
            </a:r>
            <a:r>
              <a:rPr lang="en-US" sz="3600" b="1" dirty="0" smtClean="0">
                <a:solidFill>
                  <a:srgbClr val="0000FF"/>
                </a:solidFill>
              </a:rPr>
              <a:t>infection, </a:t>
            </a:r>
            <a:r>
              <a:rPr lang="en-US" sz="3600" b="1" dirty="0">
                <a:solidFill>
                  <a:srgbClr val="0000FF"/>
                </a:solidFill>
              </a:rPr>
              <a:t>anemia, Thalassemia </a:t>
            </a:r>
            <a:r>
              <a:rPr lang="en-GB" sz="3600" dirty="0" smtClean="0"/>
              <a:t>etc.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3600" dirty="0" smtClean="0"/>
          </a:p>
          <a:p>
            <a:pPr>
              <a:lnSpc>
                <a:spcPct val="100000"/>
              </a:lnSpc>
            </a:pPr>
            <a:r>
              <a:rPr lang="en-US" sz="3600" dirty="0" smtClean="0"/>
              <a:t>Failure to control blood cell levels to the norm, this results into auto-immune disorders such as </a:t>
            </a:r>
            <a:r>
              <a:rPr lang="en-US" sz="3600" b="1" dirty="0" smtClean="0">
                <a:solidFill>
                  <a:srgbClr val="0000FF"/>
                </a:solidFill>
              </a:rPr>
              <a:t>leukemia, </a:t>
            </a:r>
            <a:r>
              <a:rPr lang="en-GB" sz="3600" b="1" dirty="0" err="1">
                <a:solidFill>
                  <a:srgbClr val="0000FF"/>
                </a:solidFill>
              </a:rPr>
              <a:t>Polycythemia</a:t>
            </a:r>
            <a:r>
              <a:rPr lang="en-GB" sz="3600" b="1" dirty="0">
                <a:solidFill>
                  <a:srgbClr val="0000FF"/>
                </a:solidFill>
              </a:rPr>
              <a:t> </a:t>
            </a:r>
            <a:r>
              <a:rPr lang="en-GB" sz="3600" b="1" dirty="0" err="1" smtClean="0">
                <a:solidFill>
                  <a:srgbClr val="0000FF"/>
                </a:solidFill>
              </a:rPr>
              <a:t>vera</a:t>
            </a:r>
            <a:r>
              <a:rPr lang="en-GB" sz="3600" b="1" dirty="0" smtClean="0">
                <a:solidFill>
                  <a:srgbClr val="0000FF"/>
                </a:solidFill>
              </a:rPr>
              <a:t>, </a:t>
            </a:r>
            <a:r>
              <a:rPr lang="en-US" sz="3600" b="1" dirty="0" smtClean="0">
                <a:solidFill>
                  <a:srgbClr val="0000FF"/>
                </a:solidFill>
              </a:rPr>
              <a:t>sickle cell, lymphoma, </a:t>
            </a:r>
            <a:r>
              <a:rPr lang="en-US" sz="3600" b="1" dirty="0" err="1">
                <a:solidFill>
                  <a:srgbClr val="0000FF"/>
                </a:solidFill>
              </a:rPr>
              <a:t>Myelodysplastic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en-US" sz="3600" b="1" dirty="0" smtClean="0">
                <a:solidFill>
                  <a:srgbClr val="0000FF"/>
                </a:solidFill>
              </a:rPr>
              <a:t>syndrome, hemophilia </a:t>
            </a:r>
            <a:r>
              <a:rPr lang="en-US" sz="3600" dirty="0" smtClean="0"/>
              <a:t>etc.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19EBB-A9BA-4F63-8E1F-94091BDB8518}" type="datetime1">
              <a:rPr lang="en-US" smtClean="0"/>
              <a:t>2/5/2024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FF0000"/>
                </a:solidFill>
              </a:rPr>
              <a:t>Cell Receptors…</a:t>
            </a:r>
            <a:r>
              <a:rPr lang="en-US" sz="4000" b="1" dirty="0" smtClean="0">
                <a:solidFill>
                  <a:srgbClr val="FF0000"/>
                </a:solidFill>
              </a:rPr>
              <a:t>Lymphocytes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There are two major types </a:t>
            </a:r>
            <a:r>
              <a:rPr lang="en-US" b="1" dirty="0" smtClean="0"/>
              <a:t>of Lymphocytes</a:t>
            </a:r>
            <a:r>
              <a:rPr lang="en-US" b="1" dirty="0"/>
              <a:t>: </a:t>
            </a:r>
            <a:endParaRPr lang="en-US" b="1" dirty="0" smtClean="0"/>
          </a:p>
          <a:p>
            <a:pPr lvl="1"/>
            <a:r>
              <a:rPr lang="en-US" b="1" dirty="0" smtClean="0"/>
              <a:t>B lymphocytes and </a:t>
            </a:r>
          </a:p>
          <a:p>
            <a:pPr lvl="1"/>
            <a:r>
              <a:rPr lang="en-US" b="1" dirty="0" smtClean="0"/>
              <a:t>T </a:t>
            </a:r>
            <a:r>
              <a:rPr lang="en-US" b="1" dirty="0"/>
              <a:t>lymphocytes</a:t>
            </a:r>
          </a:p>
          <a:p>
            <a:r>
              <a:rPr lang="en-US" b="1" dirty="0"/>
              <a:t>Lymphocytes have cell </a:t>
            </a:r>
            <a:r>
              <a:rPr lang="en-US" b="1" dirty="0" smtClean="0"/>
              <a:t>surface Receptors </a:t>
            </a:r>
            <a:r>
              <a:rPr lang="en-US" b="1" dirty="0"/>
              <a:t>which endow </a:t>
            </a:r>
            <a:r>
              <a:rPr lang="en-US" b="1" dirty="0" smtClean="0"/>
              <a:t>them with </a:t>
            </a:r>
            <a:r>
              <a:rPr lang="en-US" b="1" dirty="0"/>
              <a:t>Fine-Specificity </a:t>
            </a:r>
            <a:r>
              <a:rPr lang="en-US" b="1" dirty="0" smtClean="0"/>
              <a:t>Recognition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chemeClr val="accent5"/>
                </a:solidFill>
              </a:rPr>
              <a:t>Antibodies are the </a:t>
            </a:r>
            <a:r>
              <a:rPr lang="en-US" sz="2400" b="1" i="1" dirty="0" smtClean="0">
                <a:solidFill>
                  <a:schemeClr val="accent5"/>
                </a:solidFill>
              </a:rPr>
              <a:t>antigen-specific receptors </a:t>
            </a:r>
            <a:r>
              <a:rPr lang="en-US" sz="2400" b="1" i="1" dirty="0">
                <a:solidFill>
                  <a:schemeClr val="accent5"/>
                </a:solidFill>
              </a:rPr>
              <a:t>on B lymphocytes</a:t>
            </a:r>
            <a:endParaRPr lang="en-US" sz="2400" i="1" dirty="0">
              <a:solidFill>
                <a:schemeClr val="accent5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56101" y="1558344"/>
            <a:ext cx="5197699" cy="461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021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3978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Cell Receptors…</a:t>
            </a:r>
            <a:r>
              <a:rPr lang="en-US" b="1" dirty="0" smtClean="0">
                <a:solidFill>
                  <a:srgbClr val="FF0000"/>
                </a:solidFill>
              </a:rPr>
              <a:t>T-Cell Receptors (TCRs)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4428" y="457200"/>
            <a:ext cx="6014434" cy="576329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Autofit/>
          </a:bodyPr>
          <a:lstStyle/>
          <a:p>
            <a:r>
              <a:rPr lang="en-US" sz="2400" b="1" dirty="0"/>
              <a:t>T cells </a:t>
            </a:r>
            <a:r>
              <a:rPr lang="en-US" sz="2400" b="1" dirty="0" smtClean="0"/>
              <a:t>receptors bind </a:t>
            </a:r>
            <a:r>
              <a:rPr lang="en-US" sz="2400" b="1" dirty="0"/>
              <a:t>an </a:t>
            </a:r>
            <a:r>
              <a:rPr lang="en-US" sz="2400" b="1" dirty="0" smtClean="0"/>
              <a:t>MHC peptide Complex T </a:t>
            </a:r>
            <a:r>
              <a:rPr lang="en-US" sz="2400" b="1" dirty="0"/>
              <a:t>cells also have </a:t>
            </a:r>
            <a:r>
              <a:rPr lang="en-US" sz="2400" b="1" dirty="0" err="1" smtClean="0"/>
              <a:t>coreceptors</a:t>
            </a:r>
            <a:r>
              <a:rPr lang="en-US" sz="2400" b="1" dirty="0" smtClean="0"/>
              <a:t> which</a:t>
            </a:r>
            <a:endParaRPr lang="en-US" sz="2400" b="1" dirty="0"/>
          </a:p>
          <a:p>
            <a:r>
              <a:rPr lang="en-US" sz="2400" b="1" dirty="0"/>
              <a:t>bind </a:t>
            </a:r>
            <a:r>
              <a:rPr lang="en-US" sz="2400" b="1" dirty="0" smtClean="0"/>
              <a:t>MHC Like </a:t>
            </a:r>
            <a:r>
              <a:rPr lang="en-US" sz="2400" b="1" dirty="0"/>
              <a:t>MHC </a:t>
            </a:r>
            <a:r>
              <a:rPr lang="en-US" sz="2400" b="1" dirty="0" smtClean="0"/>
              <a:t>molecules which </a:t>
            </a:r>
            <a:r>
              <a:rPr lang="en-US" sz="2400" b="1" dirty="0"/>
              <a:t>come in </a:t>
            </a:r>
            <a:r>
              <a:rPr lang="en-US" sz="2400" b="1" dirty="0" smtClean="0"/>
              <a:t>two </a:t>
            </a:r>
            <a:r>
              <a:rPr lang="en-US" sz="2400" dirty="0" smtClean="0"/>
              <a:t>“</a:t>
            </a:r>
            <a:r>
              <a:rPr lang="en-US" sz="2400" b="1" dirty="0" smtClean="0"/>
              <a:t>flavors</a:t>
            </a:r>
            <a:r>
              <a:rPr lang="en-US" sz="2400" dirty="0"/>
              <a:t>”</a:t>
            </a:r>
            <a:r>
              <a:rPr lang="en-US" sz="2400" b="1" dirty="0"/>
              <a:t>, these </a:t>
            </a:r>
            <a:r>
              <a:rPr lang="en-US" sz="2400" b="1" dirty="0" err="1" smtClean="0"/>
              <a:t>coreceptors</a:t>
            </a:r>
            <a:r>
              <a:rPr lang="en-US" sz="2400" b="1" dirty="0" smtClean="0"/>
              <a:t> also have two </a:t>
            </a:r>
            <a:r>
              <a:rPr lang="en-US" sz="2400" b="1" dirty="0"/>
              <a:t>flavors: CD4 </a:t>
            </a:r>
            <a:r>
              <a:rPr lang="en-US" sz="2400" b="1" dirty="0" smtClean="0"/>
              <a:t>and CD8</a:t>
            </a:r>
            <a:endParaRPr lang="en-US" sz="2400" b="1" dirty="0"/>
          </a:p>
          <a:p>
            <a:r>
              <a:rPr lang="en-US" sz="2400" b="1" dirty="0"/>
              <a:t>Unlike B </a:t>
            </a:r>
            <a:r>
              <a:rPr lang="en-US" sz="2400" b="1" dirty="0" smtClean="0"/>
              <a:t>cell receptors </a:t>
            </a:r>
            <a:r>
              <a:rPr lang="en-US" sz="2400" b="1" dirty="0"/>
              <a:t>(</a:t>
            </a:r>
            <a:r>
              <a:rPr lang="en-US" sz="2400" b="1" dirty="0" smtClean="0"/>
              <a:t>Antibody) T </a:t>
            </a:r>
            <a:r>
              <a:rPr lang="en-US" sz="2400" b="1" dirty="0"/>
              <a:t>cell receptors </a:t>
            </a:r>
            <a:r>
              <a:rPr lang="en-US" sz="2400" b="1" dirty="0" smtClean="0"/>
              <a:t>DO NOT </a:t>
            </a:r>
            <a:r>
              <a:rPr lang="en-US" sz="2400" b="1" dirty="0"/>
              <a:t>have a </a:t>
            </a:r>
            <a:r>
              <a:rPr lang="en-US" sz="2400" b="1" dirty="0" smtClean="0"/>
              <a:t>secreted form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6997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Adaptive immune </a:t>
            </a:r>
            <a:r>
              <a:rPr lang="en-US" b="1" dirty="0" smtClean="0"/>
              <a:t>receptors are </a:t>
            </a:r>
            <a:r>
              <a:rPr lang="en-US" b="1" dirty="0"/>
              <a:t>very specific and diverse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• </a:t>
            </a:r>
            <a:r>
              <a:rPr lang="en-US" b="1" dirty="0"/>
              <a:t>There are only a limited number of </a:t>
            </a:r>
            <a:r>
              <a:rPr lang="en-US" b="1" dirty="0" smtClean="0"/>
              <a:t>receptors recognizing </a:t>
            </a:r>
            <a:r>
              <a:rPr lang="en-US" b="1" dirty="0"/>
              <a:t>PAMP</a:t>
            </a:r>
            <a:r>
              <a:rPr lang="en-US" dirty="0"/>
              <a:t>’</a:t>
            </a:r>
            <a:r>
              <a:rPr lang="en-US" b="1" dirty="0"/>
              <a:t>s. For instance, 13 </a:t>
            </a:r>
            <a:r>
              <a:rPr lang="en-US" b="1" dirty="0" smtClean="0"/>
              <a:t>TLR</a:t>
            </a:r>
            <a:r>
              <a:rPr lang="en-US" dirty="0" smtClean="0"/>
              <a:t>’</a:t>
            </a:r>
            <a:r>
              <a:rPr lang="en-US" b="1" dirty="0" smtClean="0"/>
              <a:t>s have </a:t>
            </a:r>
            <a:r>
              <a:rPr lang="en-US" b="1" dirty="0"/>
              <a:t>been identified.</a:t>
            </a:r>
          </a:p>
          <a:p>
            <a:r>
              <a:rPr lang="en-US" b="1" dirty="0" smtClean="0"/>
              <a:t>The </a:t>
            </a:r>
            <a:r>
              <a:rPr lang="en-US" b="1" dirty="0"/>
              <a:t>number of MHC molecules is greater, but </a:t>
            </a:r>
            <a:r>
              <a:rPr lang="en-US" b="1" dirty="0" smtClean="0"/>
              <a:t>still limited </a:t>
            </a:r>
            <a:r>
              <a:rPr lang="en-US" b="1" dirty="0"/>
              <a:t>(</a:t>
            </a:r>
            <a:r>
              <a:rPr lang="en-US" sz="2400" b="1" dirty="0">
                <a:solidFill>
                  <a:srgbClr val="FF0000"/>
                </a:solidFill>
              </a:rPr>
              <a:t>100</a:t>
            </a:r>
            <a:r>
              <a:rPr lang="en-US" sz="2400" dirty="0">
                <a:solidFill>
                  <a:srgbClr val="FF0000"/>
                </a:solidFill>
              </a:rPr>
              <a:t>’</a:t>
            </a:r>
            <a:r>
              <a:rPr lang="en-US" sz="2400" b="1" dirty="0">
                <a:solidFill>
                  <a:srgbClr val="FF0000"/>
                </a:solidFill>
              </a:rPr>
              <a:t>s of possible MHC</a:t>
            </a:r>
            <a:r>
              <a:rPr lang="en-US" sz="2400" dirty="0">
                <a:solidFill>
                  <a:srgbClr val="FF0000"/>
                </a:solidFill>
              </a:rPr>
              <a:t>’</a:t>
            </a:r>
            <a:r>
              <a:rPr lang="en-US" sz="2400" b="1" dirty="0">
                <a:solidFill>
                  <a:srgbClr val="FF0000"/>
                </a:solidFill>
              </a:rPr>
              <a:t>s only a few </a:t>
            </a:r>
            <a:r>
              <a:rPr lang="en-US" sz="2400" b="1" dirty="0" smtClean="0">
                <a:solidFill>
                  <a:srgbClr val="FF0000"/>
                </a:solidFill>
              </a:rPr>
              <a:t>of which </a:t>
            </a:r>
            <a:r>
              <a:rPr lang="en-US" sz="2400" b="1" dirty="0">
                <a:solidFill>
                  <a:srgbClr val="FF0000"/>
                </a:solidFill>
              </a:rPr>
              <a:t>are expressed by any </a:t>
            </a:r>
            <a:r>
              <a:rPr lang="en-US" sz="2400" b="1" dirty="0" smtClean="0">
                <a:solidFill>
                  <a:srgbClr val="FF0000"/>
                </a:solidFill>
              </a:rPr>
              <a:t>single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individual-diversity </a:t>
            </a:r>
            <a:r>
              <a:rPr lang="en-US" sz="2400" b="1" dirty="0">
                <a:solidFill>
                  <a:srgbClr val="FF0000"/>
                </a:solidFill>
              </a:rPr>
              <a:t>is at a population </a:t>
            </a:r>
            <a:r>
              <a:rPr lang="en-US" sz="2400" b="1" dirty="0" smtClean="0">
                <a:solidFill>
                  <a:srgbClr val="FF0000"/>
                </a:solidFill>
              </a:rPr>
              <a:t>level</a:t>
            </a:r>
            <a:r>
              <a:rPr lang="en-US" b="1" dirty="0" smtClean="0"/>
              <a:t>)</a:t>
            </a:r>
          </a:p>
          <a:p>
            <a:r>
              <a:rPr lang="en-US" dirty="0"/>
              <a:t>• </a:t>
            </a:r>
            <a:r>
              <a:rPr lang="en-US" b="1" dirty="0"/>
              <a:t>Lymphocyte receptors (adaptive immunity) </a:t>
            </a:r>
            <a:r>
              <a:rPr lang="en-US" b="1" dirty="0" smtClean="0"/>
              <a:t>are extremely </a:t>
            </a:r>
            <a:r>
              <a:rPr lang="en-US" b="1" dirty="0"/>
              <a:t>diverse 10e8 to 10e10 possibilities </a:t>
            </a:r>
            <a:r>
              <a:rPr lang="en-US" b="1" dirty="0" smtClean="0"/>
              <a:t>for any </a:t>
            </a:r>
            <a:r>
              <a:rPr lang="en-US" b="1" dirty="0"/>
              <a:t>individual. They can recognize fine </a:t>
            </a:r>
            <a:r>
              <a:rPr lang="en-US" b="1" dirty="0" smtClean="0"/>
              <a:t>structural details</a:t>
            </a:r>
            <a:r>
              <a:rPr lang="en-US" b="1" dirty="0"/>
              <a:t>.</a:t>
            </a:r>
          </a:p>
          <a:p>
            <a:r>
              <a:rPr lang="en-US" dirty="0"/>
              <a:t>• </a:t>
            </a:r>
            <a:r>
              <a:rPr lang="en-US" b="1" dirty="0"/>
              <a:t>The repertoire of lymphocyte receptors is </a:t>
            </a:r>
            <a:r>
              <a:rPr lang="en-US" b="1" dirty="0" smtClean="0"/>
              <a:t>also very </a:t>
            </a:r>
            <a:r>
              <a:rPr lang="en-US" b="1" dirty="0"/>
              <a:t>flexible--receptors can be produced </a:t>
            </a:r>
            <a:r>
              <a:rPr lang="en-US" b="1" dirty="0" smtClean="0"/>
              <a:t>versus chemical </a:t>
            </a:r>
            <a:r>
              <a:rPr lang="en-US" b="1" dirty="0"/>
              <a:t>compounds which have not yet </a:t>
            </a:r>
            <a:r>
              <a:rPr lang="en-US" b="1" dirty="0" smtClean="0"/>
              <a:t>been synthesized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758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ADAPTIVE (acquired) IMMUNITY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Geneva"/>
              </a:rPr>
              <a:t>Diversity</a:t>
            </a:r>
            <a:r>
              <a:rPr lang="en-US" dirty="0">
                <a:solidFill>
                  <a:srgbClr val="FF0000"/>
                </a:solidFill>
                <a:latin typeface="Geneva"/>
              </a:rPr>
              <a:t>!</a:t>
            </a:r>
          </a:p>
          <a:p>
            <a:r>
              <a:rPr lang="en-US" b="1" dirty="0" err="1">
                <a:solidFill>
                  <a:srgbClr val="FF0000"/>
                </a:solidFill>
                <a:latin typeface="Arial-BoldMT"/>
              </a:rPr>
              <a:t>Qu</a:t>
            </a:r>
            <a:r>
              <a:rPr lang="en-US" sz="2000" dirty="0" err="1">
                <a:solidFill>
                  <a:srgbClr val="FBFE00"/>
                </a:solidFill>
                <a:latin typeface="Geneva"/>
              </a:rPr>
              <a:t>!</a:t>
            </a:r>
            <a:r>
              <a:rPr lang="en-US" b="1" dirty="0" err="1">
                <a:solidFill>
                  <a:srgbClr val="FF0000"/>
                </a:solidFill>
                <a:latin typeface="Arial-BoldMT"/>
              </a:rPr>
              <a:t>estion</a:t>
            </a:r>
            <a:r>
              <a:rPr lang="en-US" b="1" dirty="0">
                <a:solidFill>
                  <a:srgbClr val="FF0000"/>
                </a:solidFill>
                <a:latin typeface="Arial-BoldMT"/>
              </a:rPr>
              <a:t>: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 Can each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individual lymphocyte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express the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entire repertoire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of diverse receptors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or does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each individual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lymphocyte express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only a single receptor </a:t>
            </a:r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with a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-BoldMT"/>
              </a:rPr>
              <a:t>single specificity?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45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of the Mature B lymphocytes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4892899" cy="4351338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Given four naïve </a:t>
            </a:r>
            <a:r>
              <a:rPr lang="en-US" b="1" dirty="0" smtClean="0"/>
              <a:t>B lymphocytes </a:t>
            </a:r>
            <a:r>
              <a:rPr lang="en-US" b="1" dirty="0"/>
              <a:t>and </a:t>
            </a:r>
            <a:r>
              <a:rPr lang="en-US" b="1" dirty="0" smtClean="0"/>
              <a:t>the capability to recognize four different chemical structures </a:t>
            </a:r>
            <a:r>
              <a:rPr lang="en-US" b="1" dirty="0"/>
              <a:t>is </a:t>
            </a:r>
            <a:r>
              <a:rPr lang="en-US" b="1" dirty="0" smtClean="0"/>
              <a:t>each lymphocyte capable of </a:t>
            </a:r>
            <a:r>
              <a:rPr lang="en-US" b="1" dirty="0"/>
              <a:t>recognizing </a:t>
            </a:r>
            <a:r>
              <a:rPr lang="en-US" b="1" dirty="0" smtClean="0">
                <a:solidFill>
                  <a:srgbClr val="FF0000"/>
                </a:solidFill>
              </a:rPr>
              <a:t>all four </a:t>
            </a:r>
            <a:r>
              <a:rPr lang="en-US" b="1" dirty="0" smtClean="0"/>
              <a:t>chemical structures </a:t>
            </a:r>
            <a:r>
              <a:rPr lang="en-US" b="1" dirty="0"/>
              <a:t>or is </a:t>
            </a:r>
            <a:r>
              <a:rPr lang="en-US" b="1" dirty="0" smtClean="0"/>
              <a:t>each lymphocyte capable of </a:t>
            </a:r>
            <a:r>
              <a:rPr lang="en-US" b="1" dirty="0"/>
              <a:t>recognizing </a:t>
            </a:r>
            <a:r>
              <a:rPr lang="en-US" b="1" dirty="0" smtClean="0">
                <a:solidFill>
                  <a:srgbClr val="FF0000"/>
                </a:solidFill>
              </a:rPr>
              <a:t>only one </a:t>
            </a:r>
            <a:r>
              <a:rPr lang="en-US" b="1" dirty="0"/>
              <a:t>of the </a:t>
            </a:r>
            <a:r>
              <a:rPr lang="en-US" b="1" dirty="0" smtClean="0"/>
              <a:t>four chemical </a:t>
            </a:r>
            <a:r>
              <a:rPr lang="en-US" b="1" dirty="0"/>
              <a:t>structures?!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00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 cell development at specificity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3746679" cy="435133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8670" y="1825625"/>
            <a:ext cx="621513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The specificity </a:t>
            </a:r>
            <a:r>
              <a:rPr lang="en-US" b="1" dirty="0" smtClean="0"/>
              <a:t>of lymphocytes </a:t>
            </a:r>
            <a:r>
              <a:rPr lang="en-US" b="1" dirty="0"/>
              <a:t>is </a:t>
            </a:r>
            <a:r>
              <a:rPr lang="en-US" b="1" dirty="0" smtClean="0"/>
              <a:t>conveyed by </a:t>
            </a:r>
            <a:r>
              <a:rPr lang="en-US" b="1" dirty="0"/>
              <a:t>specific receptors </a:t>
            </a:r>
            <a:r>
              <a:rPr lang="en-US" b="1" dirty="0" smtClean="0"/>
              <a:t>on their </a:t>
            </a:r>
            <a:r>
              <a:rPr lang="en-US" b="1" dirty="0"/>
              <a:t>surface which </a:t>
            </a:r>
            <a:r>
              <a:rPr lang="en-US" b="1" dirty="0" smtClean="0"/>
              <a:t>can interact </a:t>
            </a:r>
            <a:r>
              <a:rPr lang="en-US" b="1" dirty="0"/>
              <a:t>with </a:t>
            </a:r>
            <a:r>
              <a:rPr lang="en-US" b="1" dirty="0" smtClean="0"/>
              <a:t>antigens. </a:t>
            </a:r>
          </a:p>
          <a:p>
            <a:r>
              <a:rPr lang="en-US" b="1" dirty="0" smtClean="0"/>
              <a:t>Each </a:t>
            </a:r>
            <a:r>
              <a:rPr lang="en-US" b="1" dirty="0"/>
              <a:t>lymphocyte </a:t>
            </a:r>
            <a:r>
              <a:rPr lang="en-US" b="1" dirty="0" smtClean="0"/>
              <a:t>has receptors </a:t>
            </a:r>
            <a:r>
              <a:rPr lang="en-US" b="1" dirty="0"/>
              <a:t>of only a </a:t>
            </a:r>
            <a:r>
              <a:rPr lang="en-US" b="1" dirty="0" smtClean="0"/>
              <a:t>single specificity </a:t>
            </a:r>
            <a:r>
              <a:rPr lang="en-US" b="1" dirty="0"/>
              <a:t>on its surface.</a:t>
            </a:r>
          </a:p>
          <a:p>
            <a:r>
              <a:rPr lang="en-US" b="1" dirty="0"/>
              <a:t>Thus each </a:t>
            </a:r>
            <a:r>
              <a:rPr lang="en-US" b="1" dirty="0" smtClean="0"/>
              <a:t>lymphocyte can </a:t>
            </a:r>
            <a:r>
              <a:rPr lang="en-US" b="1" dirty="0"/>
              <a:t>recognize only </a:t>
            </a:r>
            <a:r>
              <a:rPr lang="en-US" b="1" dirty="0" smtClean="0"/>
              <a:t>a single </a:t>
            </a:r>
            <a:r>
              <a:rPr lang="en-US" b="1" dirty="0"/>
              <a:t>antigen. </a:t>
            </a:r>
            <a:endParaRPr lang="en-US" b="1" dirty="0" smtClean="0"/>
          </a:p>
          <a:p>
            <a:r>
              <a:rPr lang="en-US" b="1" dirty="0" smtClean="0"/>
              <a:t>Diversity</a:t>
            </a:r>
            <a:r>
              <a:rPr lang="en-US" b="1" dirty="0"/>
              <a:t> </a:t>
            </a:r>
            <a:r>
              <a:rPr lang="en-US" b="1" dirty="0" smtClean="0"/>
              <a:t>is </a:t>
            </a:r>
            <a:r>
              <a:rPr lang="en-US" b="1" dirty="0"/>
              <a:t>conveyed by a </a:t>
            </a:r>
            <a:r>
              <a:rPr lang="en-US" b="1" dirty="0" smtClean="0"/>
              <a:t>large number </a:t>
            </a:r>
            <a:r>
              <a:rPr lang="en-US" b="1" dirty="0"/>
              <a:t>(10e8 or more) </a:t>
            </a:r>
            <a:r>
              <a:rPr lang="en-US" b="1" dirty="0" smtClean="0"/>
              <a:t>of different lymphocytes, each </a:t>
            </a:r>
            <a:r>
              <a:rPr lang="en-US" b="1" dirty="0"/>
              <a:t>with a </a:t>
            </a:r>
            <a:r>
              <a:rPr lang="en-US" b="1" dirty="0" smtClean="0"/>
              <a:t>different receptor </a:t>
            </a:r>
            <a:r>
              <a:rPr lang="en-US" b="1" dirty="0"/>
              <a:t>and thus </a:t>
            </a:r>
            <a:r>
              <a:rPr lang="en-US" b="1" dirty="0" smtClean="0"/>
              <a:t>a different </a:t>
            </a:r>
            <a:r>
              <a:rPr lang="en-US" b="1" dirty="0"/>
              <a:t>specificity.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215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Clonal selection-</a:t>
            </a:r>
            <a:r>
              <a:rPr lang="en-US" sz="3200" i="1" dirty="0" smtClean="0">
                <a:solidFill>
                  <a:srgbClr val="FF0000"/>
                </a:solidFill>
              </a:rPr>
              <a:t>selecting sensitized cells</a:t>
            </a:r>
            <a:endParaRPr lang="en-US" sz="3200" i="1" dirty="0">
              <a:solidFill>
                <a:srgbClr val="FF0000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673" y="1287887"/>
            <a:ext cx="10362127" cy="51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8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Activation-Adaptive Immunity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23152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Activation of Adaptive Responses takes </a:t>
            </a:r>
            <a:r>
              <a:rPr lang="en-US" b="1" dirty="0" smtClean="0"/>
              <a:t>a longer </a:t>
            </a:r>
            <a:r>
              <a:rPr lang="en-US" b="1" dirty="0"/>
              <a:t>time in part because a very </a:t>
            </a:r>
            <a:r>
              <a:rPr lang="en-US" b="1" dirty="0" smtClean="0"/>
              <a:t>low frequency </a:t>
            </a:r>
            <a:r>
              <a:rPr lang="en-US" b="1" dirty="0"/>
              <a:t>of highly specific lymphocytes </a:t>
            </a:r>
            <a:r>
              <a:rPr lang="en-US" b="1" dirty="0" smtClean="0"/>
              <a:t>must be </a:t>
            </a:r>
            <a:r>
              <a:rPr lang="en-US" b="1" dirty="0"/>
              <a:t>expanded and differentiated </a:t>
            </a:r>
            <a:r>
              <a:rPr lang="en-US" b="1" dirty="0" smtClean="0"/>
              <a:t>after recognition </a:t>
            </a:r>
            <a:r>
              <a:rPr lang="en-US" b="1" dirty="0"/>
              <a:t>of an </a:t>
            </a:r>
            <a:r>
              <a:rPr lang="en-US" dirty="0"/>
              <a:t>“</a:t>
            </a:r>
            <a:r>
              <a:rPr lang="en-US" b="1" dirty="0"/>
              <a:t>antigen</a:t>
            </a:r>
            <a:r>
              <a:rPr lang="en-US" dirty="0"/>
              <a:t>” </a:t>
            </a:r>
            <a:r>
              <a:rPr lang="en-US" b="1" dirty="0"/>
              <a:t>(Clonal Selection)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69725" y="1584101"/>
            <a:ext cx="7231724" cy="459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25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Activation of adaptive immunity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Activation </a:t>
            </a:r>
            <a:r>
              <a:rPr lang="en-US" b="1" dirty="0"/>
              <a:t>of Adaptive Responses takes a </a:t>
            </a:r>
            <a:r>
              <a:rPr lang="en-US" b="1" dirty="0" smtClean="0"/>
              <a:t>longer time </a:t>
            </a:r>
            <a:r>
              <a:rPr lang="en-US" b="1" dirty="0"/>
              <a:t>in part because of Clonal Selection</a:t>
            </a:r>
          </a:p>
          <a:p>
            <a:r>
              <a:rPr lang="en-US" dirty="0" smtClean="0"/>
              <a:t>Activation </a:t>
            </a:r>
            <a:r>
              <a:rPr lang="en-US" dirty="0"/>
              <a:t>of Adaptive Responses also requires </a:t>
            </a:r>
            <a:r>
              <a:rPr lang="en-US" dirty="0" smtClean="0"/>
              <a:t>the participation </a:t>
            </a:r>
            <a:r>
              <a:rPr lang="en-US" dirty="0"/>
              <a:t>of several cell types which must be </a:t>
            </a:r>
            <a:r>
              <a:rPr lang="en-US" dirty="0" smtClean="0"/>
              <a:t>brought together </a:t>
            </a:r>
            <a:r>
              <a:rPr lang="en-US" dirty="0"/>
              <a:t>in lymph nodes, spleen, or mucosal sites such </a:t>
            </a:r>
            <a:r>
              <a:rPr lang="en-US" dirty="0" smtClean="0"/>
              <a:t>as Peyer’s </a:t>
            </a:r>
            <a:r>
              <a:rPr lang="en-US" dirty="0"/>
              <a:t>patches:</a:t>
            </a:r>
          </a:p>
          <a:p>
            <a:pPr lvl="1"/>
            <a:r>
              <a:rPr lang="en-US" dirty="0" smtClean="0"/>
              <a:t>Antigen </a:t>
            </a:r>
            <a:r>
              <a:rPr lang="en-US" dirty="0"/>
              <a:t>presenting cells such as dendritic cells </a:t>
            </a:r>
            <a:r>
              <a:rPr lang="en-US" dirty="0" smtClean="0"/>
              <a:t>process and </a:t>
            </a:r>
            <a:r>
              <a:rPr lang="en-US" dirty="0"/>
              <a:t>present antigen to T cells</a:t>
            </a:r>
          </a:p>
          <a:p>
            <a:pPr lvl="1"/>
            <a:r>
              <a:rPr lang="en-US" dirty="0" smtClean="0"/>
              <a:t>B </a:t>
            </a:r>
            <a:r>
              <a:rPr lang="en-US" dirty="0"/>
              <a:t>lymphocytes require “help” from T lymphocytes </a:t>
            </a:r>
            <a:r>
              <a:rPr lang="en-US" dirty="0" smtClean="0"/>
              <a:t>to produce </a:t>
            </a:r>
            <a:r>
              <a:rPr lang="en-US" dirty="0"/>
              <a:t>optimal levels and classes of antibody</a:t>
            </a:r>
          </a:p>
          <a:p>
            <a:pPr lvl="1"/>
            <a:r>
              <a:rPr lang="en-US" dirty="0" smtClean="0"/>
              <a:t>Helper </a:t>
            </a:r>
            <a:r>
              <a:rPr lang="en-US" dirty="0"/>
              <a:t>T cells can also amplify (and are often </a:t>
            </a:r>
            <a:r>
              <a:rPr lang="en-US" dirty="0" smtClean="0"/>
              <a:t>required for</a:t>
            </a:r>
            <a:r>
              <a:rPr lang="en-US" dirty="0"/>
              <a:t>) the response of other T cells</a:t>
            </a:r>
          </a:p>
        </p:txBody>
      </p:sp>
    </p:spTree>
    <p:extLst>
      <p:ext uri="{BB962C8B-B14F-4D97-AF65-F5344CB8AC3E}">
        <p14:creationId xmlns:p14="http://schemas.microsoft.com/office/powerpoint/2010/main" val="12464180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58" y="366632"/>
            <a:ext cx="10187188" cy="61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564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Activation of adaptive immune system….. Role of cytokines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IL-12 stimulates differentiation of naïve CD4+ T-cells to Th1 subset of effector cells,</a:t>
            </a:r>
          </a:p>
          <a:p>
            <a:r>
              <a:rPr lang="en-US" dirty="0" smtClean="0"/>
              <a:t>IL-1,IL-6, and IL-23 stimulate differentiation of naïve CD4+ T cells to Th17 subset of effector cells,</a:t>
            </a:r>
          </a:p>
          <a:p>
            <a:r>
              <a:rPr lang="en-US" dirty="0" smtClean="0"/>
              <a:t>IL-25, IL-33, stimulate differentiation of naïve CD4+ T cells to the Th2 subset of effector cells,</a:t>
            </a:r>
          </a:p>
          <a:p>
            <a:r>
              <a:rPr lang="en-US" dirty="0" smtClean="0"/>
              <a:t>IL-15 promotes survival of memory CD8+ T cells,</a:t>
            </a:r>
          </a:p>
          <a:p>
            <a:r>
              <a:rPr lang="en-US" dirty="0" smtClean="0"/>
              <a:t>IL-6 promotes the production of antibodies by activated B cells 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54876-024B-401A-BE5C-5A7A691B918B}" type="datetime1">
              <a:rPr lang="en-US" smtClean="0"/>
              <a:t>2/5/2024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F727-7C30-4BE5-937B-87A4F60C47F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16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Activation of Adaptive immunity…Examples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431" y="1365160"/>
            <a:ext cx="9942490" cy="506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183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antigen and second antigen and Immune response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310" y="1545465"/>
            <a:ext cx="10071279" cy="481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335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9166" y="185530"/>
            <a:ext cx="8321040" cy="96741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Serum antibody </a:t>
            </a:r>
            <a:r>
              <a:rPr lang="en-US" dirty="0" err="1">
                <a:solidFill>
                  <a:srgbClr val="FF0000"/>
                </a:solidFill>
              </a:rPr>
              <a:t>Vs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Immunologic </a:t>
            </a:r>
            <a:r>
              <a:rPr lang="en-US" dirty="0">
                <a:solidFill>
                  <a:srgbClr val="FF0000"/>
                </a:solidFill>
              </a:rPr>
              <a:t>memory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90" y="1152940"/>
            <a:ext cx="11184835" cy="515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3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2525</Words>
  <Application>Microsoft Office PowerPoint</Application>
  <PresentationFormat>Widescreen</PresentationFormat>
  <Paragraphs>323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Arial-BoldMT</vt:lpstr>
      <vt:lpstr>Calibri</vt:lpstr>
      <vt:lpstr>Calibri Light</vt:lpstr>
      <vt:lpstr>Geneva</vt:lpstr>
      <vt:lpstr>Times New Roman</vt:lpstr>
      <vt:lpstr>Wingdings</vt:lpstr>
      <vt:lpstr>Office Theme</vt:lpstr>
      <vt:lpstr>Molecules, Cells and Organs of the Immune System  </vt:lpstr>
      <vt:lpstr>Objectives of the Presentation </vt:lpstr>
      <vt:lpstr>Introduction </vt:lpstr>
      <vt:lpstr>Components of the immune system</vt:lpstr>
      <vt:lpstr>Components of the immune system…con’t</vt:lpstr>
      <vt:lpstr>1. Specialized cells of the immune system</vt:lpstr>
      <vt:lpstr> Origin of cells of the immune system - hematopoiesis </vt:lpstr>
      <vt:lpstr>Specialized cells con’t…Phagocytes</vt:lpstr>
      <vt:lpstr>Specialized cells con’t – Polymorphonuclear Neutrophils (PMNs)</vt:lpstr>
      <vt:lpstr>Specialized cells con’t…Lymphocytes (T cells)</vt:lpstr>
      <vt:lpstr>Specialized cells con’t…Functions of T cells</vt:lpstr>
      <vt:lpstr>Specialized cells con’t…Lymphocytes (B cells)</vt:lpstr>
      <vt:lpstr>Specialized cells con’t…Cytotoxic cells</vt:lpstr>
      <vt:lpstr>Specialized cells con’t…Cells of Inflammation</vt:lpstr>
      <vt:lpstr>2. Immune molecules</vt:lpstr>
      <vt:lpstr>Immune molecules con’t</vt:lpstr>
      <vt:lpstr>Immune molecules con’t…Acute phase proteins</vt:lpstr>
      <vt:lpstr>Immune molecules con’t…Complement</vt:lpstr>
      <vt:lpstr>Immune molecules con’t…Antibodies </vt:lpstr>
      <vt:lpstr>Immune molecules con’t…Antibodies </vt:lpstr>
      <vt:lpstr>Immune molecules con’t…Cytokines</vt:lpstr>
      <vt:lpstr>Immune molecules con’t…Chemokines</vt:lpstr>
      <vt:lpstr>Immune molecules con’t…Interferons</vt:lpstr>
      <vt:lpstr>Immune molecules con’t…Interferones</vt:lpstr>
      <vt:lpstr>Immune molecules con’t…Interleukins</vt:lpstr>
      <vt:lpstr>PowerPoint Presentation</vt:lpstr>
      <vt:lpstr>Immune molecules con’t…Tumor Necrotic Factor</vt:lpstr>
      <vt:lpstr>3. Organs of the immune system</vt:lpstr>
      <vt:lpstr>Organs of the immune system con’t…</vt:lpstr>
      <vt:lpstr>Organs of the immune system con’t…</vt:lpstr>
      <vt:lpstr>Organs of the immune system con’t…</vt:lpstr>
      <vt:lpstr>Major lymphoid organs and tissues</vt:lpstr>
      <vt:lpstr>Structure of a Lymph Node</vt:lpstr>
      <vt:lpstr>Cell homeostasis</vt:lpstr>
      <vt:lpstr>Cell homeostasis con’t…</vt:lpstr>
      <vt:lpstr>Cell homeostasis con’t…</vt:lpstr>
      <vt:lpstr>Cell Receptors…Lymphocytes</vt:lpstr>
      <vt:lpstr>Cell Receptors…T-Cell Receptors (TCRs)</vt:lpstr>
      <vt:lpstr>Adaptive immune receptors are very specific and diverse</vt:lpstr>
      <vt:lpstr>ADAPTIVE (acquired) IMMUNITY</vt:lpstr>
      <vt:lpstr>Development of the Mature B lymphocytes</vt:lpstr>
      <vt:lpstr>B cell development at specificity</vt:lpstr>
      <vt:lpstr>Clonal selection-selecting sensitized cells</vt:lpstr>
      <vt:lpstr>Activation-Adaptive Immunity</vt:lpstr>
      <vt:lpstr>Activation of adaptive immunity</vt:lpstr>
      <vt:lpstr>PowerPoint Presentation</vt:lpstr>
      <vt:lpstr>Activation of adaptive immune system….. Role of cytokines</vt:lpstr>
      <vt:lpstr>Activation of Adaptive immunity…Examples</vt:lpstr>
      <vt:lpstr>First antigen and second antigen and Immune response</vt:lpstr>
      <vt:lpstr>Serum antibody Vs Immunologic memory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Molecules, Cells and Organs of the Immune System</dc:title>
  <dc:creator>Windows User</dc:creator>
  <cp:lastModifiedBy>PETER</cp:lastModifiedBy>
  <cp:revision>109</cp:revision>
  <dcterms:created xsi:type="dcterms:W3CDTF">2018-08-24T15:05:23Z</dcterms:created>
  <dcterms:modified xsi:type="dcterms:W3CDTF">2024-02-05T07:36:05Z</dcterms:modified>
</cp:coreProperties>
</file>