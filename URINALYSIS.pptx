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8016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624" y="-90"/>
      </p:cViewPr>
      <p:guideLst>
        <p:guide orient="horz" pos="2160"/>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130426"/>
            <a:ext cx="1088136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920240" y="3886200"/>
            <a:ext cx="896112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41E0EB-501D-4EFF-BBC5-A0B6967345CC}"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3054814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41E0EB-501D-4EFF-BBC5-A0B6967345CC}"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1759672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406901"/>
            <a:ext cx="1088136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11238" y="2906713"/>
            <a:ext cx="1088136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941E0EB-501D-4EFF-BBC5-A0B6967345CC}"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119806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95669" y="1600201"/>
            <a:ext cx="795877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9067800" y="1600201"/>
            <a:ext cx="795877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941E0EB-501D-4EFF-BBC5-A0B6967345CC}"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999831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274638"/>
            <a:ext cx="1152144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40080" y="1535113"/>
            <a:ext cx="56562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40080" y="2174875"/>
            <a:ext cx="56562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503036" y="1535113"/>
            <a:ext cx="565848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03036" y="2174875"/>
            <a:ext cx="565848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941E0EB-501D-4EFF-BBC5-A0B6967345CC}" type="datetimeFigureOut">
              <a:rPr lang="en-US" smtClean="0"/>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3557029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41E0EB-501D-4EFF-BBC5-A0B6967345CC}" type="datetimeFigureOut">
              <a:rPr lang="en-US" smtClean="0"/>
              <a:t>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26787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1E0EB-501D-4EFF-BBC5-A0B6967345CC}" type="datetimeFigureOut">
              <a:rPr lang="en-US" smtClean="0"/>
              <a:t>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397087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1" y="273050"/>
            <a:ext cx="4211638"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05070" y="273051"/>
            <a:ext cx="71564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40081" y="1435101"/>
            <a:ext cx="42116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41E0EB-501D-4EFF-BBC5-A0B6967345CC}"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3884473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4800600"/>
            <a:ext cx="768096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09203" y="612775"/>
            <a:ext cx="76809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509203" y="5367338"/>
            <a:ext cx="76809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41E0EB-501D-4EFF-BBC5-A0B6967345CC}"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1789226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41E0EB-501D-4EFF-BBC5-A0B6967345CC}"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2734759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94959" y="274639"/>
            <a:ext cx="4031615"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95668" y="274639"/>
            <a:ext cx="1188593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41E0EB-501D-4EFF-BBC5-A0B6967345CC}"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29A49-0BD7-4930-B13C-D09A45B29240}" type="slidenum">
              <a:rPr lang="en-US" smtClean="0"/>
              <a:t>‹#›</a:t>
            </a:fld>
            <a:endParaRPr lang="en-US"/>
          </a:p>
        </p:txBody>
      </p:sp>
    </p:spTree>
    <p:extLst>
      <p:ext uri="{BB962C8B-B14F-4D97-AF65-F5344CB8AC3E}">
        <p14:creationId xmlns:p14="http://schemas.microsoft.com/office/powerpoint/2010/main" val="1841095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74638"/>
            <a:ext cx="1152144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40080" y="1600201"/>
            <a:ext cx="1152144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40080" y="6356351"/>
            <a:ext cx="298704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41E0EB-501D-4EFF-BBC5-A0B6967345CC}" type="datetimeFigureOut">
              <a:rPr lang="en-US" smtClean="0"/>
              <a:t>11/7/2024</a:t>
            </a:fld>
            <a:endParaRPr lang="en-US"/>
          </a:p>
        </p:txBody>
      </p:sp>
      <p:sp>
        <p:nvSpPr>
          <p:cNvPr id="5" name="Footer Placeholder 4"/>
          <p:cNvSpPr>
            <a:spLocks noGrp="1"/>
          </p:cNvSpPr>
          <p:nvPr>
            <p:ph type="ftr" sz="quarter" idx="3"/>
          </p:nvPr>
        </p:nvSpPr>
        <p:spPr>
          <a:xfrm>
            <a:off x="4373880" y="6356351"/>
            <a:ext cx="405384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356351"/>
            <a:ext cx="298704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9A49-0BD7-4930-B13C-D09A45B29240}" type="slidenum">
              <a:rPr lang="en-US" smtClean="0"/>
              <a:t>‹#›</a:t>
            </a:fld>
            <a:endParaRPr lang="en-US"/>
          </a:p>
        </p:txBody>
      </p:sp>
    </p:spTree>
    <p:extLst>
      <p:ext uri="{BB962C8B-B14F-4D97-AF65-F5344CB8AC3E}">
        <p14:creationId xmlns:p14="http://schemas.microsoft.com/office/powerpoint/2010/main" val="804721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ahoma" pitchFamily="34" charset="0"/>
                <a:ea typeface="Tahoma" pitchFamily="34" charset="0"/>
                <a:cs typeface="Tahoma" pitchFamily="34" charset="0"/>
              </a:rPr>
              <a:t>URINALYSIS</a:t>
            </a:r>
            <a:endParaRPr lang="en-US" b="1" dirty="0">
              <a:latin typeface="Tahoma" pitchFamily="34" charset="0"/>
              <a:ea typeface="Tahoma" pitchFamily="34" charset="0"/>
              <a:cs typeface="Tahoma" pitchFamily="34" charset="0"/>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04896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801600" cy="6858000"/>
          </a:xfrm>
        </p:spPr>
        <p:txBody>
          <a:bodyPr/>
          <a:lstStyle/>
          <a:p>
            <a:pPr algn="just"/>
            <a:r>
              <a:rPr lang="en-US" dirty="0">
                <a:latin typeface="Tahoma" pitchFamily="34" charset="0"/>
                <a:ea typeface="Tahoma" pitchFamily="34" charset="0"/>
                <a:cs typeface="Tahoma" pitchFamily="34" charset="0"/>
              </a:rPr>
              <a:t>Around 6,000 years ago, laboratory medicine began with the analysis </a:t>
            </a:r>
            <a:r>
              <a:rPr lang="en-US" dirty="0" smtClean="0">
                <a:latin typeface="Tahoma" pitchFamily="34" charset="0"/>
                <a:ea typeface="Tahoma" pitchFamily="34" charset="0"/>
                <a:cs typeface="Tahoma" pitchFamily="34" charset="0"/>
              </a:rPr>
              <a:t>of human </a:t>
            </a:r>
            <a:r>
              <a:rPr lang="en-US" dirty="0">
                <a:latin typeface="Tahoma" pitchFamily="34" charset="0"/>
                <a:ea typeface="Tahoma" pitchFamily="34" charset="0"/>
                <a:cs typeface="Tahoma" pitchFamily="34" charset="0"/>
              </a:rPr>
              <a:t>urine as </a:t>
            </a:r>
            <a:r>
              <a:rPr lang="en-US" i="1" dirty="0" err="1">
                <a:latin typeface="Tahoma" pitchFamily="34" charset="0"/>
                <a:ea typeface="Tahoma" pitchFamily="34" charset="0"/>
                <a:cs typeface="Tahoma" pitchFamily="34" charset="0"/>
              </a:rPr>
              <a:t>uroscopy</a:t>
            </a:r>
            <a:r>
              <a:rPr lang="en-US" i="1" dirty="0">
                <a:latin typeface="Tahoma" pitchFamily="34" charset="0"/>
                <a:ea typeface="Tahoma" pitchFamily="34" charset="0"/>
                <a:cs typeface="Tahoma" pitchFamily="34" charset="0"/>
              </a:rPr>
              <a:t>,</a:t>
            </a:r>
            <a:r>
              <a:rPr lang="en-US" dirty="0">
                <a:latin typeface="Tahoma" pitchFamily="34" charset="0"/>
                <a:ea typeface="Tahoma" pitchFamily="34" charset="0"/>
                <a:cs typeface="Tahoma" pitchFamily="34" charset="0"/>
              </a:rPr>
              <a:t> which later </a:t>
            </a:r>
            <a:r>
              <a:rPr lang="en-US" dirty="0" smtClean="0">
                <a:latin typeface="Tahoma" pitchFamily="34" charset="0"/>
                <a:ea typeface="Tahoma" pitchFamily="34" charset="0"/>
                <a:cs typeface="Tahoma" pitchFamily="34" charset="0"/>
              </a:rPr>
              <a:t>became known as</a:t>
            </a:r>
            <a:r>
              <a:rPr lang="en-US" dirty="0">
                <a:latin typeface="Tahoma" pitchFamily="34" charset="0"/>
                <a:ea typeface="Tahoma" pitchFamily="34" charset="0"/>
                <a:cs typeface="Tahoma" pitchFamily="34" charset="0"/>
              </a:rPr>
              <a:t> </a:t>
            </a:r>
            <a:r>
              <a:rPr lang="en-US" i="1" dirty="0">
                <a:latin typeface="Tahoma" pitchFamily="34" charset="0"/>
                <a:ea typeface="Tahoma" pitchFamily="34" charset="0"/>
                <a:cs typeface="Tahoma" pitchFamily="34" charset="0"/>
              </a:rPr>
              <a:t>urinalysis</a:t>
            </a:r>
            <a:r>
              <a:rPr lang="en-US" dirty="0" smtClean="0">
                <a:latin typeface="Tahoma" pitchFamily="34" charset="0"/>
                <a:ea typeface="Tahoma" pitchFamily="34" charset="0"/>
                <a:cs typeface="Tahoma" pitchFamily="34" charset="0"/>
              </a:rPr>
              <a:t>.</a:t>
            </a:r>
          </a:p>
          <a:p>
            <a:pPr algn="just"/>
            <a:r>
              <a:rPr lang="en-US" dirty="0" smtClean="0">
                <a:latin typeface="Tahoma" pitchFamily="34" charset="0"/>
                <a:ea typeface="Tahoma" pitchFamily="34" charset="0"/>
                <a:cs typeface="Tahoma" pitchFamily="34" charset="0"/>
              </a:rPr>
              <a:t>The word "</a:t>
            </a:r>
            <a:r>
              <a:rPr lang="en-US" dirty="0" err="1" smtClean="0">
                <a:latin typeface="Tahoma" pitchFamily="34" charset="0"/>
                <a:ea typeface="Tahoma" pitchFamily="34" charset="0"/>
                <a:cs typeface="Tahoma" pitchFamily="34" charset="0"/>
              </a:rPr>
              <a:t>uroscopy</a:t>
            </a:r>
            <a:r>
              <a:rPr lang="en-US" dirty="0" smtClean="0">
                <a:latin typeface="Tahoma" pitchFamily="34" charset="0"/>
                <a:ea typeface="Tahoma" pitchFamily="34" charset="0"/>
                <a:cs typeface="Tahoma" pitchFamily="34" charset="0"/>
              </a:rPr>
              <a:t>" derives from two Greek words: "</a:t>
            </a:r>
            <a:r>
              <a:rPr lang="en-US" dirty="0" err="1" smtClean="0">
                <a:latin typeface="Tahoma" pitchFamily="34" charset="0"/>
                <a:ea typeface="Tahoma" pitchFamily="34" charset="0"/>
                <a:cs typeface="Tahoma" pitchFamily="34" charset="0"/>
              </a:rPr>
              <a:t>ouron</a:t>
            </a:r>
            <a:r>
              <a:rPr lang="en-US" dirty="0" smtClean="0">
                <a:latin typeface="Tahoma" pitchFamily="34" charset="0"/>
                <a:ea typeface="Tahoma" pitchFamily="34" charset="0"/>
                <a:cs typeface="Tahoma" pitchFamily="34" charset="0"/>
              </a:rPr>
              <a:t>," which means urine and "</a:t>
            </a:r>
            <a:r>
              <a:rPr lang="en-US" dirty="0" err="1" smtClean="0">
                <a:latin typeface="Tahoma" pitchFamily="34" charset="0"/>
                <a:ea typeface="Tahoma" pitchFamily="34" charset="0"/>
                <a:cs typeface="Tahoma" pitchFamily="34" charset="0"/>
              </a:rPr>
              <a:t>skopeoa</a:t>
            </a:r>
            <a:r>
              <a:rPr lang="en-US" dirty="0" smtClean="0">
                <a:latin typeface="Tahoma" pitchFamily="34" charset="0"/>
                <a:ea typeface="Tahoma" pitchFamily="34" charset="0"/>
                <a:cs typeface="Tahoma" pitchFamily="34" charset="0"/>
              </a:rPr>
              <a:t>," which means to 'behold, contemplate, examine, inspect‘</a:t>
            </a:r>
          </a:p>
          <a:p>
            <a:pPr algn="just"/>
            <a:r>
              <a:rPr lang="en-US" dirty="0" smtClean="0">
                <a:latin typeface="Tahoma" pitchFamily="34" charset="0"/>
                <a:ea typeface="Tahoma" pitchFamily="34" charset="0"/>
                <a:cs typeface="Tahoma" pitchFamily="34" charset="0"/>
              </a:rPr>
              <a:t>Ancient physicians spoke of urine as a window to the body's inner workings and reflected different diseases. For instance, Hindu civilizations recognized a "sweetness" in certain people's urine, which attracted black ants.</a:t>
            </a:r>
          </a:p>
          <a:p>
            <a:pPr algn="just"/>
            <a:r>
              <a:rPr lang="en-US" dirty="0" smtClean="0">
                <a:latin typeface="Tahoma" pitchFamily="34" charset="0"/>
                <a:ea typeface="Tahoma" pitchFamily="34" charset="0"/>
                <a:cs typeface="Tahoma" pitchFamily="34" charset="0"/>
              </a:rPr>
              <a:t>Hippocrates (460–355 BC) hypothesized that urine was a filtrate of the humors in the body, originating from the blood filtered through the kidneys.</a:t>
            </a:r>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684152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12801600" cy="6781799"/>
          </a:xfrm>
        </p:spPr>
        <p:txBody>
          <a:bodyPr/>
          <a:lstStyle/>
          <a:p>
            <a:pPr algn="just"/>
            <a:r>
              <a:rPr lang="en-US" dirty="0" smtClean="0">
                <a:latin typeface="Tahoma" pitchFamily="34" charset="0"/>
                <a:ea typeface="Tahoma" pitchFamily="34" charset="0"/>
                <a:cs typeface="Tahoma" pitchFamily="34" charset="0"/>
              </a:rPr>
              <a:t>he described bubbles on the surface of fresh urine as a sign of long-term kidney disease and associated urinary sediment with fever</a:t>
            </a:r>
          </a:p>
          <a:p>
            <a:pPr algn="just"/>
            <a:r>
              <a:rPr lang="en-US" dirty="0" smtClean="0">
                <a:latin typeface="Tahoma" pitchFamily="34" charset="0"/>
                <a:ea typeface="Tahoma" pitchFamily="34" charset="0"/>
                <a:cs typeface="Tahoma" pitchFamily="34" charset="0"/>
              </a:rPr>
              <a:t>Galen used the phrase "diarrhea of the urine" to describe excessive urination</a:t>
            </a:r>
          </a:p>
          <a:p>
            <a:pPr algn="just"/>
            <a:r>
              <a:rPr lang="en-US" dirty="0" smtClean="0">
                <a:latin typeface="Tahoma" pitchFamily="34" charset="0"/>
                <a:ea typeface="Tahoma" pitchFamily="34" charset="0"/>
                <a:cs typeface="Tahoma" pitchFamily="34" charset="0"/>
              </a:rPr>
              <a:t>By the late 12th-century, a French scholar named Gilles de </a:t>
            </a:r>
            <a:r>
              <a:rPr lang="en-US" dirty="0" err="1" smtClean="0">
                <a:latin typeface="Tahoma" pitchFamily="34" charset="0"/>
                <a:ea typeface="Tahoma" pitchFamily="34" charset="0"/>
                <a:cs typeface="Tahoma" pitchFamily="34" charset="0"/>
              </a:rPr>
              <a:t>Corbeil</a:t>
            </a:r>
            <a:r>
              <a:rPr lang="en-US" dirty="0" smtClean="0">
                <a:latin typeface="Tahoma" pitchFamily="34" charset="0"/>
                <a:ea typeface="Tahoma" pitchFamily="34" charset="0"/>
                <a:cs typeface="Tahoma" pitchFamily="34" charset="0"/>
              </a:rPr>
              <a:t> taught and classified 20 different types of urine, recording differences in urine sediment and color.</a:t>
            </a:r>
          </a:p>
          <a:p>
            <a:pPr algn="just"/>
            <a:r>
              <a:rPr lang="en-US" dirty="0" smtClean="0">
                <a:latin typeface="Tahoma" pitchFamily="34" charset="0"/>
                <a:ea typeface="Tahoma" pitchFamily="34" charset="0"/>
                <a:cs typeface="Tahoma" pitchFamily="34" charset="0"/>
              </a:rPr>
              <a:t>De </a:t>
            </a:r>
            <a:r>
              <a:rPr lang="en-US" dirty="0" err="1" smtClean="0">
                <a:latin typeface="Tahoma" pitchFamily="34" charset="0"/>
                <a:ea typeface="Tahoma" pitchFamily="34" charset="0"/>
                <a:cs typeface="Tahoma" pitchFamily="34" charset="0"/>
              </a:rPr>
              <a:t>Corbeil</a:t>
            </a:r>
            <a:r>
              <a:rPr lang="en-US" dirty="0" smtClean="0">
                <a:latin typeface="Tahoma" pitchFamily="34" charset="0"/>
                <a:ea typeface="Tahoma" pitchFamily="34" charset="0"/>
                <a:cs typeface="Tahoma" pitchFamily="34" charset="0"/>
              </a:rPr>
              <a:t> also introduced the "</a:t>
            </a:r>
            <a:r>
              <a:rPr lang="en-US" dirty="0" err="1" smtClean="0">
                <a:latin typeface="Tahoma" pitchFamily="34" charset="0"/>
                <a:ea typeface="Tahoma" pitchFamily="34" charset="0"/>
                <a:cs typeface="Tahoma" pitchFamily="34" charset="0"/>
              </a:rPr>
              <a:t>matula</a:t>
            </a:r>
            <a:r>
              <a:rPr lang="en-US" dirty="0" smtClean="0">
                <a:latin typeface="Tahoma" pitchFamily="34" charset="0"/>
                <a:ea typeface="Tahoma" pitchFamily="34" charset="0"/>
                <a:cs typeface="Tahoma" pitchFamily="34" charset="0"/>
              </a:rPr>
              <a:t>," a glass vessel in which a physician could assess color, consistency, and clarity.</a:t>
            </a:r>
          </a:p>
          <a:p>
            <a:pPr algn="just"/>
            <a:r>
              <a:rPr lang="en-US" dirty="0" smtClean="0">
                <a:latin typeface="Tahoma" pitchFamily="34" charset="0"/>
                <a:ea typeface="Tahoma" pitchFamily="34" charset="0"/>
                <a:cs typeface="Tahoma" pitchFamily="34" charset="0"/>
              </a:rPr>
              <a:t>Nicolas </a:t>
            </a:r>
            <a:r>
              <a:rPr lang="en-US" dirty="0" err="1" smtClean="0">
                <a:latin typeface="Tahoma" pitchFamily="34" charset="0"/>
                <a:ea typeface="Tahoma" pitchFamily="34" charset="0"/>
                <a:cs typeface="Tahoma" pitchFamily="34" charset="0"/>
              </a:rPr>
              <a:t>Fabricius</a:t>
            </a:r>
            <a:r>
              <a:rPr lang="en-US" dirty="0" smtClean="0">
                <a:latin typeface="Tahoma" pitchFamily="34" charset="0"/>
                <a:ea typeface="Tahoma" pitchFamily="34" charset="0"/>
                <a:cs typeface="Tahoma" pitchFamily="34" charset="0"/>
              </a:rPr>
              <a:t> de </a:t>
            </a:r>
            <a:r>
              <a:rPr lang="en-US" dirty="0" err="1" smtClean="0">
                <a:latin typeface="Tahoma" pitchFamily="34" charset="0"/>
                <a:ea typeface="Tahoma" pitchFamily="34" charset="0"/>
                <a:cs typeface="Tahoma" pitchFamily="34" charset="0"/>
              </a:rPr>
              <a:t>Peiresc</a:t>
            </a:r>
            <a:r>
              <a:rPr lang="en-US" dirty="0" smtClean="0">
                <a:latin typeface="Tahoma" pitchFamily="34" charset="0"/>
                <a:ea typeface="Tahoma" pitchFamily="34" charset="0"/>
                <a:cs typeface="Tahoma" pitchFamily="34" charset="0"/>
              </a:rPr>
              <a:t>, a French astronomer and naturalist, did the first microscopic description of urine crystals</a:t>
            </a:r>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3630467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801600" cy="6857999"/>
          </a:xfrm>
        </p:spPr>
        <p:txBody>
          <a:bodyPr>
            <a:normAutofit fontScale="92500" lnSpcReduction="10000"/>
          </a:bodyPr>
          <a:lstStyle/>
          <a:p>
            <a:pPr algn="just"/>
            <a:r>
              <a:rPr lang="en-US" dirty="0" smtClean="0">
                <a:latin typeface="Tahoma" pitchFamily="34" charset="0"/>
                <a:ea typeface="Tahoma" pitchFamily="34" charset="0"/>
                <a:cs typeface="Tahoma" pitchFamily="34" charset="0"/>
              </a:rPr>
              <a:t>Urine is an unstable fluid; it changes composition as soon as it is eliminated through micturition.</a:t>
            </a:r>
          </a:p>
          <a:p>
            <a:pPr algn="just"/>
            <a:r>
              <a:rPr lang="en-US" dirty="0" smtClean="0">
                <a:latin typeface="Tahoma" pitchFamily="34" charset="0"/>
                <a:ea typeface="Tahoma" pitchFamily="34" charset="0"/>
                <a:cs typeface="Tahoma" pitchFamily="34" charset="0"/>
              </a:rPr>
              <a:t>Accurate collection, storage, and handling are crucial to maintaining the sample’s integrity. </a:t>
            </a:r>
          </a:p>
          <a:p>
            <a:pPr algn="just"/>
            <a:r>
              <a:rPr lang="en-US" dirty="0" smtClean="0">
                <a:latin typeface="Tahoma" pitchFamily="34" charset="0"/>
                <a:ea typeface="Tahoma" pitchFamily="34" charset="0"/>
                <a:cs typeface="Tahoma" pitchFamily="34" charset="0"/>
              </a:rPr>
              <a:t>Urine samples collected from the first void or “morning urine” are considered the best representative for testing since urine accumulated overnight in the bladder is more concentrated, thus provides an insight into the kidneys’ concentrating capacities and allows for the detection of trace amounts of substances that may not be present in more diluted samples.</a:t>
            </a:r>
          </a:p>
          <a:p>
            <a:pPr algn="just"/>
            <a:r>
              <a:rPr lang="en-US" dirty="0" smtClean="0">
                <a:latin typeface="Tahoma" pitchFamily="34" charset="0"/>
                <a:ea typeface="Tahoma" pitchFamily="34" charset="0"/>
                <a:cs typeface="Tahoma" pitchFamily="34" charset="0"/>
              </a:rPr>
              <a:t>There are two methods to obtain a urine specimen: non-invasive and invasive techniques. </a:t>
            </a:r>
          </a:p>
          <a:p>
            <a:pPr algn="just"/>
            <a:r>
              <a:rPr lang="en-US" dirty="0" smtClean="0">
                <a:latin typeface="Tahoma" pitchFamily="34" charset="0"/>
                <a:ea typeface="Tahoma" pitchFamily="34" charset="0"/>
                <a:cs typeface="Tahoma" pitchFamily="34" charset="0"/>
              </a:rPr>
              <a:t>Spontaneous voiding is the main non-invasive technique while urethral catheterization and </a:t>
            </a:r>
            <a:r>
              <a:rPr lang="en-US" dirty="0" err="1" smtClean="0">
                <a:latin typeface="Tahoma" pitchFamily="34" charset="0"/>
                <a:ea typeface="Tahoma" pitchFamily="34" charset="0"/>
                <a:cs typeface="Tahoma" pitchFamily="34" charset="0"/>
              </a:rPr>
              <a:t>suprapubic</a:t>
            </a:r>
            <a:r>
              <a:rPr lang="en-US" dirty="0" smtClean="0">
                <a:latin typeface="Tahoma" pitchFamily="34" charset="0"/>
                <a:ea typeface="Tahoma" pitchFamily="34" charset="0"/>
                <a:cs typeface="Tahoma" pitchFamily="34" charset="0"/>
              </a:rPr>
              <a:t> bladder puncture are the two invasive procedures described to date.</a:t>
            </a:r>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544356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12573000" cy="639762"/>
          </a:xfrm>
        </p:spPr>
        <p:txBody>
          <a:bodyPr>
            <a:normAutofit fontScale="90000"/>
          </a:bodyPr>
          <a:lstStyle/>
          <a:p>
            <a:r>
              <a:rPr lang="en-US" b="1" dirty="0" smtClean="0">
                <a:latin typeface="Tahoma" pitchFamily="34" charset="0"/>
                <a:ea typeface="Tahoma" pitchFamily="34" charset="0"/>
                <a:cs typeface="Tahoma" pitchFamily="34" charset="0"/>
              </a:rPr>
              <a:t>Diagnostic Test</a:t>
            </a:r>
            <a:endParaRPr lang="en-US" b="1" dirty="0">
              <a:latin typeface="Tahoma" pitchFamily="34" charset="0"/>
              <a:ea typeface="Tahoma" pitchFamily="34" charset="0"/>
              <a:cs typeface="Tahoma" pitchFamily="34" charset="0"/>
            </a:endParaRPr>
          </a:p>
        </p:txBody>
      </p:sp>
      <p:sp>
        <p:nvSpPr>
          <p:cNvPr id="3" name="Content Placeholder 2"/>
          <p:cNvSpPr>
            <a:spLocks noGrp="1"/>
          </p:cNvSpPr>
          <p:nvPr>
            <p:ph idx="1"/>
          </p:nvPr>
        </p:nvSpPr>
        <p:spPr>
          <a:xfrm>
            <a:off x="0" y="914400"/>
            <a:ext cx="12801600" cy="5943599"/>
          </a:xfrm>
        </p:spPr>
        <p:txBody>
          <a:bodyPr/>
          <a:lstStyle/>
          <a:p>
            <a:pPr algn="just"/>
            <a:r>
              <a:rPr lang="en-US" dirty="0" smtClean="0">
                <a:latin typeface="Tahoma" pitchFamily="34" charset="0"/>
                <a:ea typeface="Tahoma" pitchFamily="34" charset="0"/>
                <a:cs typeface="Tahoma" pitchFamily="34" charset="0"/>
              </a:rPr>
              <a:t>A complete urinalysis consists of three components or examinations: physical, chemical, and </a:t>
            </a:r>
            <a:r>
              <a:rPr lang="en-US" dirty="0" err="1" smtClean="0">
                <a:latin typeface="Tahoma" pitchFamily="34" charset="0"/>
                <a:ea typeface="Tahoma" pitchFamily="34" charset="0"/>
                <a:cs typeface="Tahoma" pitchFamily="34" charset="0"/>
              </a:rPr>
              <a:t>microscopical</a:t>
            </a:r>
            <a:r>
              <a:rPr lang="en-US" dirty="0" smtClean="0">
                <a:latin typeface="Tahoma" pitchFamily="34" charset="0"/>
                <a:ea typeface="Tahoma" pitchFamily="34" charset="0"/>
                <a:cs typeface="Tahoma" pitchFamily="34" charset="0"/>
              </a:rPr>
              <a:t>. </a:t>
            </a:r>
          </a:p>
          <a:p>
            <a:r>
              <a:rPr lang="en-US" dirty="0">
                <a:latin typeface="Tahoma" pitchFamily="34" charset="0"/>
                <a:ea typeface="Tahoma" pitchFamily="34" charset="0"/>
                <a:cs typeface="Tahoma" pitchFamily="34" charset="0"/>
              </a:rPr>
              <a:t>Physical examination describes the volume, </a:t>
            </a:r>
            <a:r>
              <a:rPr lang="en-US" dirty="0" err="1" smtClean="0">
                <a:latin typeface="Tahoma" pitchFamily="34" charset="0"/>
                <a:ea typeface="Tahoma" pitchFamily="34" charset="0"/>
                <a:cs typeface="Tahoma" pitchFamily="34" charset="0"/>
              </a:rPr>
              <a:t>colour</a:t>
            </a:r>
            <a:r>
              <a:rPr lang="en-US" dirty="0">
                <a:latin typeface="Tahoma" pitchFamily="34" charset="0"/>
                <a:ea typeface="Tahoma" pitchFamily="34" charset="0"/>
                <a:cs typeface="Tahoma" pitchFamily="34" charset="0"/>
              </a:rPr>
              <a:t>, clarity, odor, and specific gravity.</a:t>
            </a:r>
          </a:p>
          <a:p>
            <a:r>
              <a:rPr lang="en-US" dirty="0">
                <a:latin typeface="Tahoma" pitchFamily="34" charset="0"/>
                <a:ea typeface="Tahoma" pitchFamily="34" charset="0"/>
                <a:cs typeface="Tahoma" pitchFamily="34" charset="0"/>
              </a:rPr>
              <a:t>Chemical examination identifies pH, red blood cells, white blood cells, proteins, glucose, </a:t>
            </a:r>
            <a:r>
              <a:rPr lang="en-US" dirty="0" err="1">
                <a:latin typeface="Tahoma" pitchFamily="34" charset="0"/>
                <a:ea typeface="Tahoma" pitchFamily="34" charset="0"/>
                <a:cs typeface="Tahoma" pitchFamily="34" charset="0"/>
              </a:rPr>
              <a:t>urobilinogen</a:t>
            </a:r>
            <a:r>
              <a:rPr lang="en-US" dirty="0">
                <a:latin typeface="Tahoma" pitchFamily="34" charset="0"/>
                <a:ea typeface="Tahoma" pitchFamily="34" charset="0"/>
                <a:cs typeface="Tahoma" pitchFamily="34" charset="0"/>
              </a:rPr>
              <a:t>, bilirubin, ketone bodies, leukocyte esterase, and nitrites.</a:t>
            </a:r>
          </a:p>
          <a:p>
            <a:r>
              <a:rPr lang="en-US" dirty="0">
                <a:latin typeface="Tahoma" pitchFamily="34" charset="0"/>
                <a:ea typeface="Tahoma" pitchFamily="34" charset="0"/>
                <a:cs typeface="Tahoma" pitchFamily="34" charset="0"/>
              </a:rPr>
              <a:t>Microscopic examination encompasses the detection of casts, cells, crystals, and microorganisms.</a:t>
            </a:r>
          </a:p>
          <a:p>
            <a:pPr algn="just"/>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1857883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74638"/>
            <a:ext cx="11521440" cy="639762"/>
          </a:xfrm>
        </p:spPr>
        <p:txBody>
          <a:bodyPr>
            <a:normAutofit fontScale="90000"/>
          </a:bodyPr>
          <a:lstStyle/>
          <a:p>
            <a:r>
              <a:rPr lang="en-US" b="1" dirty="0" smtClean="0">
                <a:latin typeface="Tahoma" pitchFamily="34" charset="0"/>
                <a:ea typeface="Tahoma" pitchFamily="34" charset="0"/>
                <a:cs typeface="Tahoma" pitchFamily="34" charset="0"/>
              </a:rPr>
              <a:t>Interfering factors</a:t>
            </a:r>
            <a:endParaRPr lang="en-US" b="1" dirty="0">
              <a:latin typeface="Tahoma" pitchFamily="34" charset="0"/>
              <a:ea typeface="Tahoma" pitchFamily="34" charset="0"/>
              <a:cs typeface="Tahoma" pitchFamily="34" charset="0"/>
            </a:endParaRPr>
          </a:p>
        </p:txBody>
      </p:sp>
      <p:sp>
        <p:nvSpPr>
          <p:cNvPr id="3" name="Content Placeholder 2"/>
          <p:cNvSpPr>
            <a:spLocks noGrp="1"/>
          </p:cNvSpPr>
          <p:nvPr>
            <p:ph idx="1"/>
          </p:nvPr>
        </p:nvSpPr>
        <p:spPr>
          <a:xfrm>
            <a:off x="0" y="838200"/>
            <a:ext cx="12801600" cy="6019799"/>
          </a:xfrm>
        </p:spPr>
        <p:txBody>
          <a:bodyPr>
            <a:normAutofit fontScale="85000" lnSpcReduction="10000"/>
          </a:bodyPr>
          <a:lstStyle/>
          <a:p>
            <a:pPr algn="just"/>
            <a:r>
              <a:rPr lang="en-US" dirty="0">
                <a:latin typeface="Tahoma" pitchFamily="34" charset="0"/>
                <a:ea typeface="Tahoma" pitchFamily="34" charset="0"/>
                <a:cs typeface="Tahoma" pitchFamily="34" charset="0"/>
              </a:rPr>
              <a:t>The following factors may alter the results of a urine sample analysis</a:t>
            </a:r>
            <a:r>
              <a:rPr lang="en-US" dirty="0" smtClean="0">
                <a:latin typeface="Tahoma" pitchFamily="34" charset="0"/>
                <a:ea typeface="Tahoma" pitchFamily="34" charset="0"/>
                <a:cs typeface="Tahoma" pitchFamily="34" charset="0"/>
              </a:rPr>
              <a:t>:</a:t>
            </a:r>
          </a:p>
          <a:p>
            <a:r>
              <a:rPr lang="en-US" b="1" dirty="0"/>
              <a:t>Light and Temperature:</a:t>
            </a:r>
            <a:r>
              <a:rPr lang="en-US" dirty="0"/>
              <a:t> If exposed for a considerable period of time, bilirubin and </a:t>
            </a:r>
            <a:r>
              <a:rPr lang="en-US" dirty="0" err="1"/>
              <a:t>urobilinogen</a:t>
            </a:r>
            <a:r>
              <a:rPr lang="en-US" dirty="0"/>
              <a:t> may decompose due to their instability under these conditions. Additionally, room temperature favors the growth of microorganisms, such as bacteria.</a:t>
            </a:r>
          </a:p>
          <a:p>
            <a:r>
              <a:rPr lang="en-US" b="1" dirty="0"/>
              <a:t>Bacterial Growth:</a:t>
            </a:r>
            <a:r>
              <a:rPr lang="en-US" dirty="0"/>
              <a:t> Contamination of the sample or pathogenic bacteria may produce a variety of inaccurate results. For example, they may produce a false-positive blood reaction and affect the specimen's pH towards acidity or alkaline. </a:t>
            </a:r>
          </a:p>
          <a:p>
            <a:r>
              <a:rPr lang="en-US" b="1" dirty="0"/>
              <a:t>Alkaline pH:</a:t>
            </a:r>
            <a:r>
              <a:rPr lang="en-US" dirty="0"/>
              <a:t> This concentration may show false-positive results regarding the presence of protein.</a:t>
            </a:r>
          </a:p>
          <a:p>
            <a:r>
              <a:rPr lang="en-US" b="1" dirty="0"/>
              <a:t>Glucose:</a:t>
            </a:r>
            <a:r>
              <a:rPr lang="en-US" dirty="0"/>
              <a:t> If present in the sample, it may be metabolized by microorganisms and cause a decrease in the sample's </a:t>
            </a:r>
            <a:r>
              <a:rPr lang="en-US" dirty="0" err="1"/>
              <a:t>pH.</a:t>
            </a:r>
            <a:endParaRPr lang="en-US" dirty="0"/>
          </a:p>
          <a:p>
            <a:r>
              <a:rPr lang="en-US" b="1" dirty="0"/>
              <a:t>Contrast Agents:</a:t>
            </a:r>
            <a:r>
              <a:rPr lang="en-US" dirty="0"/>
              <a:t> May produce false-positive results of specific gravity.</a:t>
            </a:r>
          </a:p>
          <a:p>
            <a:r>
              <a:rPr lang="en-US" b="1" dirty="0"/>
              <a:t>Exercise:</a:t>
            </a:r>
            <a:r>
              <a:rPr lang="en-US" dirty="0"/>
              <a:t> May alter the specific gravity and electrolyte concentration of the sample.</a:t>
            </a:r>
          </a:p>
          <a:p>
            <a:r>
              <a:rPr lang="en-US" b="1" dirty="0"/>
              <a:t>Foods and Drugs:</a:t>
            </a:r>
            <a:r>
              <a:rPr lang="en-US" dirty="0"/>
              <a:t> May alter the urine's color, odor, or pH value. </a:t>
            </a:r>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667034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12573000" cy="639762"/>
          </a:xfrm>
        </p:spPr>
        <p:txBody>
          <a:bodyPr>
            <a:normAutofit fontScale="90000"/>
          </a:bodyPr>
          <a:lstStyle/>
          <a:p>
            <a:r>
              <a:rPr lang="en-US" b="1" dirty="0">
                <a:latin typeface="Tahoma" pitchFamily="34" charset="0"/>
                <a:ea typeface="Tahoma" pitchFamily="34" charset="0"/>
                <a:cs typeface="Tahoma" pitchFamily="34" charset="0"/>
              </a:rPr>
              <a:t>Results, Reporting, and Critical Findings</a:t>
            </a:r>
            <a:br>
              <a:rPr lang="en-US" b="1" dirty="0">
                <a:latin typeface="Tahoma" pitchFamily="34" charset="0"/>
                <a:ea typeface="Tahoma" pitchFamily="34" charset="0"/>
                <a:cs typeface="Tahoma" pitchFamily="34" charset="0"/>
              </a:rPr>
            </a:br>
            <a:endParaRPr lang="en-US" dirty="0">
              <a:latin typeface="Tahoma" pitchFamily="34" charset="0"/>
              <a:ea typeface="Tahoma" pitchFamily="34" charset="0"/>
              <a:cs typeface="Tahoma" pitchFamily="34" charset="0"/>
            </a:endParaRPr>
          </a:p>
        </p:txBody>
      </p:sp>
      <p:sp>
        <p:nvSpPr>
          <p:cNvPr id="3" name="Content Placeholder 2"/>
          <p:cNvSpPr>
            <a:spLocks noGrp="1"/>
          </p:cNvSpPr>
          <p:nvPr>
            <p:ph idx="1"/>
          </p:nvPr>
        </p:nvSpPr>
        <p:spPr>
          <a:xfrm>
            <a:off x="0" y="685800"/>
            <a:ext cx="12801600" cy="6172199"/>
          </a:xfrm>
          <a:ln>
            <a:solidFill>
              <a:schemeClr val="accent1"/>
            </a:solidFill>
          </a:ln>
        </p:spPr>
        <p:txBody>
          <a:bodyPr>
            <a:normAutofit lnSpcReduction="10000"/>
          </a:bodyPr>
          <a:lstStyle/>
          <a:p>
            <a:pPr marL="0" indent="0" algn="just">
              <a:buNone/>
            </a:pPr>
            <a:r>
              <a:rPr lang="en-US" b="1" dirty="0" smtClean="0">
                <a:latin typeface="Tahoma" pitchFamily="34" charset="0"/>
                <a:ea typeface="Tahoma" pitchFamily="34" charset="0"/>
                <a:cs typeface="Tahoma" pitchFamily="34" charset="0"/>
              </a:rPr>
              <a:t>A)Physical findings</a:t>
            </a:r>
          </a:p>
          <a:p>
            <a:pPr marL="0" indent="0" algn="just">
              <a:buNone/>
            </a:pPr>
            <a:r>
              <a:rPr lang="en-US" b="1" dirty="0" smtClean="0">
                <a:latin typeface="Tahoma" pitchFamily="34" charset="0"/>
                <a:ea typeface="Tahoma" pitchFamily="34" charset="0"/>
                <a:cs typeface="Tahoma" pitchFamily="34" charset="0"/>
              </a:rPr>
              <a:t>I) Color</a:t>
            </a:r>
            <a:r>
              <a:rPr lang="en-US" dirty="0" smtClean="0">
                <a:latin typeface="Tahoma" pitchFamily="34" charset="0"/>
                <a:ea typeface="Tahoma" pitchFamily="34" charset="0"/>
                <a:cs typeface="Tahoma" pitchFamily="34" charset="0"/>
              </a:rPr>
              <a:t>  (Normal</a:t>
            </a:r>
            <a:r>
              <a:rPr lang="en-US" dirty="0">
                <a:latin typeface="Tahoma" pitchFamily="34" charset="0"/>
                <a:ea typeface="Tahoma" pitchFamily="34" charset="0"/>
                <a:cs typeface="Tahoma" pitchFamily="34" charset="0"/>
              </a:rPr>
              <a:t>: Yellow (light/pale to dark/deep </a:t>
            </a:r>
            <a:r>
              <a:rPr lang="en-US" dirty="0" smtClean="0">
                <a:latin typeface="Tahoma" pitchFamily="34" charset="0"/>
                <a:ea typeface="Tahoma" pitchFamily="34" charset="0"/>
                <a:cs typeface="Tahoma" pitchFamily="34" charset="0"/>
              </a:rPr>
              <a:t>amber)</a:t>
            </a:r>
          </a:p>
          <a:p>
            <a:pPr marL="0" indent="0" algn="just">
              <a:buNone/>
            </a:pPr>
            <a:r>
              <a:rPr lang="en-US" b="1" dirty="0" smtClean="0">
                <a:latin typeface="Tahoma" pitchFamily="34" charset="0"/>
                <a:ea typeface="Tahoma" pitchFamily="34" charset="0"/>
                <a:cs typeface="Tahoma" pitchFamily="34" charset="0"/>
              </a:rPr>
              <a:t>II) Appearance</a:t>
            </a:r>
          </a:p>
          <a:p>
            <a:pPr marL="0" indent="0" algn="just">
              <a:buNone/>
            </a:pPr>
            <a:r>
              <a:rPr lang="en-US" dirty="0" smtClean="0">
                <a:latin typeface="Tahoma" pitchFamily="34" charset="0"/>
                <a:ea typeface="Tahoma" pitchFamily="34" charset="0"/>
                <a:cs typeface="Tahoma" pitchFamily="34" charset="0"/>
              </a:rPr>
              <a:t>Normal: Clear or translucent</a:t>
            </a:r>
          </a:p>
          <a:p>
            <a:pPr marL="0" indent="0" algn="just">
              <a:buNone/>
            </a:pPr>
            <a:r>
              <a:rPr lang="en-US" b="1" dirty="0" smtClean="0">
                <a:latin typeface="Tahoma" pitchFamily="34" charset="0"/>
                <a:ea typeface="Tahoma" pitchFamily="34" charset="0"/>
                <a:cs typeface="Tahoma" pitchFamily="34" charset="0"/>
              </a:rPr>
              <a:t>III) Odor</a:t>
            </a:r>
          </a:p>
          <a:p>
            <a:pPr marL="0" indent="0" algn="just">
              <a:buNone/>
            </a:pPr>
            <a:r>
              <a:rPr lang="en-US" dirty="0" smtClean="0">
                <a:latin typeface="Tahoma" pitchFamily="34" charset="0"/>
                <a:ea typeface="Tahoma" pitchFamily="34" charset="0"/>
                <a:cs typeface="Tahoma" pitchFamily="34" charset="0"/>
              </a:rPr>
              <a:t>Normal: "</a:t>
            </a:r>
            <a:r>
              <a:rPr lang="en-US" dirty="0" err="1" smtClean="0">
                <a:latin typeface="Tahoma" pitchFamily="34" charset="0"/>
                <a:ea typeface="Tahoma" pitchFamily="34" charset="0"/>
                <a:cs typeface="Tahoma" pitchFamily="34" charset="0"/>
              </a:rPr>
              <a:t>Urinoid</a:t>
            </a:r>
            <a:r>
              <a:rPr lang="en-US" dirty="0" smtClean="0">
                <a:latin typeface="Tahoma" pitchFamily="34" charset="0"/>
                <a:ea typeface="Tahoma" pitchFamily="34" charset="0"/>
                <a:cs typeface="Tahoma" pitchFamily="34" charset="0"/>
              </a:rPr>
              <a:t>“ but Dehydration/Prolonged Room Temperature gives urine a strong smell ; Diabetes Mellitus: Honey; Diabetic Ketoacidosis: Fruity/sweet</a:t>
            </a:r>
          </a:p>
          <a:p>
            <a:pPr marL="0" indent="0" algn="just">
              <a:buNone/>
            </a:pPr>
            <a:r>
              <a:rPr lang="en-US" dirty="0" smtClean="0">
                <a:latin typeface="Tahoma" pitchFamily="34" charset="0"/>
                <a:ea typeface="Tahoma" pitchFamily="34" charset="0"/>
                <a:cs typeface="Tahoma" pitchFamily="34" charset="0"/>
              </a:rPr>
              <a:t>IV) </a:t>
            </a:r>
            <a:r>
              <a:rPr lang="en-US" b="1" dirty="0" smtClean="0">
                <a:latin typeface="Tahoma" pitchFamily="34" charset="0"/>
                <a:ea typeface="Tahoma" pitchFamily="34" charset="0"/>
                <a:cs typeface="Tahoma" pitchFamily="34" charset="0"/>
              </a:rPr>
              <a:t>Specific Gravity (USG)/Osmolality (O)</a:t>
            </a:r>
          </a:p>
          <a:p>
            <a:pPr algn="just"/>
            <a:r>
              <a:rPr lang="en-US" dirty="0" smtClean="0">
                <a:latin typeface="Tahoma" pitchFamily="34" charset="0"/>
                <a:ea typeface="Tahoma" pitchFamily="34" charset="0"/>
                <a:cs typeface="Tahoma" pitchFamily="34" charset="0"/>
              </a:rPr>
              <a:t>Urine osmolality ranges from 50-1200 </a:t>
            </a:r>
            <a:r>
              <a:rPr lang="en-US" dirty="0" err="1" smtClean="0">
                <a:latin typeface="Tahoma" pitchFamily="34" charset="0"/>
                <a:ea typeface="Tahoma" pitchFamily="34" charset="0"/>
                <a:cs typeface="Tahoma" pitchFamily="34" charset="0"/>
              </a:rPr>
              <a:t>mOsmol</a:t>
            </a:r>
            <a:r>
              <a:rPr lang="en-US" dirty="0" smtClean="0">
                <a:latin typeface="Tahoma" pitchFamily="34" charset="0"/>
                <a:ea typeface="Tahoma" pitchFamily="34" charset="0"/>
                <a:cs typeface="Tahoma" pitchFamily="34" charset="0"/>
              </a:rPr>
              <a:t>/kg; the key is to always compare to serum osmolality to establish a pathological condition. </a:t>
            </a:r>
          </a:p>
          <a:p>
            <a:pPr algn="just"/>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2945340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801600" cy="6857999"/>
          </a:xfrm>
        </p:spPr>
        <p:txBody>
          <a:bodyPr/>
          <a:lstStyle/>
          <a:p>
            <a:r>
              <a:rPr lang="en-US" dirty="0" smtClean="0">
                <a:latin typeface="Tahoma" pitchFamily="34" charset="0"/>
                <a:ea typeface="Tahoma" pitchFamily="34" charset="0"/>
                <a:cs typeface="Tahoma" pitchFamily="34" charset="0"/>
              </a:rPr>
              <a:t>Normal: USG = 1.002-1.035</a:t>
            </a:r>
          </a:p>
          <a:p>
            <a:pPr marL="0" indent="0">
              <a:buNone/>
            </a:pPr>
            <a:r>
              <a:rPr lang="en-US" b="1" dirty="0" smtClean="0">
                <a:latin typeface="Tahoma" pitchFamily="34" charset="0"/>
                <a:ea typeface="Tahoma" pitchFamily="34" charset="0"/>
                <a:cs typeface="Tahoma" pitchFamily="34" charset="0"/>
              </a:rPr>
              <a:t>V) Volume</a:t>
            </a:r>
          </a:p>
          <a:p>
            <a:r>
              <a:rPr lang="en-US" dirty="0" smtClean="0">
                <a:latin typeface="Tahoma" pitchFamily="34" charset="0"/>
                <a:ea typeface="Tahoma" pitchFamily="34" charset="0"/>
                <a:cs typeface="Tahoma" pitchFamily="34" charset="0"/>
              </a:rPr>
              <a:t>Normal: 0.5 to 1.5 cc/kg/hour or 600 and 2,000 mL daily in adults </a:t>
            </a:r>
            <a:endParaRPr lang="en-US" b="1" dirty="0" smtClean="0">
              <a:latin typeface="Tahoma" pitchFamily="34" charset="0"/>
              <a:ea typeface="Tahoma" pitchFamily="34" charset="0"/>
              <a:cs typeface="Tahoma" pitchFamily="34" charset="0"/>
            </a:endParaRPr>
          </a:p>
          <a:p>
            <a:pPr marL="0" indent="0">
              <a:buNone/>
            </a:pPr>
            <a:r>
              <a:rPr lang="en-US" b="1" dirty="0" smtClean="0">
                <a:latin typeface="Tahoma" pitchFamily="34" charset="0"/>
                <a:ea typeface="Tahoma" pitchFamily="34" charset="0"/>
                <a:cs typeface="Tahoma" pitchFamily="34" charset="0"/>
              </a:rPr>
              <a:t>VI) Foam</a:t>
            </a:r>
          </a:p>
          <a:p>
            <a:r>
              <a:rPr lang="en-US" dirty="0" smtClean="0">
                <a:latin typeface="Tahoma" pitchFamily="34" charset="0"/>
                <a:ea typeface="Tahoma" pitchFamily="34" charset="0"/>
                <a:cs typeface="Tahoma" pitchFamily="34" charset="0"/>
              </a:rPr>
              <a:t>Not routinely reported; Normal: Appears upon agitation and dissipates readily on standing</a:t>
            </a:r>
          </a:p>
          <a:p>
            <a:pPr marL="0" indent="0">
              <a:buNone/>
            </a:pPr>
            <a:r>
              <a:rPr lang="en-US" b="1" dirty="0" smtClean="0">
                <a:latin typeface="Tahoma" pitchFamily="34" charset="0"/>
                <a:ea typeface="Tahoma" pitchFamily="34" charset="0"/>
                <a:cs typeface="Tahoma" pitchFamily="34" charset="0"/>
              </a:rPr>
              <a:t>B) Chemical Examination</a:t>
            </a:r>
          </a:p>
          <a:p>
            <a:pPr marL="571500" indent="-571500">
              <a:buAutoNum type="romanUcParenR"/>
            </a:pPr>
            <a:r>
              <a:rPr lang="en-US" b="1" dirty="0" smtClean="0">
                <a:latin typeface="Tahoma" pitchFamily="34" charset="0"/>
                <a:ea typeface="Tahoma" pitchFamily="34" charset="0"/>
                <a:cs typeface="Tahoma" pitchFamily="34" charset="0"/>
              </a:rPr>
              <a:t>pH  ; </a:t>
            </a:r>
            <a:r>
              <a:rPr lang="en-US" dirty="0" smtClean="0">
                <a:latin typeface="Tahoma" pitchFamily="34" charset="0"/>
                <a:ea typeface="Tahoma" pitchFamily="34" charset="0"/>
                <a:cs typeface="Tahoma" pitchFamily="34" charset="0"/>
              </a:rPr>
              <a:t>Normal: 4.5 to 8 (usually 5.5 to 6.5)</a:t>
            </a:r>
          </a:p>
          <a:p>
            <a:r>
              <a:rPr lang="en-US" dirty="0" smtClean="0">
                <a:latin typeface="Tahoma" pitchFamily="34" charset="0"/>
                <a:ea typeface="Tahoma" pitchFamily="34" charset="0"/>
                <a:cs typeface="Tahoma" pitchFamily="34" charset="0"/>
              </a:rPr>
              <a:t>A urinary pH greater than 5.5 in the presence of systemic </a:t>
            </a:r>
            <a:r>
              <a:rPr lang="en-US" dirty="0" err="1" smtClean="0">
                <a:latin typeface="Tahoma" pitchFamily="34" charset="0"/>
                <a:ea typeface="Tahoma" pitchFamily="34" charset="0"/>
                <a:cs typeface="Tahoma" pitchFamily="34" charset="0"/>
              </a:rPr>
              <a:t>acidemia</a:t>
            </a:r>
            <a:r>
              <a:rPr lang="en-US" dirty="0" smtClean="0">
                <a:latin typeface="Tahoma" pitchFamily="34" charset="0"/>
                <a:ea typeface="Tahoma" pitchFamily="34" charset="0"/>
                <a:cs typeface="Tahoma" pitchFamily="34" charset="0"/>
              </a:rPr>
              <a:t> (serum pH less than 7.35) suggests renal dysfunction</a:t>
            </a:r>
          </a:p>
          <a:p>
            <a:pPr marL="0" indent="0">
              <a:buNone/>
            </a:pPr>
            <a:r>
              <a:rPr lang="en-US" b="1" dirty="0" smtClean="0">
                <a:latin typeface="Tahoma" pitchFamily="34" charset="0"/>
                <a:ea typeface="Tahoma" pitchFamily="34" charset="0"/>
                <a:cs typeface="Tahoma" pitchFamily="34" charset="0"/>
              </a:rPr>
              <a:t>II) Proteins  ; </a:t>
            </a:r>
            <a:r>
              <a:rPr lang="en-US" dirty="0" smtClean="0">
                <a:latin typeface="Tahoma" pitchFamily="34" charset="0"/>
                <a:ea typeface="Tahoma" pitchFamily="34" charset="0"/>
                <a:cs typeface="Tahoma" pitchFamily="34" charset="0"/>
              </a:rPr>
              <a:t>Normal: Proteinuria  less than or equal to 150 mg/day </a:t>
            </a:r>
          </a:p>
          <a:p>
            <a:pPr marL="0" indent="0">
              <a:buNone/>
            </a:pPr>
            <a:endParaRPr lang="en-US" b="1" dirty="0" smtClean="0">
              <a:latin typeface="Tahoma" pitchFamily="34" charset="0"/>
              <a:ea typeface="Tahoma" pitchFamily="34" charset="0"/>
              <a:cs typeface="Tahoma" pitchFamily="34" charset="0"/>
            </a:endParaRPr>
          </a:p>
          <a:p>
            <a:pPr marL="0" indent="0">
              <a:buNone/>
            </a:pPr>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1351785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801600" cy="6857999"/>
          </a:xfrm>
        </p:spPr>
        <p:txBody>
          <a:bodyPr>
            <a:normAutofit lnSpcReduction="10000"/>
          </a:bodyPr>
          <a:lstStyle/>
          <a:p>
            <a:pPr marL="0" indent="0">
              <a:buNone/>
            </a:pPr>
            <a:r>
              <a:rPr lang="en-US" b="1" dirty="0" smtClean="0">
                <a:latin typeface="Tahoma" pitchFamily="34" charset="0"/>
                <a:ea typeface="Tahoma" pitchFamily="34" charset="0"/>
                <a:cs typeface="Tahoma" pitchFamily="34" charset="0"/>
              </a:rPr>
              <a:t>III) Blood cells</a:t>
            </a:r>
          </a:p>
          <a:p>
            <a:pPr marL="0" indent="0">
              <a:buNone/>
            </a:pPr>
            <a:r>
              <a:rPr lang="en-US" dirty="0" smtClean="0">
                <a:latin typeface="Tahoma" pitchFamily="34" charset="0"/>
                <a:ea typeface="Tahoma" pitchFamily="34" charset="0"/>
                <a:cs typeface="Tahoma" pitchFamily="34" charset="0"/>
              </a:rPr>
              <a:t>Normal: Negative (usually) or less than or equal to 5 RBCs per mL</a:t>
            </a:r>
          </a:p>
          <a:p>
            <a:pPr marL="0" indent="0">
              <a:buNone/>
            </a:pPr>
            <a:r>
              <a:rPr lang="en-US" b="1" dirty="0" smtClean="0">
                <a:latin typeface="Tahoma" pitchFamily="34" charset="0"/>
                <a:ea typeface="Tahoma" pitchFamily="34" charset="0"/>
                <a:cs typeface="Tahoma" pitchFamily="34" charset="0"/>
              </a:rPr>
              <a:t>IV) Glucose</a:t>
            </a:r>
          </a:p>
          <a:p>
            <a:pPr marL="0" indent="0">
              <a:buNone/>
            </a:pPr>
            <a:r>
              <a:rPr lang="en-US" dirty="0" smtClean="0">
                <a:latin typeface="Tahoma" pitchFamily="34" charset="0"/>
                <a:ea typeface="Tahoma" pitchFamily="34" charset="0"/>
                <a:cs typeface="Tahoma" pitchFamily="34" charset="0"/>
              </a:rPr>
              <a:t>Normal: Negative</a:t>
            </a:r>
          </a:p>
          <a:p>
            <a:pPr marL="0" indent="0">
              <a:buNone/>
            </a:pPr>
            <a:r>
              <a:rPr lang="en-US" b="1" dirty="0" smtClean="0">
                <a:latin typeface="Tahoma" pitchFamily="34" charset="0"/>
                <a:ea typeface="Tahoma" pitchFamily="34" charset="0"/>
                <a:cs typeface="Tahoma" pitchFamily="34" charset="0"/>
              </a:rPr>
              <a:t>V) Bilirubin ; </a:t>
            </a:r>
            <a:r>
              <a:rPr lang="en-US" dirty="0" smtClean="0">
                <a:latin typeface="Tahoma" pitchFamily="34" charset="0"/>
                <a:ea typeface="Tahoma" pitchFamily="34" charset="0"/>
                <a:cs typeface="Tahoma" pitchFamily="34" charset="0"/>
              </a:rPr>
              <a:t>Normal: Negative</a:t>
            </a:r>
          </a:p>
          <a:p>
            <a:pPr marL="0" indent="0">
              <a:buNone/>
            </a:pPr>
            <a:r>
              <a:rPr lang="en-US" dirty="0" smtClean="0">
                <a:latin typeface="Tahoma" pitchFamily="34" charset="0"/>
                <a:ea typeface="Tahoma" pitchFamily="34" charset="0"/>
                <a:cs typeface="Tahoma" pitchFamily="34" charset="0"/>
              </a:rPr>
              <a:t>VI) </a:t>
            </a:r>
            <a:r>
              <a:rPr lang="en-US" b="1" dirty="0" err="1" smtClean="0">
                <a:latin typeface="Tahoma" pitchFamily="34" charset="0"/>
                <a:ea typeface="Tahoma" pitchFamily="34" charset="0"/>
                <a:cs typeface="Tahoma" pitchFamily="34" charset="0"/>
              </a:rPr>
              <a:t>Urobilinogen</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Normal: 0.1 mg/</a:t>
            </a:r>
            <a:r>
              <a:rPr lang="en-US" dirty="0" err="1" smtClean="0">
                <a:latin typeface="Tahoma" pitchFamily="34" charset="0"/>
                <a:ea typeface="Tahoma" pitchFamily="34" charset="0"/>
                <a:cs typeface="Tahoma" pitchFamily="34" charset="0"/>
              </a:rPr>
              <a:t>dL</a:t>
            </a:r>
            <a:r>
              <a:rPr lang="en-US" dirty="0" smtClean="0">
                <a:latin typeface="Tahoma" pitchFamily="34" charset="0"/>
                <a:ea typeface="Tahoma" pitchFamily="34" charset="0"/>
                <a:cs typeface="Tahoma" pitchFamily="34" charset="0"/>
              </a:rPr>
              <a:t> to 1 mg/</a:t>
            </a:r>
            <a:r>
              <a:rPr lang="en-US" dirty="0" err="1" smtClean="0">
                <a:latin typeface="Tahoma" pitchFamily="34" charset="0"/>
                <a:ea typeface="Tahoma" pitchFamily="34" charset="0"/>
                <a:cs typeface="Tahoma" pitchFamily="34" charset="0"/>
              </a:rPr>
              <a:t>dL</a:t>
            </a:r>
            <a:r>
              <a:rPr lang="en-US" dirty="0" smtClean="0">
                <a:latin typeface="Tahoma" pitchFamily="34" charset="0"/>
                <a:ea typeface="Tahoma" pitchFamily="34" charset="0"/>
                <a:cs typeface="Tahoma" pitchFamily="34" charset="0"/>
              </a:rPr>
              <a:t> in random samples or up to 4 mg/daily</a:t>
            </a:r>
          </a:p>
          <a:p>
            <a:pPr marL="0" indent="0">
              <a:buNone/>
            </a:pPr>
            <a:r>
              <a:rPr lang="en-US" b="1" dirty="0" smtClean="0">
                <a:latin typeface="Tahoma" pitchFamily="34" charset="0"/>
                <a:ea typeface="Tahoma" pitchFamily="34" charset="0"/>
                <a:cs typeface="Tahoma" pitchFamily="34" charset="0"/>
              </a:rPr>
              <a:t>V)Ketone Bodies; </a:t>
            </a:r>
            <a:r>
              <a:rPr lang="en-US" dirty="0" smtClean="0">
                <a:latin typeface="Tahoma" pitchFamily="34" charset="0"/>
                <a:ea typeface="Tahoma" pitchFamily="34" charset="0"/>
                <a:cs typeface="Tahoma" pitchFamily="34" charset="0"/>
              </a:rPr>
              <a:t>Normal: Negative</a:t>
            </a:r>
          </a:p>
          <a:p>
            <a:pPr marL="0" indent="0">
              <a:buNone/>
            </a:pPr>
            <a:r>
              <a:rPr lang="en-US" b="1" dirty="0" smtClean="0">
                <a:latin typeface="Tahoma" pitchFamily="34" charset="0"/>
                <a:ea typeface="Tahoma" pitchFamily="34" charset="0"/>
                <a:cs typeface="Tahoma" pitchFamily="34" charset="0"/>
              </a:rPr>
              <a:t>Vi) Nitrites</a:t>
            </a:r>
            <a:r>
              <a:rPr lang="en-US" dirty="0" smtClean="0">
                <a:latin typeface="Tahoma" pitchFamily="34" charset="0"/>
                <a:ea typeface="Tahoma" pitchFamily="34" charset="0"/>
                <a:cs typeface="Tahoma" pitchFamily="34" charset="0"/>
              </a:rPr>
              <a:t>; Normal: Negative</a:t>
            </a:r>
          </a:p>
          <a:p>
            <a:pPr marL="0" indent="0">
              <a:buNone/>
            </a:pPr>
            <a:r>
              <a:rPr lang="en-US" b="1" dirty="0" smtClean="0">
                <a:latin typeface="Tahoma" pitchFamily="34" charset="0"/>
                <a:ea typeface="Tahoma" pitchFamily="34" charset="0"/>
                <a:cs typeface="Tahoma" pitchFamily="34" charset="0"/>
              </a:rPr>
              <a:t>C) Microscopic Examination</a:t>
            </a:r>
          </a:p>
          <a:p>
            <a:r>
              <a:rPr lang="en-US" dirty="0" smtClean="0">
                <a:latin typeface="Tahoma" pitchFamily="34" charset="0"/>
                <a:ea typeface="Tahoma" pitchFamily="34" charset="0"/>
                <a:cs typeface="Tahoma" pitchFamily="34" charset="0"/>
              </a:rPr>
              <a:t>Normally there is an absence of red cells, white cells, epithelial and granular cell casts; absence of bacteria, fungi or parasites and absence of crystals</a:t>
            </a:r>
          </a:p>
          <a:p>
            <a:pPr marL="0" indent="0">
              <a:buNone/>
            </a:pPr>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1670475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74638"/>
            <a:ext cx="11521440" cy="715962"/>
          </a:xfrm>
        </p:spPr>
        <p:txBody>
          <a:bodyPr>
            <a:normAutofit fontScale="90000"/>
          </a:bodyPr>
          <a:lstStyle/>
          <a:p>
            <a:r>
              <a:rPr lang="en-US" b="1" dirty="0" smtClean="0"/>
              <a:t>Clinical significance</a:t>
            </a:r>
            <a:endParaRPr lang="en-US" b="1" dirty="0"/>
          </a:p>
        </p:txBody>
      </p:sp>
      <p:sp>
        <p:nvSpPr>
          <p:cNvPr id="3" name="Content Placeholder 2"/>
          <p:cNvSpPr>
            <a:spLocks noGrp="1"/>
          </p:cNvSpPr>
          <p:nvPr>
            <p:ph idx="1"/>
          </p:nvPr>
        </p:nvSpPr>
        <p:spPr>
          <a:xfrm>
            <a:off x="0" y="914400"/>
            <a:ext cx="12801600" cy="5943599"/>
          </a:xfrm>
        </p:spPr>
        <p:txBody>
          <a:bodyPr/>
          <a:lstStyle/>
          <a:p>
            <a:pPr algn="just"/>
            <a:r>
              <a:rPr lang="en-US" dirty="0" smtClean="0">
                <a:latin typeface="Tahoma" pitchFamily="34" charset="0"/>
                <a:ea typeface="Tahoma" pitchFamily="34" charset="0"/>
                <a:cs typeface="Tahoma" pitchFamily="34" charset="0"/>
              </a:rPr>
              <a:t>It is </a:t>
            </a:r>
            <a:r>
              <a:rPr lang="en-US" dirty="0">
                <a:latin typeface="Tahoma" pitchFamily="34" charset="0"/>
                <a:ea typeface="Tahoma" pitchFamily="34" charset="0"/>
                <a:cs typeface="Tahoma" pitchFamily="34" charset="0"/>
              </a:rPr>
              <a:t>considered as the most common, simple, and relevant screening exam that provides clinicians with valuable information about the general health status of a patient, including hydration, urinary tract infection, diabetes mellitus, and liver or renal disease</a:t>
            </a:r>
          </a:p>
        </p:txBody>
      </p:sp>
    </p:spTree>
    <p:extLst>
      <p:ext uri="{BB962C8B-B14F-4D97-AF65-F5344CB8AC3E}">
        <p14:creationId xmlns:p14="http://schemas.microsoft.com/office/powerpoint/2010/main" val="2145781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1344</TotalTime>
  <Words>562</Words>
  <Application>Microsoft Office PowerPoint</Application>
  <PresentationFormat>Custom</PresentationFormat>
  <Paragraphs>59</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URINALYSIS</vt:lpstr>
      <vt:lpstr>PowerPoint Presentation</vt:lpstr>
      <vt:lpstr>PowerPoint Presentation</vt:lpstr>
      <vt:lpstr>PowerPoint Presentation</vt:lpstr>
      <vt:lpstr>Diagnostic Test</vt:lpstr>
      <vt:lpstr>Interfering factors</vt:lpstr>
      <vt:lpstr>Results, Reporting, and Critical Findings </vt:lpstr>
      <vt:lpstr>PowerPoint Presentation</vt:lpstr>
      <vt:lpstr>PowerPoint Presentation</vt:lpstr>
      <vt:lpstr>Clinical significance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URINALYSIS</dc:title>
  <dc:creator>Dr Victor Oka</dc:creator>
  <cp:lastModifiedBy>Dr Victor Oka</cp:lastModifiedBy>
  <cp:revision>12</cp:revision>
  <dcterms:created xsi:type="dcterms:W3CDTF">2023-11-09T10:08:47Z</dcterms:created>
  <dcterms:modified xsi:type="dcterms:W3CDTF">2024-11-08T08:53:01Z</dcterms:modified>
</cp:coreProperties>
</file>